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1" r:id="rId202"/>
    <p:sldId id="454" r:id="rId205"/>
    <p:sldId id="455" r:id="rId2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8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Relationship Id="rId198" Type="http://schemas.openxmlformats.org/officeDocument/2006/relationships/slide" Target="slides/slide185.xml"/><Relationship Id="rId199" Type="http://schemas.openxmlformats.org/officeDocument/2006/relationships/slide" Target="slides/slide186.xml"/><Relationship Id="rId200" Type="http://schemas.openxmlformats.org/officeDocument/2006/relationships/slide" Target="slides/slide187.xml"/><Relationship Id="rId202" Type="http://schemas.openxmlformats.org/officeDocument/2006/relationships/slide" Target="slides/slide188.xml"/><Relationship Id="rId205" Type="http://schemas.openxmlformats.org/officeDocument/2006/relationships/slide" Target="slides/slide189.xml"/><Relationship Id="rId206" Type="http://schemas.openxmlformats.org/officeDocument/2006/relationships/slide" Target="slides/slide19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profit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CPS 8%</c:v>
                </c:pt>
                <c:pt idx="1">
                  <c:v>CPS 12%</c:v>
                </c:pt>
                <c:pt idx="2">
                  <c:v>CPA $18</c:v>
                </c:pt>
                <c:pt idx="3">
                  <c:v>CPL $7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</c:v>
                </c:pt>
                <c:pt idx="1">
                  <c:v>2688</c:v>
                </c:pt>
                <c:pt idx="2">
                  <c:v>2160</c:v>
                </c:pt>
                <c:pt idx="3">
                  <c:v>980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SEO</c:v>
                </c:pt>
                <c:pt idx="1">
                  <c:v>Email</c:v>
                </c:pt>
                <c:pt idx="2">
                  <c:v>Social</c:v>
                </c:pt>
                <c:pt idx="3">
                  <c:v>Video</c:v>
                </c:pt>
                <c:pt idx="4">
                  <c:v>Paid 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6.2</c:v>
                </c:pt>
                <c:pt idx="2">
                  <c:v>2.1</c:v>
                </c:pt>
                <c:pt idx="3">
                  <c:v>3.4</c:v>
                </c:pt>
                <c:pt idx="4">
                  <c:v>3.9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Offer A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Audience fit</c:v>
                </c:pt>
                <c:pt idx="1">
                  <c:v>Proof</c:v>
                </c:pt>
                <c:pt idx="2">
                  <c:v>Economics</c:v>
                </c:pt>
                <c:pt idx="3">
                  <c:v>Policy</c:v>
                </c:pt>
                <c:pt idx="4">
                  <c:v>Operational fit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92</c:v>
                </c:pt>
                <c:pt idx="2">
                  <c:v>74</c:v>
                </c:pt>
                <c:pt idx="3">
                  <c:v>95</c:v>
                </c:pt>
                <c:pt idx="4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Offer B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Sheet1!$A$2:$A$6</c:f>
              <c:strCache>
                <c:ptCount val="5"/>
                <c:pt idx="0">
                  <c:v>Audience fit</c:v>
                </c:pt>
                <c:pt idx="1">
                  <c:v>Proof</c:v>
                </c:pt>
                <c:pt idx="2">
                  <c:v>Economics</c:v>
                </c:pt>
                <c:pt idx="3">
                  <c:v>Policy</c:v>
                </c:pt>
                <c:pt idx="4">
                  <c:v>Operational fit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</c:v>
                </c:pt>
                <c:pt idx="1">
                  <c:v>70</c:v>
                </c:pt>
                <c:pt idx="2">
                  <c:v>91</c:v>
                </c:pt>
                <c:pt idx="3">
                  <c:v>68</c:v>
                </c:pt>
                <c:pt idx="4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score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One post</c:v>
                </c:pt>
                <c:pt idx="1">
                  <c:v>Three sources</c:v>
                </c:pt>
                <c:pt idx="2">
                  <c:v>Platform data</c:v>
                </c:pt>
                <c:pt idx="3">
                  <c:v>Controlled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55</c:v>
                </c:pt>
                <c:pt idx="2">
                  <c:v>78</c:v>
                </c:pt>
                <c:pt idx="3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Impressions</c:v>
                </c:pt>
                <c:pt idx="1">
                  <c:v>Visits</c:v>
                </c:pt>
                <c:pt idx="2">
                  <c:v>Clicks</c:v>
                </c:pt>
                <c:pt idx="3">
                  <c:v>Orders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120000</c:v>
                </c:pt>
                <c:pt idx="1">
                  <c:v>18000</c:v>
                </c:pt>
                <c:pt idx="2">
                  <c:v>4200</c:v>
                </c:pt>
                <c:pt idx="3">
                  <c:v>168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Creator A</c:v>
                </c:pt>
                <c:pt idx="1">
                  <c:v>Publisher B</c:v>
                </c:pt>
                <c:pt idx="2">
                  <c:v>Community C</c:v>
                </c:pt>
                <c:pt idx="3">
                  <c:v>Reviewer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76</c:v>
                </c:pt>
                <c:pt idx="2">
                  <c:v>91</c:v>
                </c:pt>
                <c:pt idx="3">
                  <c:v>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 share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Reach</c:v>
                </c:pt>
                <c:pt idx="1">
                  <c:v>Authority</c:v>
                </c:pt>
                <c:pt idx="2">
                  <c:v>Conversion</c:v>
                </c:pt>
                <c:pt idx="3">
                  <c:v>Retention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share %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Sheet1!$A$2:$A$5</c:f>
              <c:strCache>
                <c:ptCount val="4"/>
                <c:pt idx="0">
                  <c:v>Reach</c:v>
                </c:pt>
                <c:pt idx="1">
                  <c:v>Authority</c:v>
                </c:pt>
                <c:pt idx="2">
                  <c:v>Conversion</c:v>
                </c:pt>
                <c:pt idx="3">
                  <c:v>Retention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18</c:v>
                </c:pt>
                <c:pt idx="2">
                  <c:v>31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Top 1</c:v>
                </c:pt>
                <c:pt idx="1">
                  <c:v>Top 3</c:v>
                </c:pt>
                <c:pt idx="2">
                  <c:v>Top 5</c:v>
                </c:pt>
                <c:pt idx="3">
                  <c:v>All partners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70</c:v>
                </c:pt>
                <c:pt idx="2">
                  <c:v>84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Within target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Sheet1!$A$2:$A$4</c:f>
              <c:strCache>
                <c:ptCount val="3"/>
                <c:pt idx="0">
                  <c:v>Strategic</c:v>
                </c:pt>
                <c:pt idx="1">
                  <c:v>Growth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86</c:v>
                </c:pt>
                <c:pt idx="2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Checkout</c:v>
                </c:pt>
                <c:pt idx="2">
                  <c:v>Approved</c:v>
                </c:pt>
                <c:pt idx="3">
                  <c:v>Repeat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260</c:v>
                </c:pt>
                <c:pt idx="2">
                  <c:v>168</c:v>
                </c:pt>
                <c:pt idx="3">
                  <c:v>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$k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</c:v>
                </c:pt>
                <c:pt idx="1">
                  <c:v>6.8</c:v>
                </c:pt>
                <c:pt idx="2">
                  <c:v>4.3</c:v>
                </c:pt>
                <c:pt idx="3">
                  <c:v>2.1</c:v>
                </c:pt>
                <c:pt idx="4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Commission $k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</c:v>
                </c:pt>
                <c:pt idx="1">
                  <c:v>0.95</c:v>
                </c:pt>
                <c:pt idx="2">
                  <c:v>0.52</c:v>
                </c:pt>
                <c:pt idx="3">
                  <c:v>0.25</c:v>
                </c:pt>
                <c:pt idx="4">
                  <c:v>0.14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CVR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SEO</c:v>
                </c:pt>
                <c:pt idx="1">
                  <c:v>Email</c:v>
                </c:pt>
                <c:pt idx="2">
                  <c:v>Social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6.2</c:v>
                </c:pt>
                <c:pt idx="2">
                  <c:v>2.1</c:v>
                </c:pt>
                <c:pt idx="3">
                  <c:v>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 index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Approved orders</c:v>
                </c:pt>
                <c:pt idx="2">
                  <c:v>Revenue</c:v>
                </c:pt>
                <c:pt idx="3">
                  <c:v>ROI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index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Approved orders</c:v>
                </c:pt>
                <c:pt idx="2">
                  <c:v>Revenue</c:v>
                </c:pt>
                <c:pt idx="3">
                  <c:v>ROI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</c:v>
                </c:pt>
                <c:pt idx="1">
                  <c:v>94</c:v>
                </c:pt>
                <c:pt idx="2">
                  <c:v>118</c:v>
                </c:pt>
                <c:pt idx="3">
                  <c:v>123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Disclosure</c:v>
                </c:pt>
                <c:pt idx="1">
                  <c:v>Claims</c:v>
                </c:pt>
                <c:pt idx="2">
                  <c:v>Brand</c:v>
                </c:pt>
                <c:pt idx="3">
                  <c:v>Tracking</c:v>
                </c:pt>
                <c:pt idx="4">
                  <c:v>Privacy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Sheet1!$A$2:$A$6</c:f>
              <c:strCache>
                <c:ptCount val="5"/>
                <c:pt idx="0">
                  <c:v>Disclosure</c:v>
                </c:pt>
                <c:pt idx="1">
                  <c:v>Claims</c:v>
                </c:pt>
                <c:pt idx="2">
                  <c:v>Brand</c:v>
                </c:pt>
                <c:pt idx="3">
                  <c:v>Tracking</c:v>
                </c:pt>
                <c:pt idx="4">
                  <c:v>Privacy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60552-Agentic-AI-for-Affiliate-Marketing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NON-WSQ COURSE  •  C1319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Agentic AI for Affiliate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2.0  ·  10 Oct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Welcome and Learning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How the course runs, what evidence is required and where control boundaries 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General trainer profile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A7D7B"/>
                </a:solidFill>
                <a:latin typeface="Calibri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5483A"/>
                </a:solidFill>
                <a:latin typeface="Calibri"/>
              </a:rPr>
              <a:t>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8A2E"/>
                </a:solidFill>
                <a:latin typeface="Calibri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1201C"/>
                </a:solidFill>
                <a:latin typeface="Calibri"/>
              </a:rPr>
              <a:t>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A7D7B"/>
                </a:solidFill>
                <a:latin typeface="Calibr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Principal trainer and courseware developer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5483A"/>
                </a:solidFill>
                <a:latin typeface="Calibri"/>
              </a:rPr>
              <a:t>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Agentic AI, automation, cloud and secure workflow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8A2E"/>
                </a:solidFill>
                <a:latin typeface="Calibri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Technical courses with evidence-led labs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1201C"/>
                </a:solidFill>
                <a:latin typeface="Calibri"/>
              </a:rPr>
              <a:t>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enquiry@tertiaryinfotech.com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Your role and the affiliate audiences you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Current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Networks, analytics, CRM or content tools you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One affiliate process you want to improve safely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LEARNING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Ask, challenge and test claims with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Protect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sample partners; never expose credentials or customer PII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Respect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Do not publish, message or spend without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Stay on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Return promptly from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Work hands-on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Build and verify your own lab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Full attendance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Attend the whole day to get the most from the course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PORTAL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Sign in to lms-tms.tertiaryinfotech.com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9976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Open this course run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975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Download slides, Learner Guide and lab package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41664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Keep materials for reference after the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SCHEDULE · 7.5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One-Day Learning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Morning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Offer economics, market evidence and trend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Late morning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 discovery, due diligence and portfolio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Afternoon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 factory, tracking and compliance controls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Late afternoon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 reconciliation, reporting and optimisation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THREE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Affiliate research, offer economics, Claude Cowork and reusable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Topic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MCP-assisted partner due diligence, portfolio design and communication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Topic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 tracking, compliance, commission reconciliation and reporting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LEARNER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Access the Hands-On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53492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534924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12848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47548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git clone https://github.com/tertiarycourses/C1319-Agentic-AI-for-Affiliate-Marketing.git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874519"/>
            <a:ext cx="53492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874519"/>
            <a:ext cx="534924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212848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71800"/>
            <a:ext cx="47548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GitHub · Code · Download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166360"/>
            <a:ext cx="104698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  <a:hlinkClick r:id="rId2"/>
              </a:rPr>
              <a:t>https://github.com/tertiarycourses/C1319-Agentic-AI-for-Affiliate-Marketing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Each lab is self-contained. Detailed procedures and evidence checks live in the lab README and Learner Guide.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TECHNICAL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The Controlled Campaign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Architecture, state, autonomy, evidence and failure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The Controlled Affiliate Growth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Research market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Select offer and partners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Create governed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 events and commissions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optimisation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Automation, Generative AI and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Deterministic automation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Fixed path and validation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Reliable calculations and writes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Best for identifiers and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Agentic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Plans bounded research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Chooses approved tools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Must not own irreversible release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State Is a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correlation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brief_version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monotonic approved revision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draft | review | approved |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approval_hash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binds decision to exact payload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evidence behind claims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evidence_uri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audit artifact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Autonomy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Can this action publish, message, spend, change tracking or expose personal 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Require named human approval and an exact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Allow bounded analysis with logging and limits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Value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Profit = attributed revenue - commission - media cost - platform cost -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$18,000 - $2,700 - $3,500 - $500 - $900 = $10,400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Revenue alone cannot tell whether an affiliate programme creates value.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A7D7B"/>
                </a:solidFill>
                <a:latin typeface="Calibr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Five Planes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goals, audience, offer and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profiles, terms and communications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claims, channels and tracked links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events, metrics and commission ledger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approvals, limits and audit trail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Minimum Agent Audit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task and run identifiers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input brief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IDs and timestamps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agent output and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decision and payload hash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external response or report artifact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Taxonomy Before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unsupported or stale source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fraud, mismatch or concentration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claim, disclosure or brand failure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Attribution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duplicate, missing or misassigned event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credential leak or unapproved action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Research and Campaign Planning with 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Market signals -&gt; offer economics -&gt; reusable research Skill -&gt; evidence-led partner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A7D7B"/>
                </a:solidFill>
                <a:latin typeface="Calibri"/>
              </a:rPr>
              <a:t>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Topic 01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Model incentive economics with EPC, conversion, commission and break-even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Separate observed market evidence from agent inference and partner-facing recommendations.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Package repeatable affiliate research and product-update work as a bounded Claude Skill.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human review to control claims, pricing, disclosure, data use and external communication.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Research Specialists Propose; Humans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  <p:pic>
        <p:nvPicPr>
          <p:cNvPr id="10" name="Picture 9" descr="affiliate-research-agent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Trend researcher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evidence and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B5483A"/>
                </a:solidFill>
                <a:latin typeface="Calibri"/>
              </a:rPr>
              <a:t>Partner scout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audience and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88A2E"/>
                </a:solidFill>
                <a:latin typeface="Calibri"/>
              </a:rPr>
              <a:t>Offer evaluator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economics and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Content planner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channel and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Human owner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approve exact brief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Transaction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6904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6904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Publisher places tracked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5520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11552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0088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280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Visitor clicks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08704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64736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327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327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464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Network records click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0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6456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645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Customer converts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5072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71104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0832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Merchant validates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682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24288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2824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2824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4016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Commission settles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Monitoring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Define signals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Collect dated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Normalise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Compare baseline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 reviewed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 Evaluation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Confirm audience job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 product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Model economics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Test policy fit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or reject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Claude Cowork Research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bounded 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Read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Run research Skill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 evidence cards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releases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Skill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Description triggers Skill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Instructions set method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Resources supply templates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Checks validate 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Result returns with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Product Update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Detect approved change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Diff product record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Draft partner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Review claims and date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Send through owned 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Review Content 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Product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Feature-to-benefit claim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Audience limitation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Tracked CTA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From Ebook Foundation to Current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Select niche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Choose product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Create useful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Attract qualified traffic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 and 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 Evaluation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offer_id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product or service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CPS | CPA | CPL | recurring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commission_value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rate or fixed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cookie_window_days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attribution eligibility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refund_window_days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reversal exposure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approved_claims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verifiable product proof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Evidence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what 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direct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published_at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 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captured_at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research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low | medium | 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bounded partner action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Content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audience_job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problem and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product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defensible promise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proof_ids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sources for factual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clear affiliate relationship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tracked next step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Claude Skill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trigger and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repeatable output shape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references/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domain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scripts/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deterministic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examples/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quality baseline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change and review history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MCP Research Tool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tool_name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intent-specific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input_schema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allowed query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read-only by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output_schema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evidence and source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timeout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bounded execution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traceable invocation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Product Change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product_id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catalogue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effective_at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when the change applies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changed_fields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price, terms, feature or availability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what affiliates must change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assets_version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creative 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accountable approver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Source Allow-List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source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product, policy, market or 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freshness_days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maximum acceptable 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claims_allowed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supported statement classes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pii_rule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data-handling boundary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review_owner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 source steward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Earnings per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EPC = affiliate commission / unique tracked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$1,260 commission / 4,200 clicks = $0.30 EPC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Compare offers only when the attribution window and traffic quality are comparable.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Conversion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Conversion rate = approved conversions / unique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168 approved orders / 4,200 clicks = 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Use approved conversions after cancellations, not raw checkout events.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Expected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Expected commission = clicks x conversion rate x average order value x commission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5,000 x 3.2% x $140 x 12% = $2,688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Every assumption needs a source or a sensitivity range.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Break-Even CPC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Break-even CPC = conversion rate x order value x commission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0.032 x $140 x 0.12 = $0.5376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Paid traffic above $0.54 per click loses money before overhead and reversals.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Refund-Adjusted EPC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Adjusted EPC = gross commission x (1 - reversal rate) / unique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$1,260 x 0.91 / 4,200 = $0.273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A high headline commission can hide costly reversals.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Content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Payback clicks = content cost / expected EPC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$900 article / $0.30 EPC = 3,000 clicks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Use incremental qualified clicks, not page views, for payback.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Priority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Priority = relevance x confidence x urgency /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4 x 3 x 4 / 2 = 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The score ranks research follow-up; it does not make a claim true.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CPS, CPA and CPL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Revenue-linked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CPS pays after approved sale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Aligns with merchant revenue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Sensitive to refunds and 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Action-linked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CPA/CPL pays for defined 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Faster feedback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strict quality validation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Recurring vs One-Time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Recurring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Rewards retained subscriptions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churn and cohort view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Longer earnings 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One-time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Simple settlement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payback read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Can favour short-term acquisition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Broad Category vs Narrow Niche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Broad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Larger possible reach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More content competition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Weaker audience specificity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Narrow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Clearer expertise and intent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Smaller reachable market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Often stronger conversion quality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Review Article vs Comparison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Deep single-offer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high-intent query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Must disclose limitations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Comparison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Makes criteria explicit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choice among offers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fair and current data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Owned vs Paid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Owned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SEO, email and community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Compounds but takes time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Greater message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Paid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Immediate test volume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Marginal cost per click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Strict break-even control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Observed Signal vs Agent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Observed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Source-dated fact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Quantified sample or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Reproducible by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Inferred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Possible explanation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Must state uncertainty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test before causality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Manual Prompt vs Reusable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One-off prompt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exploration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Variable method and format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Harder to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Custom Skill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Versioned method and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Repeatable acceptance checks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Reusable across campaigns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Commission Model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highest rate is not automatically the highest profit; conversion and validation rules dominate.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Traffic Quality by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Email converts best in this teaching set, while social supplies reach but weaker intent.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Offer B's economics cannot compensate for a policy score below the release threshold.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Signal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Confidence rises with independent evidence and direct behavioural data.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Content Funnel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largest absolute drop is visibility to visit; the commercial decision still depends on EPC and cost.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Select an 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 audience fit, evidence, policy and downside all meet minimum thresholds?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Model expected value and approve a bounded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Reject or request missing evidence; do not average away a hard failure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Release a Product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Is the change approved, effective-dated and supported by current product evidence?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Send the versioned partner update with required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Hold the update and escalate to the product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Trust a Trend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 at least two independent sources or one direct data source support the same observation?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Record confidence and test the implication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Label as unverified and keep monitoring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Use an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Is the source authorised and the requested action within the tool's least-privilege scope?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Call the tool and preserve its audit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Do not connect; use an approved read-only source or ask the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Offer-Selection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Rate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choosing the largest commission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Cookie mismatch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ignoring attribution window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Return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using gross conversions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Weak proof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promoting unsupported benefits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Ops mismatch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merchant cannot fulfil demand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Research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Stale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old trend presented as current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Source laundering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agent answer without direct URL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False consensus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many copies of one claim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Confirmation bias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search framed around desired answer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PII leakage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personal data added to prompts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Content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Spam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volume without audience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Wrong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claims do not match intent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Wrong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reach without qualified demand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Demand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content solves no real job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Product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offer does not fit audience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Skill and Connector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Overbroad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Skill runs on unrelated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Hidden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connector changes external state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Prompt injection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source text overrides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Secret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token appears in output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No 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method changes without review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LO1 Evidence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offer economics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dated trend evidence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allow-list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custom research Skill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product update brief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approval record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Ebook Foundation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product and niche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EPC and conversion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review-writing 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SEO, email, social and video channels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branding and audience 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spam and traffic-quality mistakes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Offer Economics and Niche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LO1 · 25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push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Evaluate three retail and hospitality offers using the ebook-derived product criteria, current evidence, EPC, conversion, reversal and break-even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source-backed offer scorecard and deterministic economics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spreadsheet/CSV, Python calculator, supplied product evidence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offer and traffic assumptions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denominators and 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Calculate EPC, CVR and break-even CPC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Apply non-compensable fit and policy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selects one pilot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unique clicks are the EPC denominator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conversions exclude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commission terms are effective-dated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every qualitative score cites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hard policy gates run before ranking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completed offer-inputs.csv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offer-economics-report.md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notes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selected offer and rationale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one rejected offer with gate reason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all numeric metrics recompute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source dates recorded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hard gates applied before ranking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pilot has CPC ceiling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no unsupported claim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missing denominator blocks calculation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stale product evidence lowers confidence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 rate cannot offset poor audience fit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negative margin rejects paid traffic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Trend Monitor and Product Update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LO1 · 55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push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Create a reusable Claude Skill that turns approved trend signals and product changes into evidence cards and a reviewed affiliate update.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packaged custom Skill, trend evidence set and versioned product-update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custom Skills, approved web sources, Markdown templates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Skill receives bounded source 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Evidence cards separate observation and inference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Product diff identifies partner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Validator checks source/date/disclosure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exact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Skill trigger is narrow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every observation has source and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product facts come from approved catalogue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inference is labelled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outbound update requires human approval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skills/affiliate-trend-update/SKILL.md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completed evidence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product 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 partner update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validator result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Skill package is valid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sources and dates present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fact and inference separated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product impact explicit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human approval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single-source trend remains low confidence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missing effective date blocks product update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unsupported claim returns to research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prompt injection text is treated as data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Portfolio and Partner Coordination with Skills and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Partner discovery -&gt; due diligence -&gt; scoring -&gt; portfolio balance -&gt; coordinated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push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A7D7B"/>
                </a:solidFill>
                <a:latin typeface="Calibri"/>
              </a:rPr>
              <a:t>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Topic 02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Define partner-fit evidence before allowing an agent to rank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MCP connectors as permissioned data boundaries, not invisible sources of truth.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Build a portfolio that balances reach, relevance, conversion quality and concentration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Coordinate partners through versioned briefs, service levels, escalation and audit evidence.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Research Becomes a Governed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  <p:pic>
        <p:nvPicPr>
          <p:cNvPr id="10" name="Picture 9" descr="affiliate-research-agent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Discover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bounded candidate universe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B5483A"/>
                </a:solidFill>
                <a:latin typeface="Calibri"/>
              </a:rPr>
              <a:t>Verify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identity and audience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88A2E"/>
                </a:solidFill>
                <a:latin typeface="Calibri"/>
              </a:rPr>
              <a:t>Score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transparent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Balance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reach and concentration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Coordinate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briefs, cadence and escalation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Discovery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Define partner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Search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candidate facts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Verify identity and audience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Queue for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Due-Diligence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Identity check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Content and audience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Engagement quality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Policy and reputation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Commercial 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MCP Connector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User grants permission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Client calls named tool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Server reads approved system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Result returns with provenance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Agent cannot exceed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Candidate Scoring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Normalise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Apply weighted criteria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Enforce hard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shortlist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Construction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Set strategic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Allocate target mix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Recruit candidates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Measure contribution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Rebalance intentionally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Onboarding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Issue partner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Deliver versioned kit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Confirm disclosure and tracking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Activate after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Control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Segment partner tier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Set cadence and SLA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Send approved brief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Escalate and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Candidate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internal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identity_urls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verified public identities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audience_profile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region, need and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engagement_evidence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dated sample and denominator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policy_flags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disclosure and brand risks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traceable background evidence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Scorecard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named decision dimension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sums to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raw_evidence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source-backed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normalised_score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0-100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hard_gate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non-compensable threshold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reviewer_note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 rationale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Role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reach | authority | conversion |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site, email, social, video or community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priority segment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offer_fit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product family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risk_tier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monitoring depth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campaign and content limit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Brief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links work to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intended recipient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product_version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offer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mandatory_claims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must-use verified statements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prohibited_claims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cannot publish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tracking_url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unique attribution key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strategic | growth |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routine_cadence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planned update frequency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response_target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business-hour commitment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escalation_owner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named accountable person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contact route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message and outcome record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Update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recipient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message_version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exact approved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sent_at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timestamp and timezone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acknowledged_at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nullable response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next_action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owner and due date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Weighted Partner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Score = sum(weight x criterion score)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0.30x88 + 0.25x76 + 0.20x92 + 0.15x80 + 0.10x70 = 82.8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Apply hard gates before ranking; a policy failure must not be averaged away.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Engagement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Engagement rate = meaningful interactions / reachable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1,260 interactions / 42,000 reachable followers = 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Define meaningful interaction and use a recent sample, not lifetime vanity totals.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Top-3 share = revenue from top 3 partners / total affiliate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$42,000 / $60,000 = 70%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A high top-3 share increases outage and negotiation risk even when current ROI is strong.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Response SLA Attainment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SLA attainment = responses within target / support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87 / 100 = 87%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Segment by partner tier; a blended result can hide failure for strategic partners.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Retention = active partners at end who were active at start / active partners at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42 / 50 = 84%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Exclude newly recruited partners from the retention numerator and denominator.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Reach vs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Reach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Large potential audience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Useful for awareness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dilute intent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Relevance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Strong problem-offer fit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Smaller but qualified audience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Often better conversion quality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Follower Count vs Engagement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Follower count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Easy to collect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include inactive or bought accounts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Weak behavioural proof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Engagement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Sampled denominator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Comment and click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More predictive when current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Single-Star vs Portfolio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Single star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coordination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 concentration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One voice and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Portfolio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Diversified audience and channel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Higher operating complexity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role and capacity design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Direct Outreach vs Network Recruitment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Direct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Custom terms and relationship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Higher research effort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Rich strategic 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Network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Faster candidate access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Standardised tracking and payout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Less direct ownership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Strategic vs Standard Partner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Strategic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Joint plan and frequent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Custom assets and escalation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 expected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Standard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Scalable portal and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Defined response SLA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Lower account-management cost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Read-Only vs Write-Capable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Read-only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Research and retrieval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Lower blast radius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Default for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Write-capable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Messages or record updates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preview and approval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Narrow fields and allow-lists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Agent Recommendation vs Human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Agent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Synthesises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Applies transparent score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Surfaces 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Human owner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Judges brand and relationship context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Accepts trade-offs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Owns invitation and terms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Candidate Fit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Community C leads on fit; the next step is due diligence, not automatic recruitment.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Mix by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current portfolio overweights reach and underinvests in retention partners.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Revenue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Seventy percent from three partners warrants continuity planning and controlled diversification.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SLA by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scalable standard tier needs better self-service material or routing.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Shortlist a 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Are identity, audience, engagement, policy and commercial evidence complete and above hard gates?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Add to human review with score and source bundle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Reject or hold; never invent missing background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Add a Portfolio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candidate fill a strategic role without breaching concentration or capacity limits?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Approve a bounded onboarding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Keep in reserve or recruit for a missing role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Send a Partner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message match the approved brief, product version, disclosure and recipient tier?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Release through the authorised channel and log the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Block and return to the owner with exact differences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Escalate a Partner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issue exceed SLA, policy or commercial-risk thresholds?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Route to the named owner with evidence and due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Resolve through the standard support path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Due-Diligence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impersonation or unverifiable ownership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mismatch, bots or stale followers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unsafe claims or weak disclosure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Reputation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undisclosed conflicts or complaints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Commercial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unverified results or reference gaps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Concentration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revenue depends on few partners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Duplication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many partners reach the same audience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Role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no authority or retention partner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team cannot support recruited volume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Cannibalisation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discounting shifts existing customers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Version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old offer or assets stay live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Channel sprawl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messages cannot be audited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SLA opacity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partners do not know response time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Agent overreach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unapproved promise or term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No closure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issues lack owner and outcome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MCP and Research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Excess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connector sees unrelated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Prompt 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candidate page redirects agent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Source mix-up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facts attached to wrong partner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No audit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retrieval cannot be reproduced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Write surprise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research tool changes external state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LO2 Evidence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 archetype and source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candidate evidence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weighted scorecard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 role and concentration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versioned partner brief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communication and escalation log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Review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identity and ownership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audience and engagement sample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content and disclosure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policy and reputation flags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commercial references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decision and conditions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MCP-Assisted Partner Discovery and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LO2 · 35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med">
    <p:push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a read-only research workflow to collect and verify candidate background information, then produce a source-backed shortlist.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partner evidence register, due-diligence report and explainable shortlist.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read-only MCP/web research, CSV, Python scorecard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Define partner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Search only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identity and audience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Run fraud, policy and fit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reviews shortlist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row per candidate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facts retain direct source URLs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engagement uses a dated denominator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connector is read-only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missing evidence is never imputed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affiliate-candidates.csv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due-diligence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partner-scorecard.md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shortlist decision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connector boundary is read-only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identity and audience evidence sourced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hard gates exclude failures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scores recompute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human shortlist rationale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identity conflict blocks candidate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bot-like engagement flags review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source text cannot change instructions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policy gate is non-compensable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Portfolio and Communication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LO2 · 35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med">
    <p:push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Construct a role-balanced portfolio and a controlled communication cadence that keeps partner briefs, product updates and escalations traceable.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portfolio mix model, tiered communication plan and versioned partner brief generated by a custom Skill.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custom Skill, CSV portfolio model, Markdown brief templates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Classify partner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Measure concentration and gaps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Assign service tier and capacity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Generate versioned brief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 acknowledgement and 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portfolio share totals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top-3 concentration is visible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each partner has one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brief carries product and asset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message event has outcome and next action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portfolio-analysis.md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communication-cadence.csv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 partner brief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message and escalation log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portfolio shares reconcile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concentration reported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role gap identified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brief versioned and approved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SLA escalation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duplicate audience creates hidden concentration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old brief version is blocked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SLA miss triggers named escalation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agent cannot change commercial terms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Campaign Reporting, Compliance and Optimisation with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Tracked links -&gt; event facts -&gt; commission reconciliation -&gt; policy checks -&gt; controlled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  <p:transition spd="med">
    <p:push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A7D7B"/>
                </a:solidFill>
                <a:latin typeface="Calibri"/>
              </a:rPr>
              <a:t>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Topic 03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Preserve attribution grain from click and order events through commission settlement.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Calculate traffic, conversion, revenue, commission and ROI with explicit denominators.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Gate content and partner actions with disclosure, brand, privacy and policy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Convert dashboard evidence into reversible tests with human ownership and guardrails.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Attribution Evidence Drives Controlled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  <p:pic>
        <p:nvPicPr>
          <p:cNvPr id="10" name="Picture 9" descr="affiliate-performance-loop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Content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unique tracked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B5483A"/>
                </a:solidFill>
                <a:latin typeface="Calibri"/>
              </a:rPr>
              <a:t>Ledger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click, conversion and payout grain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88A2E"/>
                </a:solidFill>
                <a:latin typeface="Calibri"/>
              </a:rPr>
              <a:t>Dashboard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traffic, revenue and ROI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AI analyst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anomaly and hypothesis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Human owner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approve reversible change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Runtime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Issue partner links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click and order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and settle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Attribution Event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Receive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Verify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Deduplicate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Join partner and campaign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Store immutable fact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Commission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Import approved orders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Apply programme terms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Subtract reversals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Compare network statement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payout 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Review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content and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Detect claims and disclosure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 evidence and placement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resolves flags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Archive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Agentic Reporting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Read validated facts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Calculate deterministic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Agent explains variance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Reviewer challenges inference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 approved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Optimisation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Diagnose bottleneck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Write hypothesis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Choose primary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Set guardrails and stop rule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bounded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Tracked Link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affiliate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strategic initiative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creative_id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asset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allow-listed landing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utm_fields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channel reporting labels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issued_at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traceable link version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Click Event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click_id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occurred_at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UTC event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 affiliate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linked campaign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landing_page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destination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consent_state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lawful tracking boundary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Conversion Event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order_id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merchant transaction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click_id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attribution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approved_revenue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net eligible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pending | approved | reversed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calculated liability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validated_at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merchant decision time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KPI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human-readable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numerator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event or money 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denominator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eligible population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partner, campaign and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exclusions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bots, reversals or invalid traffic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definition steward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finding_id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review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policy or legal requirement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evidence_span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exact content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low | medium | 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change, accept or reject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 decision owner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reporting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portfolio_summary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active partners and mix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traffic, conversion and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gross, reversal and payable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findings and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owner, due date and expected effect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Click-Through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CTR = affiliate-link clicks / eligible content impressions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4,200 / 120,000 = 3.5%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Impressions must use the same content, audience and window as clicks.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Approved Conversion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CVR = approved conversions / unique tracked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168 / 4,200 = 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Pending or reversed orders do not prove completed commercial value.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Average Order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AOV = approved revenue / approved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$23,520 / 168 = $140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Segment by product and new/existing customer before applying one average to forecasts.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Commission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Effective commission rate = payable commission / approved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$2,688 / $23,520 = 11.43%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Tier bonuses and exclusions can make the effective rate differ from the headline rate.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ROI = (attributed gross profit - commission - programme cost) / programme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($9,408 - $2,688 - $2,000) / $2,000 = 236%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Use gross profit, not revenue, and disclose attribution assumptions.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Variance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Variance % = (actual - plan) /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($23,520 - $20,000) / $20,000 = 17.6%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Materiality is an approved threshold; an agent should not invent it after seeing results.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First-Click vs Last-Click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First-click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Credits discovery source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Useful for acquisition analysis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Ignores closing influence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Last-click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Credits final touch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Common and operationally simple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Ignores earlier assistance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Gross vs Approved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Gross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leading signal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Includes pending and fraud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Overstates payable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Approved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Validated merchant outcome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settlement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Arrives with delay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Platform Dashboard vs Reconciled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Platform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Quick operational view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Uses network definitions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omit merchant reversals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Reconciled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Joins merchant truth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finance and payout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identity and timing controls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Disclosure Present vs Disclosure Clear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Present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Words exist somewhere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be hidden after click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Can fail consumer understanding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Clear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Prominent before endorsement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Plain language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Matches channel context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Agent Narrative vs Deterministic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Agent narrative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Explains patterns and hypotheses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Useful for stakeholder reading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Can overstate causality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Deterministic metric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Recomputable formula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Explicit fields and denominator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Source of record for decisions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Optimisation vs Policy Override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Optimisation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Changes creative, mix or cadence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Bounded test and guardrails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Owner can reverse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Policy override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Weakens disclosure or controls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Not a performance lever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governance decision, usually reject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Checkout-to-approved loss should be split into abandonment, fraud, cancellation and return causes.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Revenue and Commission by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Partner B has a higher effective commission burden than Partner A despite lower revenue.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Conversion Rate by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Channel mix changes can move the blended conversion rate without any content-quality change.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Performance Against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More clicks produced fewer approved orders, but larger baskets lifted revenue and ROI.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Findings by 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Disclosure is the first remediation priority because it has the most high-severity findings.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Publish a Campaign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Are every metric definition, source period, reconciliation status and material limitation stated?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Release the reviewed report with actions and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Return to data validation; do not let narrative hide missing facts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Approve an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Is the diagnosis evidence-backed, reversible, policy-compliant and protected by guardrails?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Approve a bounded experiment and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Reject, gather evidence or escalate to governance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Pay a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order meet attribution, approval, return-window and programme-term rules?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Record payable amount and settlement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Hold or reverse with a traceable reason code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Attribution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Duplicate click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retry counted twice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Broken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order lacks click or partner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Window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conversion outside terms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Cross-device gap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journey cannot be linked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Consent breach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tracking beyond lawful boundary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Reporting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Metric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same label, changed formula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Gross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reversals omitted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Blended average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segment weakness hidden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Narrative inflation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correlation stated as cause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No 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recommendation never closes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Hidden disclosure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affiliate relationship unclear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Unsupported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evidence absent or stale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Brand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partner changes mandatory message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Privacy misuse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personal data copied to tools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Agent 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content publishes without human approval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LO3 Evidence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tracked-link register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validated click and conversion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 reconciliation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KPI dictionary and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compliance findings and resolution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 progress report and experiment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Management Report Reading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decision and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 and campaign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performance versus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 and reconciliation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compliance and limitations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actions, owners and due dates</a:t>
            </a:r>
          </a:p>
        </p:txBody>
      </p: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Brand-Aligned Multi-Channel Campaign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LO3 · 55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  <p:transition spd="med">
    <p:push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a bounded content Skill to produce website, email, social and video briefs from one approved campaign contract, with disclosure and claim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machine-readable campaign brief, four channel artifacts and a compliance release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custom Skill, JSON schema, deterministic compliance checker</a:t>
            </a:r>
          </a:p>
        </p:txBody>
      </p:sp>
    </p:spTree>
  </p:cSld>
  <p:clrMapOvr>
    <a:masterClrMapping/>
  </p:clrMapOvr>
  <p:transition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strategic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Generate channel-specific drafts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Preserve claim source IDs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Run disclosure and brand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exact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campaign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primary CTA per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tracked links identify channel and partner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affiliate disclosure is prominent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all factual claims cite approved sources</a:t>
            </a:r>
          </a:p>
        </p:txBody>
      </p:sp>
    </p:spTree>
  </p:cSld>
  <p:clrMapOvr>
    <a:masterClrMapping/>
  </p:clrMapOvr>
  <p:transition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campaign-brief.json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four channel drafts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compliance-report.json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resolved findings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approval hashes</a:t>
            </a:r>
          </a:p>
        </p:txBody>
      </p:sp>
    </p:spTree>
  </p:cSld>
  <p:clrMapOvr>
    <a:masterClrMapping/>
  </p:clrMapOvr>
  <p:transition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brief passes schema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four channel artifacts created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claims trace to sources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disclosure passes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human approval hashes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channel draft cannot alter offer terms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missing disclosure blocks release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unsupported superlative is flagged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brand and legal issues are separate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Attribution, Commission and Performance Reporting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LO3 · 55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179</a:t>
            </a:r>
          </a:p>
        </p:txBody>
      </p:sp>
    </p:spTree>
  </p:cSld>
  <p:clrMapOvr>
    <a:masterClrMapping/>
  </p:clrMapOvr>
  <p:transition spd="med">
    <p:push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Validate click and conversion facts, reconcile commission statements, calculate campaign KPIs and generate an evidence-led management report with controlled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reconciled event ledger, KPI dashboard, commission variance report and approved partner progress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CSV event data, Python reconciliation/report scripts, HTML dashboard</a:t>
            </a:r>
          </a:p>
        </p:txBody>
      </p:sp>
    </p:spTree>
  </p:cSld>
  <p:clrMapOvr>
    <a:masterClrMapping/>
  </p:clrMapOvr>
  <p:transition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and deduplicate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Join click, order and partner keys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Calculate deterministic metrics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Agent explains variance with limitations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actions and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immutable event identifiers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revenue excludes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metric dictionary fixes denominators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commission terms are effective-dated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recommendations state owner and guardrails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click-events.csv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conversion-events.csv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commission-statement.csv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reconciliation-report.md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dashboard.html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approved-progress-report.md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event validation passes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commission variance resolved or explained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metrics recompute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dashboard and report generated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recommendation has guardrails and 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duplicate events are quarantined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unmatched orders remain unresolved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commission variance exceeds threshold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small samples lower confidence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From Evidence to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Review the control loop and preserve your working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185</a:t>
            </a:r>
          </a:p>
        </p:txBody>
      </p:sp>
    </p:spTree>
  </p:cSld>
  <p:clrMapOvr>
    <a:masterClrMapping/>
  </p:clrMapOvr>
  <p:transition spd="med">
    <p:push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LO1 -&gt; LO2 -&gt;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Revision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Labs 1-2: offer economics, trend evidence and product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Coordinate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Labs 3-4: due diligence, portfolio and partner communications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Labs 5-6: campaign control, attribution, commission and optimisation</a:t>
            </a:r>
          </a:p>
        </p:txBody>
      </p:sp>
    </p:spTree>
  </p:cSld>
  <p:clrMapOvr>
    <a:masterClrMapping/>
  </p:clrMapOvr>
  <p:transition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Evidence-led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Trace every market and partner claim to a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Reusable agent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Package repeatable work in bounded Skills and connectors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Controlled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 content, communication, payout and optimisation decisions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POST-COURSE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enquiry@tertiaryinfotech.com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Telephone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+65 6100 0613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Course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https://www.tertiarycourses.com.sg/agentic-ai-for-affiliate-marketing.html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Course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Rate the delivery, pace and clarity of the explanations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Tell us how the slides, Learner Guide and labs worked for you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Suggest one change that would make the next class better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7442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82112"/>
            <a:ext cx="99669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A7D7B"/>
                </a:solidFill>
                <a:latin typeface="Cambria"/>
              </a:rPr>
              <a:t>Build agentic campaigns that are useful, measurable and controlled.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C1319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