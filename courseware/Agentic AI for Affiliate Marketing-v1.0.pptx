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9" r:id="rId10"/>
    <p:sldId id="260" r:id="rId11"/>
    <p:sldId id="261" r:id="rId12"/>
    <p:sldId id="262" r:id="rId13"/>
    <p:sldId id="263" r:id="rId14"/>
    <p:sldId id="264" r:id="rId15"/>
    <p:sldId id="267" r:id="rId18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  <p:sldId id="407" r:id="rId158"/>
    <p:sldId id="408" r:id="rId159"/>
    <p:sldId id="409" r:id="rId160"/>
    <p:sldId id="410" r:id="rId161"/>
    <p:sldId id="411" r:id="rId162"/>
    <p:sldId id="412" r:id="rId163"/>
    <p:sldId id="413" r:id="rId164"/>
    <p:sldId id="414" r:id="rId165"/>
    <p:sldId id="415" r:id="rId166"/>
    <p:sldId id="416" r:id="rId167"/>
    <p:sldId id="417" r:id="rId168"/>
    <p:sldId id="418" r:id="rId169"/>
    <p:sldId id="419" r:id="rId170"/>
    <p:sldId id="420" r:id="rId171"/>
    <p:sldId id="421" r:id="rId172"/>
    <p:sldId id="422" r:id="rId173"/>
    <p:sldId id="423" r:id="rId174"/>
    <p:sldId id="424" r:id="rId175"/>
    <p:sldId id="425" r:id="rId176"/>
    <p:sldId id="426" r:id="rId177"/>
    <p:sldId id="427" r:id="rId178"/>
    <p:sldId id="428" r:id="rId179"/>
    <p:sldId id="429" r:id="rId180"/>
    <p:sldId id="430" r:id="rId181"/>
    <p:sldId id="431" r:id="rId182"/>
    <p:sldId id="432" r:id="rId183"/>
    <p:sldId id="433" r:id="rId184"/>
    <p:sldId id="434" r:id="rId185"/>
    <p:sldId id="435" r:id="rId186"/>
    <p:sldId id="436" r:id="rId187"/>
    <p:sldId id="437" r:id="rId188"/>
    <p:sldId id="438" r:id="rId189"/>
    <p:sldId id="439" r:id="rId190"/>
    <p:sldId id="440" r:id="rId191"/>
    <p:sldId id="441" r:id="rId192"/>
    <p:sldId id="442" r:id="rId193"/>
    <p:sldId id="443" r:id="rId194"/>
    <p:sldId id="444" r:id="rId195"/>
    <p:sldId id="445" r:id="rId196"/>
    <p:sldId id="446" r:id="rId197"/>
    <p:sldId id="447" r:id="rId198"/>
    <p:sldId id="448" r:id="rId199"/>
    <p:sldId id="449" r:id="rId200"/>
    <p:sldId id="451" r:id="rId202"/>
    <p:sldId id="454" r:id="rId205"/>
    <p:sldId id="455" r:id="rId20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8" Type="http://schemas.openxmlformats.org/officeDocument/2006/relationships/slide" Target="slides/slide9.xml"/><Relationship Id="rId23" Type="http://schemas.openxmlformats.org/officeDocument/2006/relationships/slide" Target="slides/slide10.xml"/><Relationship Id="rId24" Type="http://schemas.openxmlformats.org/officeDocument/2006/relationships/slide" Target="slides/slide11.xml"/><Relationship Id="rId25" Type="http://schemas.openxmlformats.org/officeDocument/2006/relationships/slide" Target="slides/slide12.xml"/><Relationship Id="rId26" Type="http://schemas.openxmlformats.org/officeDocument/2006/relationships/slide" Target="slides/slide13.xml"/><Relationship Id="rId27" Type="http://schemas.openxmlformats.org/officeDocument/2006/relationships/slide" Target="slides/slide14.xml"/><Relationship Id="rId28" Type="http://schemas.openxmlformats.org/officeDocument/2006/relationships/slide" Target="slides/slide15.xml"/><Relationship Id="rId29" Type="http://schemas.openxmlformats.org/officeDocument/2006/relationships/slide" Target="slides/slide16.xml"/><Relationship Id="rId30" Type="http://schemas.openxmlformats.org/officeDocument/2006/relationships/slide" Target="slides/slide17.xml"/><Relationship Id="rId31" Type="http://schemas.openxmlformats.org/officeDocument/2006/relationships/slide" Target="slides/slide18.xml"/><Relationship Id="rId32" Type="http://schemas.openxmlformats.org/officeDocument/2006/relationships/slide" Target="slides/slide19.xml"/><Relationship Id="rId33" Type="http://schemas.openxmlformats.org/officeDocument/2006/relationships/slide" Target="slides/slide20.xml"/><Relationship Id="rId34" Type="http://schemas.openxmlformats.org/officeDocument/2006/relationships/slide" Target="slides/slide21.xml"/><Relationship Id="rId35" Type="http://schemas.openxmlformats.org/officeDocument/2006/relationships/slide" Target="slides/slide22.xml"/><Relationship Id="rId36" Type="http://schemas.openxmlformats.org/officeDocument/2006/relationships/slide" Target="slides/slide23.xml"/><Relationship Id="rId37" Type="http://schemas.openxmlformats.org/officeDocument/2006/relationships/slide" Target="slides/slide24.xml"/><Relationship Id="rId38" Type="http://schemas.openxmlformats.org/officeDocument/2006/relationships/slide" Target="slides/slide25.xml"/><Relationship Id="rId39" Type="http://schemas.openxmlformats.org/officeDocument/2006/relationships/slide" Target="slides/slide26.xml"/><Relationship Id="rId40" Type="http://schemas.openxmlformats.org/officeDocument/2006/relationships/slide" Target="slides/slide27.xml"/><Relationship Id="rId41" Type="http://schemas.openxmlformats.org/officeDocument/2006/relationships/slide" Target="slides/slide28.xml"/><Relationship Id="rId42" Type="http://schemas.openxmlformats.org/officeDocument/2006/relationships/slide" Target="slides/slide29.xml"/><Relationship Id="rId43" Type="http://schemas.openxmlformats.org/officeDocument/2006/relationships/slide" Target="slides/slide30.xml"/><Relationship Id="rId44" Type="http://schemas.openxmlformats.org/officeDocument/2006/relationships/slide" Target="slides/slide31.xml"/><Relationship Id="rId45" Type="http://schemas.openxmlformats.org/officeDocument/2006/relationships/slide" Target="slides/slide32.xml"/><Relationship Id="rId46" Type="http://schemas.openxmlformats.org/officeDocument/2006/relationships/slide" Target="slides/slide33.xml"/><Relationship Id="rId47" Type="http://schemas.openxmlformats.org/officeDocument/2006/relationships/slide" Target="slides/slide34.xml"/><Relationship Id="rId48" Type="http://schemas.openxmlformats.org/officeDocument/2006/relationships/slide" Target="slides/slide35.xml"/><Relationship Id="rId49" Type="http://schemas.openxmlformats.org/officeDocument/2006/relationships/slide" Target="slides/slide36.xml"/><Relationship Id="rId50" Type="http://schemas.openxmlformats.org/officeDocument/2006/relationships/slide" Target="slides/slide37.xml"/><Relationship Id="rId51" Type="http://schemas.openxmlformats.org/officeDocument/2006/relationships/slide" Target="slides/slide38.xml"/><Relationship Id="rId52" Type="http://schemas.openxmlformats.org/officeDocument/2006/relationships/slide" Target="slides/slide39.xml"/><Relationship Id="rId53" Type="http://schemas.openxmlformats.org/officeDocument/2006/relationships/slide" Target="slides/slide40.xml"/><Relationship Id="rId54" Type="http://schemas.openxmlformats.org/officeDocument/2006/relationships/slide" Target="slides/slide41.xml"/><Relationship Id="rId55" Type="http://schemas.openxmlformats.org/officeDocument/2006/relationships/slide" Target="slides/slide42.xml"/><Relationship Id="rId56" Type="http://schemas.openxmlformats.org/officeDocument/2006/relationships/slide" Target="slides/slide43.xml"/><Relationship Id="rId57" Type="http://schemas.openxmlformats.org/officeDocument/2006/relationships/slide" Target="slides/slide44.xml"/><Relationship Id="rId58" Type="http://schemas.openxmlformats.org/officeDocument/2006/relationships/slide" Target="slides/slide45.xml"/><Relationship Id="rId59" Type="http://schemas.openxmlformats.org/officeDocument/2006/relationships/slide" Target="slides/slide46.xml"/><Relationship Id="rId60" Type="http://schemas.openxmlformats.org/officeDocument/2006/relationships/slide" Target="slides/slide47.xml"/><Relationship Id="rId61" Type="http://schemas.openxmlformats.org/officeDocument/2006/relationships/slide" Target="slides/slide48.xml"/><Relationship Id="rId62" Type="http://schemas.openxmlformats.org/officeDocument/2006/relationships/slide" Target="slides/slide49.xml"/><Relationship Id="rId63" Type="http://schemas.openxmlformats.org/officeDocument/2006/relationships/slide" Target="slides/slide50.xml"/><Relationship Id="rId64" Type="http://schemas.openxmlformats.org/officeDocument/2006/relationships/slide" Target="slides/slide51.xml"/><Relationship Id="rId65" Type="http://schemas.openxmlformats.org/officeDocument/2006/relationships/slide" Target="slides/slide52.xml"/><Relationship Id="rId66" Type="http://schemas.openxmlformats.org/officeDocument/2006/relationships/slide" Target="slides/slide53.xml"/><Relationship Id="rId67" Type="http://schemas.openxmlformats.org/officeDocument/2006/relationships/slide" Target="slides/slide54.xml"/><Relationship Id="rId68" Type="http://schemas.openxmlformats.org/officeDocument/2006/relationships/slide" Target="slides/slide55.xml"/><Relationship Id="rId69" Type="http://schemas.openxmlformats.org/officeDocument/2006/relationships/slide" Target="slides/slide56.xml"/><Relationship Id="rId70" Type="http://schemas.openxmlformats.org/officeDocument/2006/relationships/slide" Target="slides/slide57.xml"/><Relationship Id="rId71" Type="http://schemas.openxmlformats.org/officeDocument/2006/relationships/slide" Target="slides/slide58.xml"/><Relationship Id="rId72" Type="http://schemas.openxmlformats.org/officeDocument/2006/relationships/slide" Target="slides/slide59.xml"/><Relationship Id="rId73" Type="http://schemas.openxmlformats.org/officeDocument/2006/relationships/slide" Target="slides/slide60.xml"/><Relationship Id="rId74" Type="http://schemas.openxmlformats.org/officeDocument/2006/relationships/slide" Target="slides/slide61.xml"/><Relationship Id="rId75" Type="http://schemas.openxmlformats.org/officeDocument/2006/relationships/slide" Target="slides/slide62.xml"/><Relationship Id="rId76" Type="http://schemas.openxmlformats.org/officeDocument/2006/relationships/slide" Target="slides/slide63.xml"/><Relationship Id="rId77" Type="http://schemas.openxmlformats.org/officeDocument/2006/relationships/slide" Target="slides/slide64.xml"/><Relationship Id="rId78" Type="http://schemas.openxmlformats.org/officeDocument/2006/relationships/slide" Target="slides/slide65.xml"/><Relationship Id="rId79" Type="http://schemas.openxmlformats.org/officeDocument/2006/relationships/slide" Target="slides/slide66.xml"/><Relationship Id="rId80" Type="http://schemas.openxmlformats.org/officeDocument/2006/relationships/slide" Target="slides/slide67.xml"/><Relationship Id="rId81" Type="http://schemas.openxmlformats.org/officeDocument/2006/relationships/slide" Target="slides/slide68.xml"/><Relationship Id="rId82" Type="http://schemas.openxmlformats.org/officeDocument/2006/relationships/slide" Target="slides/slide69.xml"/><Relationship Id="rId83" Type="http://schemas.openxmlformats.org/officeDocument/2006/relationships/slide" Target="slides/slide70.xml"/><Relationship Id="rId84" Type="http://schemas.openxmlformats.org/officeDocument/2006/relationships/slide" Target="slides/slide71.xml"/><Relationship Id="rId85" Type="http://schemas.openxmlformats.org/officeDocument/2006/relationships/slide" Target="slides/slide72.xml"/><Relationship Id="rId86" Type="http://schemas.openxmlformats.org/officeDocument/2006/relationships/slide" Target="slides/slide73.xml"/><Relationship Id="rId87" Type="http://schemas.openxmlformats.org/officeDocument/2006/relationships/slide" Target="slides/slide74.xml"/><Relationship Id="rId88" Type="http://schemas.openxmlformats.org/officeDocument/2006/relationships/slide" Target="slides/slide75.xml"/><Relationship Id="rId89" Type="http://schemas.openxmlformats.org/officeDocument/2006/relationships/slide" Target="slides/slide76.xml"/><Relationship Id="rId90" Type="http://schemas.openxmlformats.org/officeDocument/2006/relationships/slide" Target="slides/slide77.xml"/><Relationship Id="rId91" Type="http://schemas.openxmlformats.org/officeDocument/2006/relationships/slide" Target="slides/slide78.xml"/><Relationship Id="rId92" Type="http://schemas.openxmlformats.org/officeDocument/2006/relationships/slide" Target="slides/slide79.xml"/><Relationship Id="rId93" Type="http://schemas.openxmlformats.org/officeDocument/2006/relationships/slide" Target="slides/slide80.xml"/><Relationship Id="rId94" Type="http://schemas.openxmlformats.org/officeDocument/2006/relationships/slide" Target="slides/slide81.xml"/><Relationship Id="rId95" Type="http://schemas.openxmlformats.org/officeDocument/2006/relationships/slide" Target="slides/slide82.xml"/><Relationship Id="rId96" Type="http://schemas.openxmlformats.org/officeDocument/2006/relationships/slide" Target="slides/slide83.xml"/><Relationship Id="rId97" Type="http://schemas.openxmlformats.org/officeDocument/2006/relationships/slide" Target="slides/slide84.xml"/><Relationship Id="rId98" Type="http://schemas.openxmlformats.org/officeDocument/2006/relationships/slide" Target="slides/slide85.xml"/><Relationship Id="rId99" Type="http://schemas.openxmlformats.org/officeDocument/2006/relationships/slide" Target="slides/slide86.xml"/><Relationship Id="rId100" Type="http://schemas.openxmlformats.org/officeDocument/2006/relationships/slide" Target="slides/slide87.xml"/><Relationship Id="rId101" Type="http://schemas.openxmlformats.org/officeDocument/2006/relationships/slide" Target="slides/slide88.xml"/><Relationship Id="rId102" Type="http://schemas.openxmlformats.org/officeDocument/2006/relationships/slide" Target="slides/slide89.xml"/><Relationship Id="rId103" Type="http://schemas.openxmlformats.org/officeDocument/2006/relationships/slide" Target="slides/slide90.xml"/><Relationship Id="rId104" Type="http://schemas.openxmlformats.org/officeDocument/2006/relationships/slide" Target="slides/slide91.xml"/><Relationship Id="rId105" Type="http://schemas.openxmlformats.org/officeDocument/2006/relationships/slide" Target="slides/slide92.xml"/><Relationship Id="rId106" Type="http://schemas.openxmlformats.org/officeDocument/2006/relationships/slide" Target="slides/slide93.xml"/><Relationship Id="rId107" Type="http://schemas.openxmlformats.org/officeDocument/2006/relationships/slide" Target="slides/slide94.xml"/><Relationship Id="rId108" Type="http://schemas.openxmlformats.org/officeDocument/2006/relationships/slide" Target="slides/slide95.xml"/><Relationship Id="rId109" Type="http://schemas.openxmlformats.org/officeDocument/2006/relationships/slide" Target="slides/slide96.xml"/><Relationship Id="rId110" Type="http://schemas.openxmlformats.org/officeDocument/2006/relationships/slide" Target="slides/slide97.xml"/><Relationship Id="rId111" Type="http://schemas.openxmlformats.org/officeDocument/2006/relationships/slide" Target="slides/slide98.xml"/><Relationship Id="rId112" Type="http://schemas.openxmlformats.org/officeDocument/2006/relationships/slide" Target="slides/slide99.xml"/><Relationship Id="rId113" Type="http://schemas.openxmlformats.org/officeDocument/2006/relationships/slide" Target="slides/slide100.xml"/><Relationship Id="rId114" Type="http://schemas.openxmlformats.org/officeDocument/2006/relationships/slide" Target="slides/slide101.xml"/><Relationship Id="rId115" Type="http://schemas.openxmlformats.org/officeDocument/2006/relationships/slide" Target="slides/slide102.xml"/><Relationship Id="rId116" Type="http://schemas.openxmlformats.org/officeDocument/2006/relationships/slide" Target="slides/slide103.xml"/><Relationship Id="rId117" Type="http://schemas.openxmlformats.org/officeDocument/2006/relationships/slide" Target="slides/slide104.xml"/><Relationship Id="rId118" Type="http://schemas.openxmlformats.org/officeDocument/2006/relationships/slide" Target="slides/slide105.xml"/><Relationship Id="rId119" Type="http://schemas.openxmlformats.org/officeDocument/2006/relationships/slide" Target="slides/slide106.xml"/><Relationship Id="rId120" Type="http://schemas.openxmlformats.org/officeDocument/2006/relationships/slide" Target="slides/slide107.xml"/><Relationship Id="rId121" Type="http://schemas.openxmlformats.org/officeDocument/2006/relationships/slide" Target="slides/slide108.xml"/><Relationship Id="rId122" Type="http://schemas.openxmlformats.org/officeDocument/2006/relationships/slide" Target="slides/slide109.xml"/><Relationship Id="rId123" Type="http://schemas.openxmlformats.org/officeDocument/2006/relationships/slide" Target="slides/slide110.xml"/><Relationship Id="rId124" Type="http://schemas.openxmlformats.org/officeDocument/2006/relationships/slide" Target="slides/slide111.xml"/><Relationship Id="rId125" Type="http://schemas.openxmlformats.org/officeDocument/2006/relationships/slide" Target="slides/slide112.xml"/><Relationship Id="rId126" Type="http://schemas.openxmlformats.org/officeDocument/2006/relationships/slide" Target="slides/slide113.xml"/><Relationship Id="rId127" Type="http://schemas.openxmlformats.org/officeDocument/2006/relationships/slide" Target="slides/slide114.xml"/><Relationship Id="rId128" Type="http://schemas.openxmlformats.org/officeDocument/2006/relationships/slide" Target="slides/slide115.xml"/><Relationship Id="rId129" Type="http://schemas.openxmlformats.org/officeDocument/2006/relationships/slide" Target="slides/slide116.xml"/><Relationship Id="rId130" Type="http://schemas.openxmlformats.org/officeDocument/2006/relationships/slide" Target="slides/slide117.xml"/><Relationship Id="rId131" Type="http://schemas.openxmlformats.org/officeDocument/2006/relationships/slide" Target="slides/slide118.xml"/><Relationship Id="rId132" Type="http://schemas.openxmlformats.org/officeDocument/2006/relationships/slide" Target="slides/slide119.xml"/><Relationship Id="rId133" Type="http://schemas.openxmlformats.org/officeDocument/2006/relationships/slide" Target="slides/slide120.xml"/><Relationship Id="rId134" Type="http://schemas.openxmlformats.org/officeDocument/2006/relationships/slide" Target="slides/slide121.xml"/><Relationship Id="rId135" Type="http://schemas.openxmlformats.org/officeDocument/2006/relationships/slide" Target="slides/slide122.xml"/><Relationship Id="rId136" Type="http://schemas.openxmlformats.org/officeDocument/2006/relationships/slide" Target="slides/slide123.xml"/><Relationship Id="rId137" Type="http://schemas.openxmlformats.org/officeDocument/2006/relationships/slide" Target="slides/slide124.xml"/><Relationship Id="rId138" Type="http://schemas.openxmlformats.org/officeDocument/2006/relationships/slide" Target="slides/slide125.xml"/><Relationship Id="rId139" Type="http://schemas.openxmlformats.org/officeDocument/2006/relationships/slide" Target="slides/slide126.xml"/><Relationship Id="rId140" Type="http://schemas.openxmlformats.org/officeDocument/2006/relationships/slide" Target="slides/slide127.xml"/><Relationship Id="rId141" Type="http://schemas.openxmlformats.org/officeDocument/2006/relationships/slide" Target="slides/slide128.xml"/><Relationship Id="rId142" Type="http://schemas.openxmlformats.org/officeDocument/2006/relationships/slide" Target="slides/slide129.xml"/><Relationship Id="rId143" Type="http://schemas.openxmlformats.org/officeDocument/2006/relationships/slide" Target="slides/slide130.xml"/><Relationship Id="rId144" Type="http://schemas.openxmlformats.org/officeDocument/2006/relationships/slide" Target="slides/slide131.xml"/><Relationship Id="rId145" Type="http://schemas.openxmlformats.org/officeDocument/2006/relationships/slide" Target="slides/slide132.xml"/><Relationship Id="rId146" Type="http://schemas.openxmlformats.org/officeDocument/2006/relationships/slide" Target="slides/slide133.xml"/><Relationship Id="rId147" Type="http://schemas.openxmlformats.org/officeDocument/2006/relationships/slide" Target="slides/slide134.xml"/><Relationship Id="rId148" Type="http://schemas.openxmlformats.org/officeDocument/2006/relationships/slide" Target="slides/slide135.xml"/><Relationship Id="rId149" Type="http://schemas.openxmlformats.org/officeDocument/2006/relationships/slide" Target="slides/slide136.xml"/><Relationship Id="rId150" Type="http://schemas.openxmlformats.org/officeDocument/2006/relationships/slide" Target="slides/slide137.xml"/><Relationship Id="rId151" Type="http://schemas.openxmlformats.org/officeDocument/2006/relationships/slide" Target="slides/slide138.xml"/><Relationship Id="rId152" Type="http://schemas.openxmlformats.org/officeDocument/2006/relationships/slide" Target="slides/slide139.xml"/><Relationship Id="rId153" Type="http://schemas.openxmlformats.org/officeDocument/2006/relationships/slide" Target="slides/slide140.xml"/><Relationship Id="rId154" Type="http://schemas.openxmlformats.org/officeDocument/2006/relationships/slide" Target="slides/slide141.xml"/><Relationship Id="rId155" Type="http://schemas.openxmlformats.org/officeDocument/2006/relationships/slide" Target="slides/slide142.xml"/><Relationship Id="rId156" Type="http://schemas.openxmlformats.org/officeDocument/2006/relationships/slide" Target="slides/slide143.xml"/><Relationship Id="rId157" Type="http://schemas.openxmlformats.org/officeDocument/2006/relationships/slide" Target="slides/slide144.xml"/><Relationship Id="rId158" Type="http://schemas.openxmlformats.org/officeDocument/2006/relationships/slide" Target="slides/slide145.xml"/><Relationship Id="rId159" Type="http://schemas.openxmlformats.org/officeDocument/2006/relationships/slide" Target="slides/slide146.xml"/><Relationship Id="rId160" Type="http://schemas.openxmlformats.org/officeDocument/2006/relationships/slide" Target="slides/slide147.xml"/><Relationship Id="rId161" Type="http://schemas.openxmlformats.org/officeDocument/2006/relationships/slide" Target="slides/slide148.xml"/><Relationship Id="rId162" Type="http://schemas.openxmlformats.org/officeDocument/2006/relationships/slide" Target="slides/slide149.xml"/><Relationship Id="rId163" Type="http://schemas.openxmlformats.org/officeDocument/2006/relationships/slide" Target="slides/slide150.xml"/><Relationship Id="rId164" Type="http://schemas.openxmlformats.org/officeDocument/2006/relationships/slide" Target="slides/slide151.xml"/><Relationship Id="rId165" Type="http://schemas.openxmlformats.org/officeDocument/2006/relationships/slide" Target="slides/slide152.xml"/><Relationship Id="rId166" Type="http://schemas.openxmlformats.org/officeDocument/2006/relationships/slide" Target="slides/slide153.xml"/><Relationship Id="rId167" Type="http://schemas.openxmlformats.org/officeDocument/2006/relationships/slide" Target="slides/slide154.xml"/><Relationship Id="rId168" Type="http://schemas.openxmlformats.org/officeDocument/2006/relationships/slide" Target="slides/slide155.xml"/><Relationship Id="rId169" Type="http://schemas.openxmlformats.org/officeDocument/2006/relationships/slide" Target="slides/slide156.xml"/><Relationship Id="rId170" Type="http://schemas.openxmlformats.org/officeDocument/2006/relationships/slide" Target="slides/slide157.xml"/><Relationship Id="rId171" Type="http://schemas.openxmlformats.org/officeDocument/2006/relationships/slide" Target="slides/slide158.xml"/><Relationship Id="rId172" Type="http://schemas.openxmlformats.org/officeDocument/2006/relationships/slide" Target="slides/slide159.xml"/><Relationship Id="rId173" Type="http://schemas.openxmlformats.org/officeDocument/2006/relationships/slide" Target="slides/slide160.xml"/><Relationship Id="rId174" Type="http://schemas.openxmlformats.org/officeDocument/2006/relationships/slide" Target="slides/slide161.xml"/><Relationship Id="rId175" Type="http://schemas.openxmlformats.org/officeDocument/2006/relationships/slide" Target="slides/slide162.xml"/><Relationship Id="rId176" Type="http://schemas.openxmlformats.org/officeDocument/2006/relationships/slide" Target="slides/slide163.xml"/><Relationship Id="rId177" Type="http://schemas.openxmlformats.org/officeDocument/2006/relationships/slide" Target="slides/slide164.xml"/><Relationship Id="rId178" Type="http://schemas.openxmlformats.org/officeDocument/2006/relationships/slide" Target="slides/slide165.xml"/><Relationship Id="rId179" Type="http://schemas.openxmlformats.org/officeDocument/2006/relationships/slide" Target="slides/slide166.xml"/><Relationship Id="rId180" Type="http://schemas.openxmlformats.org/officeDocument/2006/relationships/slide" Target="slides/slide167.xml"/><Relationship Id="rId181" Type="http://schemas.openxmlformats.org/officeDocument/2006/relationships/slide" Target="slides/slide168.xml"/><Relationship Id="rId182" Type="http://schemas.openxmlformats.org/officeDocument/2006/relationships/slide" Target="slides/slide169.xml"/><Relationship Id="rId183" Type="http://schemas.openxmlformats.org/officeDocument/2006/relationships/slide" Target="slides/slide170.xml"/><Relationship Id="rId184" Type="http://schemas.openxmlformats.org/officeDocument/2006/relationships/slide" Target="slides/slide171.xml"/><Relationship Id="rId185" Type="http://schemas.openxmlformats.org/officeDocument/2006/relationships/slide" Target="slides/slide172.xml"/><Relationship Id="rId186" Type="http://schemas.openxmlformats.org/officeDocument/2006/relationships/slide" Target="slides/slide173.xml"/><Relationship Id="rId187" Type="http://schemas.openxmlformats.org/officeDocument/2006/relationships/slide" Target="slides/slide174.xml"/><Relationship Id="rId188" Type="http://schemas.openxmlformats.org/officeDocument/2006/relationships/slide" Target="slides/slide175.xml"/><Relationship Id="rId189" Type="http://schemas.openxmlformats.org/officeDocument/2006/relationships/slide" Target="slides/slide176.xml"/><Relationship Id="rId190" Type="http://schemas.openxmlformats.org/officeDocument/2006/relationships/slide" Target="slides/slide177.xml"/><Relationship Id="rId191" Type="http://schemas.openxmlformats.org/officeDocument/2006/relationships/slide" Target="slides/slide178.xml"/><Relationship Id="rId192" Type="http://schemas.openxmlformats.org/officeDocument/2006/relationships/slide" Target="slides/slide179.xml"/><Relationship Id="rId193" Type="http://schemas.openxmlformats.org/officeDocument/2006/relationships/slide" Target="slides/slide180.xml"/><Relationship Id="rId194" Type="http://schemas.openxmlformats.org/officeDocument/2006/relationships/slide" Target="slides/slide181.xml"/><Relationship Id="rId195" Type="http://schemas.openxmlformats.org/officeDocument/2006/relationships/slide" Target="slides/slide182.xml"/><Relationship Id="rId196" Type="http://schemas.openxmlformats.org/officeDocument/2006/relationships/slide" Target="slides/slide183.xml"/><Relationship Id="rId197" Type="http://schemas.openxmlformats.org/officeDocument/2006/relationships/slide" Target="slides/slide184.xml"/><Relationship Id="rId198" Type="http://schemas.openxmlformats.org/officeDocument/2006/relationships/slide" Target="slides/slide185.xml"/><Relationship Id="rId199" Type="http://schemas.openxmlformats.org/officeDocument/2006/relationships/slide" Target="slides/slide186.xml"/><Relationship Id="rId200" Type="http://schemas.openxmlformats.org/officeDocument/2006/relationships/slide" Target="slides/slide187.xml"/><Relationship Id="rId202" Type="http://schemas.openxmlformats.org/officeDocument/2006/relationships/slide" Target="slides/slide188.xml"/><Relationship Id="rId205" Type="http://schemas.openxmlformats.org/officeDocument/2006/relationships/slide" Target="slides/slide189.xml"/><Relationship Id="rId206" Type="http://schemas.openxmlformats.org/officeDocument/2006/relationships/slide" Target="slides/slide19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2.xlsx"/></Relationships>
</file>

<file path=ppt/charts/_rels/chart1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3.xlsx"/></Relationships>
</file>

<file path=ppt/charts/_rels/chart1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Expected profit</c:v>
                </c:pt>
              </c:strCache>
            </c:strRef>
          </c:tx>
          <c:spPr>
            <a:solidFill>
              <a:srgbClr val="008F83"/>
            </a:solidFill>
            <a:ln>
              <a:solidFill>
                <a:srgbClr val="008F83"/>
              </a:solidFill>
            </a:ln>
          </c:spPr>
          <c:cat>
            <c:strRef>
              <c:f>Sheet1!$A$2:$A$5</c:f>
              <c:strCache>
                <c:ptCount val="4"/>
                <c:pt idx="0">
                  <c:v>CPS 8%</c:v>
                </c:pt>
                <c:pt idx="1">
                  <c:v>CPS 12%</c:v>
                </c:pt>
                <c:pt idx="2">
                  <c:v>CPA $18</c:v>
                </c:pt>
                <c:pt idx="3">
                  <c:v>CPL $7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1800</c:v>
                </c:pt>
                <c:pt idx="1">
                  <c:v>2688</c:v>
                </c:pt>
                <c:pt idx="2">
                  <c:v>2160</c:v>
                </c:pt>
                <c:pt idx="3">
                  <c:v>980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DDE4E8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Conversion %</c:v>
                </c:pt>
              </c:strCache>
            </c:strRef>
          </c:tx>
          <c:spPr>
            <a:solidFill>
              <a:srgbClr val="008F83"/>
            </a:solidFill>
            <a:ln>
              <a:solidFill>
                <a:srgbClr val="008F83"/>
              </a:solidFill>
            </a:ln>
          </c:spPr>
          <c:cat>
            <c:strRef>
              <c:f>Sheet1!$A$2:$A$6</c:f>
              <c:strCache>
                <c:ptCount val="5"/>
                <c:pt idx="0">
                  <c:v>SEO</c:v>
                </c:pt>
                <c:pt idx="1">
                  <c:v>Email</c:v>
                </c:pt>
                <c:pt idx="2">
                  <c:v>Social</c:v>
                </c:pt>
                <c:pt idx="3">
                  <c:v>Video</c:v>
                </c:pt>
                <c:pt idx="4">
                  <c:v>Paid search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4.8</c:v>
                </c:pt>
                <c:pt idx="1">
                  <c:v>6.2</c:v>
                </c:pt>
                <c:pt idx="2">
                  <c:v>2.1</c:v>
                </c:pt>
                <c:pt idx="3">
                  <c:v>3.4</c:v>
                </c:pt>
                <c:pt idx="4">
                  <c:v>3.9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DDE4E8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Offer A</c:v>
                </c:pt>
              </c:strCache>
            </c:strRef>
          </c:tx>
          <c:spPr>
            <a:solidFill>
              <a:srgbClr val="008F83"/>
            </a:solidFill>
            <a:ln>
              <a:solidFill>
                <a:srgbClr val="008F83"/>
              </a:solidFill>
            </a:ln>
          </c:spPr>
          <c:cat>
            <c:strRef>
              <c:f>Sheet1!$A$2:$A$6</c:f>
              <c:strCache>
                <c:ptCount val="5"/>
                <c:pt idx="0">
                  <c:v>Audience fit</c:v>
                </c:pt>
                <c:pt idx="1">
                  <c:v>Proof</c:v>
                </c:pt>
                <c:pt idx="2">
                  <c:v>Economics</c:v>
                </c:pt>
                <c:pt idx="3">
                  <c:v>Policy</c:v>
                </c:pt>
                <c:pt idx="4">
                  <c:v>Operational fit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88</c:v>
                </c:pt>
                <c:pt idx="1">
                  <c:v>92</c:v>
                </c:pt>
                <c:pt idx="2">
                  <c:v>74</c:v>
                </c:pt>
                <c:pt idx="3">
                  <c:v>95</c:v>
                </c:pt>
                <c:pt idx="4">
                  <c:v>80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Offer B</c:v>
                </c:pt>
              </c:strCache>
            </c:strRef>
          </c:tx>
          <c:spPr>
            <a:solidFill>
              <a:srgbClr val="F0674A"/>
            </a:solidFill>
            <a:ln>
              <a:solidFill>
                <a:srgbClr val="F0674A"/>
              </a:solidFill>
            </a:ln>
          </c:spPr>
          <c:cat>
            <c:strRef>
              <c:f>Sheet1!$A$2:$A$6</c:f>
              <c:strCache>
                <c:ptCount val="5"/>
                <c:pt idx="0">
                  <c:v>Audience fit</c:v>
                </c:pt>
                <c:pt idx="1">
                  <c:v>Proof</c:v>
                </c:pt>
                <c:pt idx="2">
                  <c:v>Economics</c:v>
                </c:pt>
                <c:pt idx="3">
                  <c:v>Policy</c:v>
                </c:pt>
                <c:pt idx="4">
                  <c:v>Operational fit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76</c:v>
                </c:pt>
                <c:pt idx="1">
                  <c:v>70</c:v>
                </c:pt>
                <c:pt idx="2">
                  <c:v>91</c:v>
                </c:pt>
                <c:pt idx="3">
                  <c:v>68</c:v>
                </c:pt>
                <c:pt idx="4">
                  <c:v>86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DDE4E8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Confidence score</c:v>
                </c:pt>
              </c:strCache>
            </c:strRef>
          </c:tx>
          <c:spPr>
            <a:solidFill>
              <a:srgbClr val="008F83"/>
            </a:solidFill>
            <a:ln>
              <a:solidFill>
                <a:srgbClr val="008F83"/>
              </a:solidFill>
            </a:ln>
          </c:spPr>
          <c:cat>
            <c:strRef>
              <c:f>Sheet1!$A$2:$A$5</c:f>
              <c:strCache>
                <c:ptCount val="4"/>
                <c:pt idx="0">
                  <c:v>One post</c:v>
                </c:pt>
                <c:pt idx="1">
                  <c:v>Three sources</c:v>
                </c:pt>
                <c:pt idx="2">
                  <c:v>Platform data</c:v>
                </c:pt>
                <c:pt idx="3">
                  <c:v>Controlled test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25</c:v>
                </c:pt>
                <c:pt idx="1">
                  <c:v>55</c:v>
                </c:pt>
                <c:pt idx="2">
                  <c:v>78</c:v>
                </c:pt>
                <c:pt idx="3">
                  <c:v>92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DDE4E8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People</c:v>
                </c:pt>
              </c:strCache>
            </c:strRef>
          </c:tx>
          <c:spPr>
            <a:solidFill>
              <a:srgbClr val="008F83"/>
            </a:solidFill>
            <a:ln>
              <a:solidFill>
                <a:srgbClr val="008F83"/>
              </a:solidFill>
            </a:ln>
          </c:spPr>
          <c:cat>
            <c:strRef>
              <c:f>Sheet1!$A$2:$A$5</c:f>
              <c:strCache>
                <c:ptCount val="4"/>
                <c:pt idx="0">
                  <c:v>Impressions</c:v>
                </c:pt>
                <c:pt idx="1">
                  <c:v>Visits</c:v>
                </c:pt>
                <c:pt idx="2">
                  <c:v>Clicks</c:v>
                </c:pt>
                <c:pt idx="3">
                  <c:v>Orders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120000</c:v>
                </c:pt>
                <c:pt idx="1">
                  <c:v>18000</c:v>
                </c:pt>
                <c:pt idx="2">
                  <c:v>4200</c:v>
                </c:pt>
                <c:pt idx="3">
                  <c:v>168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DDE4E8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Fit</c:v>
                </c:pt>
              </c:strCache>
            </c:strRef>
          </c:tx>
          <c:spPr>
            <a:solidFill>
              <a:srgbClr val="008F83"/>
            </a:solidFill>
            <a:ln>
              <a:solidFill>
                <a:srgbClr val="008F83"/>
              </a:solidFill>
            </a:ln>
          </c:spPr>
          <c:cat>
            <c:strRef>
              <c:f>Sheet1!$A$2:$A$5</c:f>
              <c:strCache>
                <c:ptCount val="4"/>
                <c:pt idx="0">
                  <c:v>Creator A</c:v>
                </c:pt>
                <c:pt idx="1">
                  <c:v>Publisher B</c:v>
                </c:pt>
                <c:pt idx="2">
                  <c:v>Community C</c:v>
                </c:pt>
                <c:pt idx="3">
                  <c:v>Reviewer 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84</c:v>
                </c:pt>
                <c:pt idx="1">
                  <c:v>76</c:v>
                </c:pt>
                <c:pt idx="2">
                  <c:v>91</c:v>
                </c:pt>
                <c:pt idx="3">
                  <c:v>69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DDE4E8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Target share %</c:v>
                </c:pt>
              </c:strCache>
            </c:strRef>
          </c:tx>
          <c:spPr>
            <a:solidFill>
              <a:srgbClr val="008F83"/>
            </a:solidFill>
            <a:ln>
              <a:solidFill>
                <a:srgbClr val="008F83"/>
              </a:solidFill>
            </a:ln>
          </c:spPr>
          <c:cat>
            <c:strRef>
              <c:f>Sheet1!$A$2:$A$5</c:f>
              <c:strCache>
                <c:ptCount val="4"/>
                <c:pt idx="0">
                  <c:v>Reach</c:v>
                </c:pt>
                <c:pt idx="1">
                  <c:v>Authority</c:v>
                </c:pt>
                <c:pt idx="2">
                  <c:v>Conversion</c:v>
                </c:pt>
                <c:pt idx="3">
                  <c:v>Retention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25</c:v>
                </c:pt>
                <c:pt idx="1">
                  <c:v>25</c:v>
                </c:pt>
                <c:pt idx="2">
                  <c:v>30</c:v>
                </c:pt>
                <c:pt idx="3">
                  <c:v>20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Current share %</c:v>
                </c:pt>
              </c:strCache>
            </c:strRef>
          </c:tx>
          <c:spPr>
            <a:solidFill>
              <a:srgbClr val="F0674A"/>
            </a:solidFill>
            <a:ln>
              <a:solidFill>
                <a:srgbClr val="F0674A"/>
              </a:solidFill>
            </a:ln>
          </c:spPr>
          <c:cat>
            <c:strRef>
              <c:f>Sheet1!$A$2:$A$5</c:f>
              <c:strCache>
                <c:ptCount val="4"/>
                <c:pt idx="0">
                  <c:v>Reach</c:v>
                </c:pt>
                <c:pt idx="1">
                  <c:v>Authority</c:v>
                </c:pt>
                <c:pt idx="2">
                  <c:v>Conversion</c:v>
                </c:pt>
                <c:pt idx="3">
                  <c:v>Retention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42</c:v>
                </c:pt>
                <c:pt idx="1">
                  <c:v>18</c:v>
                </c:pt>
                <c:pt idx="2">
                  <c:v>31</c:v>
                </c:pt>
                <c:pt idx="3">
                  <c:v>9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DDE4E8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Cumulative revenue %</c:v>
                </c:pt>
              </c:strCache>
            </c:strRef>
          </c:tx>
          <c:spPr>
            <a:solidFill>
              <a:srgbClr val="008F83"/>
            </a:solidFill>
            <a:ln>
              <a:solidFill>
                <a:srgbClr val="008F83"/>
              </a:solidFill>
            </a:ln>
          </c:spPr>
          <c:cat>
            <c:strRef>
              <c:f>Sheet1!$A$2:$A$5</c:f>
              <c:strCache>
                <c:ptCount val="4"/>
                <c:pt idx="0">
                  <c:v>Top 1</c:v>
                </c:pt>
                <c:pt idx="1">
                  <c:v>Top 3</c:v>
                </c:pt>
                <c:pt idx="2">
                  <c:v>Top 5</c:v>
                </c:pt>
                <c:pt idx="3">
                  <c:v>All partners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36</c:v>
                </c:pt>
                <c:pt idx="1">
                  <c:v>70</c:v>
                </c:pt>
                <c:pt idx="2">
                  <c:v>84</c:v>
                </c:pt>
                <c:pt idx="3">
                  <c:v>100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DDE4E8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Within target %</c:v>
                </c:pt>
              </c:strCache>
            </c:strRef>
          </c:tx>
          <c:spPr>
            <a:solidFill>
              <a:srgbClr val="008F83"/>
            </a:solidFill>
            <a:ln>
              <a:solidFill>
                <a:srgbClr val="008F83"/>
              </a:solidFill>
            </a:ln>
          </c:spPr>
          <c:cat>
            <c:strRef>
              <c:f>Sheet1!$A$2:$A$4</c:f>
              <c:strCache>
                <c:ptCount val="3"/>
                <c:pt idx="0">
                  <c:v>Strategic</c:v>
                </c:pt>
                <c:pt idx="1">
                  <c:v>Growth</c:v>
                </c:pt>
                <c:pt idx="2">
                  <c:v>Standard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94</c:v>
                </c:pt>
                <c:pt idx="1">
                  <c:v>86</c:v>
                </c:pt>
                <c:pt idx="2">
                  <c:v>79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DDE4E8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Customers</c:v>
                </c:pt>
              </c:strCache>
            </c:strRef>
          </c:tx>
          <c:spPr>
            <a:solidFill>
              <a:srgbClr val="008F83"/>
            </a:solidFill>
            <a:ln>
              <a:solidFill>
                <a:srgbClr val="008F83"/>
              </a:solidFill>
            </a:ln>
          </c:spPr>
          <c:cat>
            <c:strRef>
              <c:f>Sheet1!$A$2:$A$5</c:f>
              <c:strCache>
                <c:ptCount val="4"/>
                <c:pt idx="0">
                  <c:v>Clicks</c:v>
                </c:pt>
                <c:pt idx="1">
                  <c:v>Checkout</c:v>
                </c:pt>
                <c:pt idx="2">
                  <c:v>Approved</c:v>
                </c:pt>
                <c:pt idx="3">
                  <c:v>Repeat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4200</c:v>
                </c:pt>
                <c:pt idx="1">
                  <c:v>260</c:v>
                </c:pt>
                <c:pt idx="2">
                  <c:v>168</c:v>
                </c:pt>
                <c:pt idx="3">
                  <c:v>62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DDE4E8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 $k</c:v>
                </c:pt>
              </c:strCache>
            </c:strRef>
          </c:tx>
          <c:spPr>
            <a:solidFill>
              <a:srgbClr val="008F83"/>
            </a:solidFill>
            <a:ln>
              <a:solidFill>
                <a:srgbClr val="008F83"/>
              </a:solidFill>
            </a:ln>
          </c:spPr>
          <c:cat>
            <c:strRef>
              <c:f>Sheet1!$A$2:$A$6</c:f>
              <c:strCache>
                <c:ptCount val="5"/>
                <c:pt idx="0">
                  <c:v>A</c:v>
                </c:pt>
                <c:pt idx="1">
                  <c:v>B</c:v>
                </c:pt>
                <c:pt idx="2">
                  <c:v>C</c:v>
                </c:pt>
                <c:pt idx="3">
                  <c:v>D</c:v>
                </c:pt>
                <c:pt idx="4">
                  <c:v>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9.2</c:v>
                </c:pt>
                <c:pt idx="1">
                  <c:v>6.8</c:v>
                </c:pt>
                <c:pt idx="2">
                  <c:v>4.3</c:v>
                </c:pt>
                <c:pt idx="3">
                  <c:v>2.1</c:v>
                </c:pt>
                <c:pt idx="4">
                  <c:v>1.1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Commission $k</c:v>
                </c:pt>
              </c:strCache>
            </c:strRef>
          </c:tx>
          <c:spPr>
            <a:solidFill>
              <a:srgbClr val="F0674A"/>
            </a:solidFill>
            <a:ln>
              <a:solidFill>
                <a:srgbClr val="F0674A"/>
              </a:solidFill>
            </a:ln>
          </c:spPr>
          <c:cat>
            <c:strRef>
              <c:f>Sheet1!$A$2:$A$6</c:f>
              <c:strCache>
                <c:ptCount val="5"/>
                <c:pt idx="0">
                  <c:v>A</c:v>
                </c:pt>
                <c:pt idx="1">
                  <c:v>B</c:v>
                </c:pt>
                <c:pt idx="2">
                  <c:v>C</c:v>
                </c:pt>
                <c:pt idx="3">
                  <c:v>D</c:v>
                </c:pt>
                <c:pt idx="4">
                  <c:v>E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1.1</c:v>
                </c:pt>
                <c:pt idx="1">
                  <c:v>0.95</c:v>
                </c:pt>
                <c:pt idx="2">
                  <c:v>0.52</c:v>
                </c:pt>
                <c:pt idx="3">
                  <c:v>0.25</c:v>
                </c:pt>
                <c:pt idx="4">
                  <c:v>0.14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DDE4E8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CVR %</c:v>
                </c:pt>
              </c:strCache>
            </c:strRef>
          </c:tx>
          <c:spPr>
            <a:solidFill>
              <a:srgbClr val="008F83"/>
            </a:solidFill>
            <a:ln>
              <a:solidFill>
                <a:srgbClr val="008F83"/>
              </a:solidFill>
            </a:ln>
          </c:spPr>
          <c:cat>
            <c:strRef>
              <c:f>Sheet1!$A$2:$A$5</c:f>
              <c:strCache>
                <c:ptCount val="4"/>
                <c:pt idx="0">
                  <c:v>SEO</c:v>
                </c:pt>
                <c:pt idx="1">
                  <c:v>Email</c:v>
                </c:pt>
                <c:pt idx="2">
                  <c:v>Social</c:v>
                </c:pt>
                <c:pt idx="3">
                  <c:v>Video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4.8</c:v>
                </c:pt>
                <c:pt idx="1">
                  <c:v>6.2</c:v>
                </c:pt>
                <c:pt idx="2">
                  <c:v>2.1</c:v>
                </c:pt>
                <c:pt idx="3">
                  <c:v>3.4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DDE4E8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Plan index</c:v>
                </c:pt>
              </c:strCache>
            </c:strRef>
          </c:tx>
          <c:spPr>
            <a:solidFill>
              <a:srgbClr val="008F83"/>
            </a:solidFill>
            <a:ln>
              <a:solidFill>
                <a:srgbClr val="008F83"/>
              </a:solidFill>
            </a:ln>
          </c:spPr>
          <c:cat>
            <c:strRef>
              <c:f>Sheet1!$A$2:$A$5</c:f>
              <c:strCache>
                <c:ptCount val="4"/>
                <c:pt idx="0">
                  <c:v>Clicks</c:v>
                </c:pt>
                <c:pt idx="1">
                  <c:v>Approved orders</c:v>
                </c:pt>
                <c:pt idx="2">
                  <c:v>Revenue</c:v>
                </c:pt>
                <c:pt idx="3">
                  <c:v>ROI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  <c:pt idx="3">
                  <c:v>100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Actual index</c:v>
                </c:pt>
              </c:strCache>
            </c:strRef>
          </c:tx>
          <c:spPr>
            <a:solidFill>
              <a:srgbClr val="F0674A"/>
            </a:solidFill>
            <a:ln>
              <a:solidFill>
                <a:srgbClr val="F0674A"/>
              </a:solidFill>
            </a:ln>
          </c:spPr>
          <c:cat>
            <c:strRef>
              <c:f>Sheet1!$A$2:$A$5</c:f>
              <c:strCache>
                <c:ptCount val="4"/>
                <c:pt idx="0">
                  <c:v>Clicks</c:v>
                </c:pt>
                <c:pt idx="1">
                  <c:v>Approved orders</c:v>
                </c:pt>
                <c:pt idx="2">
                  <c:v>Revenue</c:v>
                </c:pt>
                <c:pt idx="3">
                  <c:v>ROI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108</c:v>
                </c:pt>
                <c:pt idx="1">
                  <c:v>94</c:v>
                </c:pt>
                <c:pt idx="2">
                  <c:v>118</c:v>
                </c:pt>
                <c:pt idx="3">
                  <c:v>123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DDE4E8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High</c:v>
                </c:pt>
              </c:strCache>
            </c:strRef>
          </c:tx>
          <c:spPr>
            <a:solidFill>
              <a:srgbClr val="008F83"/>
            </a:solidFill>
            <a:ln>
              <a:solidFill>
                <a:srgbClr val="008F83"/>
              </a:solidFill>
            </a:ln>
          </c:spPr>
          <c:cat>
            <c:strRef>
              <c:f>Sheet1!$A$2:$A$6</c:f>
              <c:strCache>
                <c:ptCount val="5"/>
                <c:pt idx="0">
                  <c:v>Disclosure</c:v>
                </c:pt>
                <c:pt idx="1">
                  <c:v>Claims</c:v>
                </c:pt>
                <c:pt idx="2">
                  <c:v>Brand</c:v>
                </c:pt>
                <c:pt idx="3">
                  <c:v>Tracking</c:v>
                </c:pt>
                <c:pt idx="4">
                  <c:v>Privacy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</c:v>
                </c:pt>
                <c:pt idx="1">
                  <c:v>1</c:v>
                </c:pt>
                <c:pt idx="2">
                  <c:v>0</c:v>
                </c:pt>
                <c:pt idx="3">
                  <c:v>1</c:v>
                </c:pt>
                <c:pt idx="4">
                  <c:v>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Medium</c:v>
                </c:pt>
              </c:strCache>
            </c:strRef>
          </c:tx>
          <c:spPr>
            <a:solidFill>
              <a:srgbClr val="F0674A"/>
            </a:solidFill>
            <a:ln>
              <a:solidFill>
                <a:srgbClr val="F0674A"/>
              </a:solidFill>
            </a:ln>
          </c:spPr>
          <c:cat>
            <c:strRef>
              <c:f>Sheet1!$A$2:$A$6</c:f>
              <c:strCache>
                <c:ptCount val="5"/>
                <c:pt idx="0">
                  <c:v>Disclosure</c:v>
                </c:pt>
                <c:pt idx="1">
                  <c:v>Claims</c:v>
                </c:pt>
                <c:pt idx="2">
                  <c:v>Brand</c:v>
                </c:pt>
                <c:pt idx="3">
                  <c:v>Tracking</c:v>
                </c:pt>
                <c:pt idx="4">
                  <c:v>Privacy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4</c:v>
                </c:pt>
                <c:pt idx="1">
                  <c:v>3</c:v>
                </c:pt>
                <c:pt idx="2">
                  <c:v>5</c:v>
                </c:pt>
                <c:pt idx="3">
                  <c:v>2</c:v>
                </c:pt>
                <c:pt idx="4">
                  <c:v>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DDE4E8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tertiarycourses/TGS-2025060552-Agentic-AI-for-Affiliate-Marketing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8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9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0.xml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1.xml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2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3.xml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4.xml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ffiliate-cover-hero-v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658368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rtiary-infotech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502920"/>
            <a:ext cx="658368" cy="65836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1572768"/>
            <a:ext cx="530352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08F83"/>
                </a:solidFill>
                <a:latin typeface="Arial"/>
              </a:rPr>
              <a:t>NON-WSQ COURSEWARE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965960"/>
            <a:ext cx="5394960" cy="1874519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3400" b="1">
                <a:solidFill>
                  <a:srgbClr val="18232B"/>
                </a:solidFill>
                <a:latin typeface="Arial"/>
              </a:rPr>
              <a:t>Agentic AI for Affiliate Marketing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4041648"/>
            <a:ext cx="512064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05C56"/>
                </a:solidFill>
                <a:latin typeface="Arial"/>
              </a:rPr>
              <a:t>Claude Cowork · Skills · MCP · governed affiliate growth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709160"/>
            <a:ext cx="5120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E6872"/>
                </a:solidFill>
                <a:latin typeface="Arial"/>
              </a:rPr>
              <a:t>Course Code: C1319</a:t>
            </a:r>
          </a:p>
          <a:p>
            <a:r>
              <a:rPr sz="1400" b="0">
                <a:latin typeface="Arial"/>
              </a:rPr>
              <a:t>Tertiary Infotech Academy Pte Ltd · UEN 201200696W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5705856"/>
            <a:ext cx="521208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8232B"/>
                </a:solidFill>
                <a:latin typeface="Arial"/>
              </a:rPr>
              <a:t>Version v1.0 · 3 October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6263640"/>
            <a:ext cx="53035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© 2026 Tertiary Infotech Academy Pte Ltd. All rights reserved.</a:t>
            </a:r>
          </a:p>
        </p:txBody>
      </p:sp>
    </p:spTree>
  </p:cSld>
  <p:clrMapOvr>
    <a:masterClrMapping/>
  </p:clrMapOvr>
  <p:transition spd="fast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874519"/>
            <a:ext cx="85953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0674A"/>
                </a:solidFill>
                <a:latin typeface="Arial"/>
              </a:rPr>
              <a:t>COURSE ADMINISTRATION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359152"/>
            <a:ext cx="9875520" cy="13258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8232B"/>
                </a:solidFill>
                <a:latin typeface="Arial"/>
              </a:rPr>
              <a:t>Welcome and Learning Contract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6968" y="3840480"/>
            <a:ext cx="9052560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5E6872"/>
                </a:solidFill>
                <a:latin typeface="Arial"/>
              </a:rPr>
              <a:t>How the course runs, what evidence is required and where control boundaries sit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  <p:transition spd="med">
    <p:push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71600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008F83"/>
                </a:solidFill>
                <a:latin typeface="Arial"/>
              </a:rPr>
              <a:t>TRAINER PROFILE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8232B"/>
                </a:solidFill>
                <a:latin typeface="Arial"/>
              </a:rPr>
              <a:t>About the Trainer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435608"/>
            <a:ext cx="10927080" cy="16459"/>
          </a:xfrm>
          <a:prstGeom prst="rect">
            <a:avLst/>
          </a:prstGeom>
          <a:solidFill>
            <a:srgbClr val="DD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783080"/>
            <a:ext cx="3246120" cy="425196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627632" y="2212848"/>
            <a:ext cx="1325880" cy="1325880"/>
          </a:xfrm>
          <a:prstGeom prst="ellipse">
            <a:avLst/>
          </a:prstGeom>
          <a:solidFill>
            <a:srgbClr val="3543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27632" y="2212848"/>
            <a:ext cx="1325880" cy="13258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3600" b="1">
                <a:solidFill>
                  <a:srgbClr val="FFFFFF"/>
                </a:solidFill>
                <a:latin typeface="Arial"/>
              </a:rPr>
              <a:t>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" y="3767328"/>
            <a:ext cx="278892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18232B"/>
                </a:solidFill>
                <a:latin typeface="Arial"/>
              </a:rPr>
              <a:t>Your Trainer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4352544"/>
            <a:ext cx="2788920" cy="8412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0">
                <a:solidFill>
                  <a:srgbClr val="5E6872"/>
                </a:solidFill>
                <a:latin typeface="Arial"/>
              </a:rPr>
              <a:t>General trainer profile template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24528" y="1783080"/>
            <a:ext cx="7187184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24528" y="1783080"/>
            <a:ext cx="73152" cy="749808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80560" y="1856232"/>
            <a:ext cx="155448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008F83"/>
                </a:solidFill>
                <a:latin typeface="Arial"/>
              </a:rPr>
              <a:t>NAME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08192" y="1856232"/>
            <a:ext cx="50292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20" b="0">
                <a:solidFill>
                  <a:srgbClr val="18232B"/>
                </a:solidFill>
                <a:latin typeface="Arial"/>
              </a:rPr>
              <a:t>__________________________________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24528" y="2697480"/>
            <a:ext cx="7187184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224528" y="2697480"/>
            <a:ext cx="73152" cy="749808"/>
          </a:xfrm>
          <a:prstGeom prst="rect">
            <a:avLst/>
          </a:prstGeom>
          <a:solidFill>
            <a:srgbClr val="F06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80560" y="2770632"/>
            <a:ext cx="155448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F0674A"/>
                </a:solidFill>
                <a:latin typeface="Arial"/>
              </a:rPr>
              <a:t>DESIGNATION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08192" y="2770632"/>
            <a:ext cx="50292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20" b="0">
                <a:solidFill>
                  <a:srgbClr val="18232B"/>
                </a:solidFill>
                <a:latin typeface="Arial"/>
              </a:rPr>
              <a:t>__________________________________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24528" y="3611880"/>
            <a:ext cx="7187184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224528" y="3611880"/>
            <a:ext cx="73152" cy="749808"/>
          </a:xfrm>
          <a:prstGeom prst="rect">
            <a:avLst/>
          </a:prstGeom>
          <a:solidFill>
            <a:srgbClr val="EE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80560" y="3685032"/>
            <a:ext cx="155448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EEA900"/>
                </a:solidFill>
                <a:latin typeface="Arial"/>
              </a:rPr>
              <a:t>QUALIFICATIONS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08192" y="3685032"/>
            <a:ext cx="50292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20" b="0">
                <a:solidFill>
                  <a:srgbClr val="18232B"/>
                </a:solidFill>
                <a:latin typeface="Arial"/>
              </a:rPr>
              <a:t>__________________________________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224528" y="4526280"/>
            <a:ext cx="7187184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224528" y="4526280"/>
            <a:ext cx="73152" cy="749808"/>
          </a:xfrm>
          <a:prstGeom prst="rect">
            <a:avLst/>
          </a:prstGeom>
          <a:solidFill>
            <a:srgbClr val="3543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80560" y="4599432"/>
            <a:ext cx="155448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354352"/>
                </a:solidFill>
                <a:latin typeface="Arial"/>
              </a:rPr>
              <a:t>EXPERTISE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08192" y="4599432"/>
            <a:ext cx="50292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20" b="0">
                <a:solidFill>
                  <a:srgbClr val="18232B"/>
                </a:solidFill>
                <a:latin typeface="Arial"/>
              </a:rPr>
              <a:t>__________________________________</a:t>
            </a:r>
          </a:p>
        </p:txBody>
      </p:sp>
    </p:spTree>
  </p:cSld>
  <p:clrMapOvr>
    <a:masterClrMapping/>
  </p:clrMapOvr>
  <p:transition spd="fast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71600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008F83"/>
                </a:solidFill>
                <a:latin typeface="Arial"/>
              </a:rPr>
              <a:t>TRAINER PROFILE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8232B"/>
                </a:solidFill>
                <a:latin typeface="Arial"/>
              </a:rPr>
              <a:t>About the Trainer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435608"/>
            <a:ext cx="10927080" cy="16459"/>
          </a:xfrm>
          <a:prstGeom prst="rect">
            <a:avLst/>
          </a:prstGeom>
          <a:solidFill>
            <a:srgbClr val="DD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783080"/>
            <a:ext cx="3246120" cy="425196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627632" y="2212848"/>
            <a:ext cx="1325880" cy="1325880"/>
          </a:xfrm>
          <a:prstGeom prst="ellipse">
            <a:avLst/>
          </a:prstGeom>
          <a:solidFill>
            <a:srgbClr val="00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27632" y="2212848"/>
            <a:ext cx="1325880" cy="13258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3600" b="1">
                <a:solidFill>
                  <a:srgbClr val="FFFFFF"/>
                </a:solidFill>
                <a:latin typeface="Arial"/>
              </a:rPr>
              <a:t>AA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" y="3767328"/>
            <a:ext cx="278892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18232B"/>
                </a:solidFill>
                <a:latin typeface="Arial"/>
              </a:rPr>
              <a:t>Dr Alfred Ang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4352544"/>
            <a:ext cx="2788920" cy="8412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0">
                <a:solidFill>
                  <a:srgbClr val="5E6872"/>
                </a:solidFill>
                <a:latin typeface="Arial"/>
              </a:rPr>
              <a:t>Principal Trainer · Tertiary Infotech Academy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24528" y="1783080"/>
            <a:ext cx="7187184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24528" y="1783080"/>
            <a:ext cx="73152" cy="749808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80560" y="1856232"/>
            <a:ext cx="155448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008F83"/>
                </a:solidFill>
                <a:latin typeface="Arial"/>
              </a:rPr>
              <a:t>ROLE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08192" y="1856232"/>
            <a:ext cx="50292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20" b="0">
                <a:solidFill>
                  <a:srgbClr val="18232B"/>
                </a:solidFill>
                <a:latin typeface="Arial"/>
              </a:rPr>
              <a:t>Principal trainer and courseware developer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24528" y="2697480"/>
            <a:ext cx="7187184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224528" y="2697480"/>
            <a:ext cx="73152" cy="749808"/>
          </a:xfrm>
          <a:prstGeom prst="rect">
            <a:avLst/>
          </a:prstGeom>
          <a:solidFill>
            <a:srgbClr val="F06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80560" y="2770632"/>
            <a:ext cx="155448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F0674A"/>
                </a:solidFill>
                <a:latin typeface="Arial"/>
              </a:rPr>
              <a:t>EXPERTISE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08192" y="2770632"/>
            <a:ext cx="50292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20" b="0">
                <a:solidFill>
                  <a:srgbClr val="18232B"/>
                </a:solidFill>
                <a:latin typeface="Arial"/>
              </a:rPr>
              <a:t>Agentic AI, automation, cloud and secure workflow design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24528" y="3611880"/>
            <a:ext cx="7187184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224528" y="3611880"/>
            <a:ext cx="73152" cy="749808"/>
          </a:xfrm>
          <a:prstGeom prst="rect">
            <a:avLst/>
          </a:prstGeom>
          <a:solidFill>
            <a:srgbClr val="EE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80560" y="3685032"/>
            <a:ext cx="155448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EEA900"/>
                </a:solidFill>
                <a:latin typeface="Arial"/>
              </a:rPr>
              <a:t>DELIVERY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08192" y="3685032"/>
            <a:ext cx="50292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20" b="0">
                <a:solidFill>
                  <a:srgbClr val="18232B"/>
                </a:solidFill>
                <a:latin typeface="Arial"/>
              </a:rPr>
              <a:t>Technical courses with evidence-led labs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224528" y="4526280"/>
            <a:ext cx="7187184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224528" y="4526280"/>
            <a:ext cx="73152" cy="749808"/>
          </a:xfrm>
          <a:prstGeom prst="rect">
            <a:avLst/>
          </a:prstGeom>
          <a:solidFill>
            <a:srgbClr val="3543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80560" y="4599432"/>
            <a:ext cx="155448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354352"/>
                </a:solidFill>
                <a:latin typeface="Arial"/>
              </a:rPr>
              <a:t>CONTACT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08192" y="4599432"/>
            <a:ext cx="50292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20" b="0">
                <a:solidFill>
                  <a:srgbClr val="18232B"/>
                </a:solidFill>
                <a:latin typeface="Arial"/>
              </a:rPr>
              <a:t>enquiry@tertiaryinfotech.com</a:t>
            </a:r>
          </a:p>
        </p:txBody>
      </p:sp>
    </p:spTree>
  </p:cSld>
  <p:clrMapOvr>
    <a:masterClrMapping/>
  </p:clrMapOvr>
  <p:transition spd="fast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71600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008F83"/>
                </a:solidFill>
                <a:latin typeface="Arial"/>
              </a:rPr>
              <a:t>ICEBREAKER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8232B"/>
                </a:solidFill>
                <a:latin typeface="Arial"/>
              </a:rPr>
              <a:t>Let's Know Each Other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435608"/>
            <a:ext cx="10927080" cy="16459"/>
          </a:xfrm>
          <a:prstGeom prst="rect">
            <a:avLst/>
          </a:prstGeom>
          <a:solidFill>
            <a:srgbClr val="DD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1700784"/>
            <a:ext cx="3508248" cy="448056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" y="1700784"/>
            <a:ext cx="73152" cy="4480560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22960" y="1920240"/>
            <a:ext cx="411480" cy="411480"/>
          </a:xfrm>
          <a:prstGeom prst="ellipse">
            <a:avLst/>
          </a:prstGeom>
          <a:solidFill>
            <a:srgbClr val="00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35024" y="1865376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08F83"/>
                </a:solidFill>
                <a:latin typeface="Arial"/>
              </a:rPr>
              <a:t>Role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" y="2414016"/>
            <a:ext cx="3087624" cy="3611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8232B"/>
                </a:solidFill>
                <a:latin typeface="Arial"/>
              </a:rPr>
              <a:t>Your role and the affiliate audiences you support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31208" y="1700784"/>
            <a:ext cx="3508248" cy="448056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31208" y="1700784"/>
            <a:ext cx="73152" cy="4480560"/>
          </a:xfrm>
          <a:prstGeom prst="rect">
            <a:avLst/>
          </a:prstGeom>
          <a:solidFill>
            <a:srgbClr val="F06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532376" y="1920240"/>
            <a:ext cx="411480" cy="411480"/>
          </a:xfrm>
          <a:prstGeom prst="ellipse">
            <a:avLst/>
          </a:prstGeom>
          <a:solidFill>
            <a:srgbClr val="F06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32376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44440" y="1865376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0674A"/>
                </a:solidFill>
                <a:latin typeface="Arial"/>
              </a:rPr>
              <a:t>Current stack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41520" y="2414016"/>
            <a:ext cx="3087624" cy="3611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8232B"/>
                </a:solidFill>
                <a:latin typeface="Arial"/>
              </a:rPr>
              <a:t>Networks, analytics, CRM or content tools you use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40624" y="1700784"/>
            <a:ext cx="3508248" cy="448056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40624" y="1700784"/>
            <a:ext cx="73152" cy="4480560"/>
          </a:xfrm>
          <a:prstGeom prst="rect">
            <a:avLst/>
          </a:prstGeom>
          <a:solidFill>
            <a:srgbClr val="EE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241792" y="1920240"/>
            <a:ext cx="411480" cy="411480"/>
          </a:xfrm>
          <a:prstGeom prst="ellipse">
            <a:avLst/>
          </a:prstGeom>
          <a:solidFill>
            <a:srgbClr val="EEA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41792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53856" y="1865376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EEA900"/>
                </a:solidFill>
                <a:latin typeface="Arial"/>
              </a:rPr>
              <a:t>Goal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50936" y="2414016"/>
            <a:ext cx="3087624" cy="3611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8232B"/>
                </a:solidFill>
                <a:latin typeface="Arial"/>
              </a:rPr>
              <a:t>One affiliate process you want to improve safely</a:t>
            </a:r>
          </a:p>
        </p:txBody>
      </p:sp>
    </p:spTree>
  </p:cSld>
  <p:clrMapOvr>
    <a:masterClrMapping/>
  </p:clrMapOvr>
  <p:transition spd="fast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71600"/>
          </a:xfrm>
          <a:prstGeom prst="rect">
            <a:avLst/>
          </a:prstGeom>
          <a:solidFill>
            <a:srgbClr val="F06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0674A"/>
                </a:solidFill>
                <a:latin typeface="Arial"/>
              </a:rPr>
              <a:t>LEARNING CONTRACT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8232B"/>
                </a:solidFill>
                <a:latin typeface="Arial"/>
              </a:rPr>
              <a:t>Ground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435608"/>
            <a:ext cx="10927080" cy="16459"/>
          </a:xfrm>
          <a:prstGeom prst="rect">
            <a:avLst/>
          </a:prstGeom>
          <a:solidFill>
            <a:srgbClr val="DD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1700784"/>
            <a:ext cx="3508248" cy="2139696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" y="1700784"/>
            <a:ext cx="73152" cy="2139696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22960" y="1920240"/>
            <a:ext cx="411480" cy="411480"/>
          </a:xfrm>
          <a:prstGeom prst="ellipse">
            <a:avLst/>
          </a:prstGeom>
          <a:solidFill>
            <a:srgbClr val="00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35024" y="1865376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08F83"/>
                </a:solidFill>
                <a:latin typeface="Arial"/>
              </a:rPr>
              <a:t>Participate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" y="2414016"/>
            <a:ext cx="3087624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8232B"/>
                </a:solidFill>
                <a:latin typeface="Arial"/>
              </a:rPr>
              <a:t>Ask, challenge and test claims with evidence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31208" y="1700784"/>
            <a:ext cx="3508248" cy="2139696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31208" y="1700784"/>
            <a:ext cx="73152" cy="2139696"/>
          </a:xfrm>
          <a:prstGeom prst="rect">
            <a:avLst/>
          </a:prstGeom>
          <a:solidFill>
            <a:srgbClr val="F06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532376" y="1920240"/>
            <a:ext cx="411480" cy="411480"/>
          </a:xfrm>
          <a:prstGeom prst="ellipse">
            <a:avLst/>
          </a:prstGeom>
          <a:solidFill>
            <a:srgbClr val="F06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32376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44440" y="1865376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0674A"/>
                </a:solidFill>
                <a:latin typeface="Arial"/>
              </a:rPr>
              <a:t>Protect data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41520" y="2414016"/>
            <a:ext cx="3087624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8232B"/>
                </a:solidFill>
                <a:latin typeface="Arial"/>
              </a:rPr>
              <a:t>Use sample partners; never expose credentials or customer PII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40624" y="1700784"/>
            <a:ext cx="3508248" cy="2139696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40624" y="1700784"/>
            <a:ext cx="73152" cy="2139696"/>
          </a:xfrm>
          <a:prstGeom prst="rect">
            <a:avLst/>
          </a:prstGeom>
          <a:solidFill>
            <a:srgbClr val="EE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241792" y="1920240"/>
            <a:ext cx="411480" cy="411480"/>
          </a:xfrm>
          <a:prstGeom prst="ellipse">
            <a:avLst/>
          </a:prstGeom>
          <a:solidFill>
            <a:srgbClr val="EEA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41792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53856" y="1865376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EEA900"/>
                </a:solidFill>
                <a:latin typeface="Arial"/>
              </a:rPr>
              <a:t>Respect controls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50936" y="2414016"/>
            <a:ext cx="3087624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8232B"/>
                </a:solidFill>
                <a:latin typeface="Arial"/>
              </a:rPr>
              <a:t>Do not publish, message or spend without approval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792" y="4041648"/>
            <a:ext cx="3508248" cy="2139696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1792" y="4041648"/>
            <a:ext cx="73152" cy="2139696"/>
          </a:xfrm>
          <a:prstGeom prst="rect">
            <a:avLst/>
          </a:prstGeom>
          <a:solidFill>
            <a:srgbClr val="3543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22960" y="4261104"/>
            <a:ext cx="411480" cy="411480"/>
          </a:xfrm>
          <a:prstGeom prst="ellipse">
            <a:avLst/>
          </a:prstGeom>
          <a:solidFill>
            <a:srgbClr val="3543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4261104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35024" y="4206240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354352"/>
                </a:solidFill>
                <a:latin typeface="Arial"/>
              </a:rPr>
              <a:t>Stay on time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04" y="4754880"/>
            <a:ext cx="3087624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8232B"/>
                </a:solidFill>
                <a:latin typeface="Arial"/>
              </a:rPr>
              <a:t>Return promptly from breaks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31208" y="4041648"/>
            <a:ext cx="3508248" cy="2139696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331208" y="4041648"/>
            <a:ext cx="73152" cy="2139696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4532376" y="4261104"/>
            <a:ext cx="411480" cy="411480"/>
          </a:xfrm>
          <a:prstGeom prst="ellipse">
            <a:avLst/>
          </a:prstGeom>
          <a:solidFill>
            <a:srgbClr val="00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32376" y="4261104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44440" y="4206240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08F83"/>
                </a:solidFill>
                <a:latin typeface="Arial"/>
              </a:rPr>
              <a:t>Work hands-on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41520" y="4754880"/>
            <a:ext cx="3087624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8232B"/>
                </a:solidFill>
                <a:latin typeface="Arial"/>
              </a:rPr>
              <a:t>Build and verify your own lab evidence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040624" y="4041648"/>
            <a:ext cx="3508248" cy="2139696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040624" y="4041648"/>
            <a:ext cx="73152" cy="2139696"/>
          </a:xfrm>
          <a:prstGeom prst="rect">
            <a:avLst/>
          </a:prstGeom>
          <a:solidFill>
            <a:srgbClr val="F06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8241792" y="4261104"/>
            <a:ext cx="411480" cy="411480"/>
          </a:xfrm>
          <a:prstGeom prst="ellipse">
            <a:avLst/>
          </a:prstGeom>
          <a:solidFill>
            <a:srgbClr val="F06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41792" y="4261104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753856" y="4206240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0674A"/>
                </a:solidFill>
                <a:latin typeface="Arial"/>
              </a:rPr>
              <a:t>Full attendance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50936" y="4754880"/>
            <a:ext cx="3087624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8232B"/>
                </a:solidFill>
                <a:latin typeface="Arial"/>
              </a:rPr>
              <a:t>Attend the whole day to get the most from the course</a:t>
            </a:r>
          </a:p>
        </p:txBody>
      </p:sp>
    </p:spTree>
  </p:cSld>
  <p:clrMapOvr>
    <a:masterClrMapping/>
  </p:clrMapOvr>
  <p:transition spd="fast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71600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008F83"/>
                </a:solidFill>
                <a:latin typeface="Arial"/>
              </a:rPr>
              <a:t>VISUAL PORTAL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8232B"/>
                </a:solidFill>
                <a:latin typeface="Arial"/>
              </a:rPr>
              <a:t>Download Course Material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435608"/>
            <a:ext cx="10927080" cy="16459"/>
          </a:xfrm>
          <a:prstGeom prst="rect">
            <a:avLst/>
          </a:prstGeom>
          <a:solidFill>
            <a:srgbClr val="DD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240280"/>
            <a:ext cx="2523744" cy="301752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600200" y="2532888"/>
            <a:ext cx="640080" cy="640080"/>
          </a:xfrm>
          <a:prstGeom prst="ellipse">
            <a:avLst/>
          </a:prstGeom>
          <a:solidFill>
            <a:srgbClr val="00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00200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3410712"/>
            <a:ext cx="2304288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18232B"/>
                </a:solidFill>
                <a:latin typeface="Arial"/>
              </a:rPr>
              <a:t>Sign in to lms-tms.tertiaryinfotech.com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182112" y="3749040"/>
            <a:ext cx="256032" cy="0"/>
          </a:xfrm>
          <a:prstGeom prst="line">
            <a:avLst/>
          </a:prstGeom>
          <a:ln w="31750">
            <a:solidFill>
              <a:srgbClr val="008F8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3438144" y="2240280"/>
            <a:ext cx="2523744" cy="301752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379976" y="2532888"/>
            <a:ext cx="640080" cy="640080"/>
          </a:xfrm>
          <a:prstGeom prst="ellipse">
            <a:avLst/>
          </a:prstGeom>
          <a:solidFill>
            <a:srgbClr val="F06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79976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47872" y="3410712"/>
            <a:ext cx="2304288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18232B"/>
                </a:solidFill>
                <a:latin typeface="Arial"/>
              </a:rPr>
              <a:t>Open this course run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961888" y="3749040"/>
            <a:ext cx="256032" cy="0"/>
          </a:xfrm>
          <a:prstGeom prst="line">
            <a:avLst/>
          </a:prstGeom>
          <a:ln w="31750">
            <a:solidFill>
              <a:srgbClr val="008F8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217920" y="2240280"/>
            <a:ext cx="2523744" cy="301752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159752" y="2532888"/>
            <a:ext cx="640080" cy="640080"/>
          </a:xfrm>
          <a:prstGeom prst="ellipse">
            <a:avLst/>
          </a:prstGeom>
          <a:solidFill>
            <a:srgbClr val="EEA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5975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27648" y="3410712"/>
            <a:ext cx="2304288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18232B"/>
                </a:solidFill>
                <a:latin typeface="Arial"/>
              </a:rPr>
              <a:t>Download slides, Learner Guide and lab package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741664" y="3749040"/>
            <a:ext cx="256032" cy="0"/>
          </a:xfrm>
          <a:prstGeom prst="line">
            <a:avLst/>
          </a:prstGeom>
          <a:ln w="31750">
            <a:solidFill>
              <a:srgbClr val="008F8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8997696" y="2240280"/>
            <a:ext cx="2523744" cy="301752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939528" y="2532888"/>
            <a:ext cx="640080" cy="640080"/>
          </a:xfrm>
          <a:prstGeom prst="ellipse">
            <a:avLst/>
          </a:prstGeom>
          <a:solidFill>
            <a:srgbClr val="3543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939528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07424" y="3410712"/>
            <a:ext cx="2304288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18232B"/>
                </a:solidFill>
                <a:latin typeface="Arial"/>
              </a:rPr>
              <a:t>Keep materials for reference after the course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" y="5577840"/>
            <a:ext cx="10698480" cy="4206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5E6872"/>
                </a:solidFill>
                <a:latin typeface="Arial"/>
              </a:rPr>
              <a:t>Read left to right. Each boundary has a named payload, state transition and owner.</a:t>
            </a:r>
          </a:p>
        </p:txBody>
      </p:sp>
    </p:spTree>
  </p:cSld>
  <p:clrMapOvr>
    <a:masterClrMapping/>
  </p:clrMapOvr>
  <p:transition spd="fast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71600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008F83"/>
                </a:solidFill>
                <a:latin typeface="Arial"/>
              </a:rPr>
              <a:t>SCHEDULE · 7.5 HOURS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8232B"/>
                </a:solidFill>
                <a:latin typeface="Arial"/>
              </a:rPr>
              <a:t>One-Day Learning Journey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435608"/>
            <a:ext cx="10927080" cy="16459"/>
          </a:xfrm>
          <a:prstGeom prst="rect">
            <a:avLst/>
          </a:prstGeom>
          <a:solidFill>
            <a:srgbClr val="DD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1700784"/>
            <a:ext cx="5362956" cy="2139696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" y="1700784"/>
            <a:ext cx="73152" cy="2139696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22960" y="1920240"/>
            <a:ext cx="411480" cy="411480"/>
          </a:xfrm>
          <a:prstGeom prst="ellipse">
            <a:avLst/>
          </a:prstGeom>
          <a:solidFill>
            <a:srgbClr val="00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35024" y="1865376"/>
            <a:ext cx="4466844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08F83"/>
                </a:solidFill>
                <a:latin typeface="Arial"/>
              </a:rPr>
              <a:t>Morning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" y="2414016"/>
            <a:ext cx="4942332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8232B"/>
                </a:solidFill>
                <a:latin typeface="Arial"/>
              </a:rPr>
              <a:t>Offer economics, market evidence and trend Skill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85916" y="1700784"/>
            <a:ext cx="5362956" cy="2139696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85916" y="1700784"/>
            <a:ext cx="73152" cy="2139696"/>
          </a:xfrm>
          <a:prstGeom prst="rect">
            <a:avLst/>
          </a:prstGeom>
          <a:solidFill>
            <a:srgbClr val="F06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87084" y="1920240"/>
            <a:ext cx="411480" cy="411480"/>
          </a:xfrm>
          <a:prstGeom prst="ellipse">
            <a:avLst/>
          </a:prstGeom>
          <a:solidFill>
            <a:srgbClr val="F06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87084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99148" y="1865376"/>
            <a:ext cx="4466844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0674A"/>
                </a:solidFill>
                <a:latin typeface="Arial"/>
              </a:rPr>
              <a:t>Late morning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96228" y="2414016"/>
            <a:ext cx="4942332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8232B"/>
                </a:solidFill>
                <a:latin typeface="Arial"/>
              </a:rPr>
              <a:t>Partner discovery, due diligence and portfolio design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" y="4041648"/>
            <a:ext cx="5362956" cy="2139696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1792" y="4041648"/>
            <a:ext cx="73152" cy="2139696"/>
          </a:xfrm>
          <a:prstGeom prst="rect">
            <a:avLst/>
          </a:prstGeom>
          <a:solidFill>
            <a:srgbClr val="EE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22960" y="4261104"/>
            <a:ext cx="411480" cy="411480"/>
          </a:xfrm>
          <a:prstGeom prst="ellipse">
            <a:avLst/>
          </a:prstGeom>
          <a:solidFill>
            <a:srgbClr val="EEA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4261104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35024" y="4206240"/>
            <a:ext cx="4466844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EEA900"/>
                </a:solidFill>
                <a:latin typeface="Arial"/>
              </a:rPr>
              <a:t>Afternoon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" y="4754880"/>
            <a:ext cx="4942332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8232B"/>
                </a:solidFill>
                <a:latin typeface="Arial"/>
              </a:rPr>
              <a:t>Campaign factory, tracking and compliance controls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85916" y="4041648"/>
            <a:ext cx="5362956" cy="2139696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85916" y="4041648"/>
            <a:ext cx="73152" cy="2139696"/>
          </a:xfrm>
          <a:prstGeom prst="rect">
            <a:avLst/>
          </a:prstGeom>
          <a:solidFill>
            <a:srgbClr val="3543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387084" y="4261104"/>
            <a:ext cx="411480" cy="411480"/>
          </a:xfrm>
          <a:prstGeom prst="ellipse">
            <a:avLst/>
          </a:prstGeom>
          <a:solidFill>
            <a:srgbClr val="3543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87084" y="4261104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99148" y="4206240"/>
            <a:ext cx="4466844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354352"/>
                </a:solidFill>
                <a:latin typeface="Arial"/>
              </a:rPr>
              <a:t>Late afternoon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96228" y="4754880"/>
            <a:ext cx="4942332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8232B"/>
                </a:solidFill>
                <a:latin typeface="Arial"/>
              </a:rPr>
              <a:t>Commission reconciliation, reporting and optimisation</a:t>
            </a:r>
          </a:p>
        </p:txBody>
      </p:sp>
    </p:spTree>
  </p:cSld>
  <p:clrMapOvr>
    <a:masterClrMapping/>
  </p:clrMapOvr>
  <p:transition spd="fast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71600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008F83"/>
                </a:solidFill>
                <a:latin typeface="Arial"/>
              </a:rPr>
              <a:t>THREE ALIGNED TOPICS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8232B"/>
                </a:solidFill>
                <a:latin typeface="Arial"/>
              </a:rPr>
              <a:t>Course Outline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435608"/>
            <a:ext cx="10927080" cy="16459"/>
          </a:xfrm>
          <a:prstGeom prst="rect">
            <a:avLst/>
          </a:prstGeom>
          <a:solidFill>
            <a:srgbClr val="DD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1700784"/>
            <a:ext cx="3508248" cy="448056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" y="1700784"/>
            <a:ext cx="73152" cy="4480560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22960" y="1920240"/>
            <a:ext cx="411480" cy="411480"/>
          </a:xfrm>
          <a:prstGeom prst="ellipse">
            <a:avLst/>
          </a:prstGeom>
          <a:solidFill>
            <a:srgbClr val="00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35024" y="1865376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08F83"/>
                </a:solidFill>
                <a:latin typeface="Arial"/>
              </a:rPr>
              <a:t>Topic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" y="2414016"/>
            <a:ext cx="3087624" cy="3611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8232B"/>
                </a:solidFill>
                <a:latin typeface="Arial"/>
              </a:rPr>
              <a:t>Affiliate research, offer economics, Claude Cowork and reusable Skills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31208" y="1700784"/>
            <a:ext cx="3508248" cy="448056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31208" y="1700784"/>
            <a:ext cx="73152" cy="4480560"/>
          </a:xfrm>
          <a:prstGeom prst="rect">
            <a:avLst/>
          </a:prstGeom>
          <a:solidFill>
            <a:srgbClr val="F06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532376" y="1920240"/>
            <a:ext cx="411480" cy="411480"/>
          </a:xfrm>
          <a:prstGeom prst="ellipse">
            <a:avLst/>
          </a:prstGeom>
          <a:solidFill>
            <a:srgbClr val="F06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32376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44440" y="1865376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0674A"/>
                </a:solidFill>
                <a:latin typeface="Arial"/>
              </a:rPr>
              <a:t>Topic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41520" y="2414016"/>
            <a:ext cx="3087624" cy="3611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8232B"/>
                </a:solidFill>
                <a:latin typeface="Arial"/>
              </a:rPr>
              <a:t>MCP-assisted partner due diligence, portfolio design and communication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40624" y="1700784"/>
            <a:ext cx="3508248" cy="448056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40624" y="1700784"/>
            <a:ext cx="73152" cy="4480560"/>
          </a:xfrm>
          <a:prstGeom prst="rect">
            <a:avLst/>
          </a:prstGeom>
          <a:solidFill>
            <a:srgbClr val="EE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241792" y="1920240"/>
            <a:ext cx="411480" cy="411480"/>
          </a:xfrm>
          <a:prstGeom prst="ellipse">
            <a:avLst/>
          </a:prstGeom>
          <a:solidFill>
            <a:srgbClr val="EEA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41792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53856" y="1865376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EEA900"/>
                </a:solidFill>
                <a:latin typeface="Arial"/>
              </a:rPr>
              <a:t>Topic 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50936" y="2414016"/>
            <a:ext cx="3087624" cy="3611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8232B"/>
                </a:solidFill>
                <a:latin typeface="Arial"/>
              </a:rPr>
              <a:t>Campaign tracking, compliance, commission reconciliation and reporting</a:t>
            </a:r>
          </a:p>
        </p:txBody>
      </p:sp>
    </p:spTree>
  </p:cSld>
  <p:clrMapOvr>
    <a:masterClrMapping/>
  </p:clrMapOvr>
  <p:transition spd="fast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71600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008F83"/>
                </a:solidFill>
                <a:latin typeface="Arial"/>
              </a:rPr>
              <a:t>LEARNER REPOSITORY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8232B"/>
                </a:solidFill>
                <a:latin typeface="Arial"/>
              </a:rPr>
              <a:t>Access the Hands-On Labs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435608"/>
            <a:ext cx="10927080" cy="16459"/>
          </a:xfrm>
          <a:prstGeom prst="rect">
            <a:avLst/>
          </a:prstGeom>
          <a:solidFill>
            <a:srgbClr val="DD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874519"/>
            <a:ext cx="5349240" cy="297180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874519"/>
            <a:ext cx="5349240" cy="109728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0976" y="2212848"/>
            <a:ext cx="47548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008F83"/>
                </a:solidFill>
                <a:latin typeface="Arial"/>
              </a:rPr>
              <a:t>Option A · Clone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6" y="2971800"/>
            <a:ext cx="4754880" cy="10972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8232B"/>
                </a:solidFill>
                <a:latin typeface="Arial"/>
              </a:rPr>
              <a:t>git clone https://github.com/tertiarycourses/C1319-Agentic-AI-for-Affiliate-Marketing.git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44768" y="1874519"/>
            <a:ext cx="5349240" cy="297180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44768" y="1874519"/>
            <a:ext cx="5349240" cy="109728"/>
          </a:xfrm>
          <a:prstGeom prst="rect">
            <a:avLst/>
          </a:prstGeom>
          <a:solidFill>
            <a:srgbClr val="F06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37376" y="2212848"/>
            <a:ext cx="47548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F0674A"/>
                </a:solidFill>
                <a:latin typeface="Arial"/>
              </a:rPr>
              <a:t>Option B · Download ZIP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37376" y="2971800"/>
            <a:ext cx="4754880" cy="10972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8232B"/>
                </a:solidFill>
                <a:latin typeface="Arial"/>
              </a:rPr>
              <a:t>GitHub · Code · Download ZIP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" y="5166360"/>
            <a:ext cx="10469880" cy="4206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008F83"/>
                </a:solidFill>
                <a:latin typeface="Arial"/>
                <a:hlinkClick r:id="rId2"/>
              </a:rPr>
              <a:t>https://github.com/tertiarycourses/C1319-Agentic-AI-for-Affiliate-Marketing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5669280"/>
            <a:ext cx="996696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5E6872"/>
                </a:solidFill>
                <a:latin typeface="Arial"/>
              </a:rPr>
              <a:t>Each lab is self-contained. Detailed procedures and evidence checks live in the lab README and Learner Guide.</a:t>
            </a:r>
          </a:p>
        </p:txBody>
      </p:sp>
    </p:spTree>
  </p:cSld>
  <p:clrMapOvr>
    <a:masterClrMapping/>
  </p:clrMapOvr>
  <p:transition spd="fast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874519"/>
            <a:ext cx="85953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0674A"/>
                </a:solidFill>
                <a:latin typeface="Arial"/>
              </a:rPr>
              <a:t>TECHNICAL CORE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359152"/>
            <a:ext cx="9875520" cy="13258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8232B"/>
                </a:solidFill>
                <a:latin typeface="Arial"/>
              </a:rPr>
              <a:t>The Controlled Campaign Loop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6968" y="3840480"/>
            <a:ext cx="9052560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5E6872"/>
                </a:solidFill>
                <a:latin typeface="Arial"/>
              </a:rPr>
              <a:t>Architecture, state, autonomy, evidence and failure controls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  <p:transition spd="med">
    <p:push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71600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008F83"/>
                </a:solidFill>
                <a:latin typeface="Arial"/>
              </a:rPr>
              <a:t>RUNTIME TRACE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8232B"/>
                </a:solidFill>
                <a:latin typeface="Arial"/>
              </a:rPr>
              <a:t>The Controlled Affiliate Growth Loop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435608"/>
            <a:ext cx="10927080" cy="16459"/>
          </a:xfrm>
          <a:prstGeom prst="rect">
            <a:avLst/>
          </a:prstGeom>
          <a:solidFill>
            <a:srgbClr val="DD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240280"/>
            <a:ext cx="1967788" cy="301752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322222" y="2532888"/>
            <a:ext cx="640080" cy="640080"/>
          </a:xfrm>
          <a:prstGeom prst="ellipse">
            <a:avLst/>
          </a:prstGeom>
          <a:solidFill>
            <a:srgbClr val="00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2222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18232B"/>
                </a:solidFill>
                <a:latin typeface="Arial"/>
              </a:rPr>
              <a:t>Research market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626156" y="3749040"/>
            <a:ext cx="256032" cy="0"/>
          </a:xfrm>
          <a:prstGeom prst="line">
            <a:avLst/>
          </a:prstGeom>
          <a:ln w="31750">
            <a:solidFill>
              <a:srgbClr val="008F8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882188" y="2240280"/>
            <a:ext cx="1967788" cy="301752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46042" y="2532888"/>
            <a:ext cx="640080" cy="640080"/>
          </a:xfrm>
          <a:prstGeom prst="ellipse">
            <a:avLst/>
          </a:prstGeom>
          <a:solidFill>
            <a:srgbClr val="F06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4604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9191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18232B"/>
                </a:solidFill>
                <a:latin typeface="Arial"/>
              </a:rPr>
              <a:t>Select offer and partners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849976" y="3749040"/>
            <a:ext cx="256032" cy="0"/>
          </a:xfrm>
          <a:prstGeom prst="line">
            <a:avLst/>
          </a:prstGeom>
          <a:ln w="31750">
            <a:solidFill>
              <a:srgbClr val="008F8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106008" y="2240280"/>
            <a:ext cx="1967788" cy="301752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69862" y="2532888"/>
            <a:ext cx="640080" cy="640080"/>
          </a:xfrm>
          <a:prstGeom prst="ellipse">
            <a:avLst/>
          </a:prstGeom>
          <a:solidFill>
            <a:srgbClr val="EEA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986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573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18232B"/>
                </a:solidFill>
                <a:latin typeface="Arial"/>
              </a:rPr>
              <a:t>Create governed content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73796" y="3749040"/>
            <a:ext cx="256032" cy="0"/>
          </a:xfrm>
          <a:prstGeom prst="line">
            <a:avLst/>
          </a:prstGeom>
          <a:ln w="31750">
            <a:solidFill>
              <a:srgbClr val="008F8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329828" y="2240280"/>
            <a:ext cx="1967788" cy="301752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93682" y="2532888"/>
            <a:ext cx="640080" cy="640080"/>
          </a:xfrm>
          <a:prstGeom prst="ellipse">
            <a:avLst/>
          </a:prstGeom>
          <a:solidFill>
            <a:srgbClr val="3543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9368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3955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18232B"/>
                </a:solidFill>
                <a:latin typeface="Arial"/>
              </a:rPr>
              <a:t>Track events and commissions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297616" y="3749040"/>
            <a:ext cx="256032" cy="0"/>
          </a:xfrm>
          <a:prstGeom prst="line">
            <a:avLst/>
          </a:prstGeom>
          <a:ln w="31750">
            <a:solidFill>
              <a:srgbClr val="008F8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553648" y="2240280"/>
            <a:ext cx="1967788" cy="301752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217502" y="2532888"/>
            <a:ext cx="640080" cy="640080"/>
          </a:xfrm>
          <a:prstGeom prst="ellipse">
            <a:avLst/>
          </a:prstGeom>
          <a:solidFill>
            <a:srgbClr val="00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1750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6337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18232B"/>
                </a:solidFill>
                <a:latin typeface="Arial"/>
              </a:rPr>
              <a:t>Approve optimisation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3232" y="5577840"/>
            <a:ext cx="10698480" cy="4206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5E6872"/>
                </a:solidFill>
                <a:latin typeface="Arial"/>
              </a:rPr>
              <a:t>Read left to right. Each boundary has a named payload, state transition and owner.</a:t>
            </a:r>
          </a:p>
        </p:txBody>
      </p:sp>
    </p:spTree>
  </p:cSld>
  <p:clrMapOvr>
    <a:masterClrMapping/>
  </p:clrMapOvr>
  <p:transition spd="fast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71600"/>
          </a:xfrm>
          <a:prstGeom prst="rect">
            <a:avLst/>
          </a:prstGeom>
          <a:solidFill>
            <a:srgbClr val="F06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0674A"/>
                </a:solidFill>
                <a:latin typeface="Arial"/>
              </a:rPr>
              <a:t>COMPARE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8232B"/>
                </a:solidFill>
                <a:latin typeface="Arial"/>
              </a:rPr>
              <a:t>Automation, Generative AI and Agents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435608"/>
            <a:ext cx="10927080" cy="16459"/>
          </a:xfrm>
          <a:prstGeom prst="rect">
            <a:avLst/>
          </a:prstGeom>
          <a:solidFill>
            <a:srgbClr val="DD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13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783080"/>
            <a:ext cx="5257800" cy="4315968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783080"/>
            <a:ext cx="5257800" cy="109728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2029968"/>
            <a:ext cx="470916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008F83"/>
                </a:solidFill>
                <a:latin typeface="Arial"/>
              </a:rPr>
              <a:t>Deterministic automation</a:t>
            </a:r>
          </a:p>
        </p:txBody>
      </p:sp>
      <p:sp>
        <p:nvSpPr>
          <p:cNvPr id="13" name="Oval 12"/>
          <p:cNvSpPr/>
          <p:nvPr/>
        </p:nvSpPr>
        <p:spPr>
          <a:xfrm>
            <a:off x="950976" y="2743200"/>
            <a:ext cx="365760" cy="365760"/>
          </a:xfrm>
          <a:prstGeom prst="ellipse">
            <a:avLst/>
          </a:prstGeom>
          <a:solidFill>
            <a:srgbClr val="00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0976" y="274320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1328" y="267919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8232B"/>
                </a:solidFill>
                <a:latin typeface="Arial"/>
              </a:rPr>
              <a:t>Fixed path and validation</a:t>
            </a:r>
          </a:p>
        </p:txBody>
      </p:sp>
      <p:sp>
        <p:nvSpPr>
          <p:cNvPr id="16" name="Oval 15"/>
          <p:cNvSpPr/>
          <p:nvPr/>
        </p:nvSpPr>
        <p:spPr>
          <a:xfrm>
            <a:off x="950976" y="3566160"/>
            <a:ext cx="365760" cy="365760"/>
          </a:xfrm>
          <a:prstGeom prst="ellipse">
            <a:avLst/>
          </a:prstGeom>
          <a:solidFill>
            <a:srgbClr val="00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0976" y="356616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1328" y="350215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8232B"/>
                </a:solidFill>
                <a:latin typeface="Arial"/>
              </a:rPr>
              <a:t>Reliable calculations and writes</a:t>
            </a:r>
          </a:p>
        </p:txBody>
      </p:sp>
      <p:sp>
        <p:nvSpPr>
          <p:cNvPr id="19" name="Oval 18"/>
          <p:cNvSpPr/>
          <p:nvPr/>
        </p:nvSpPr>
        <p:spPr>
          <a:xfrm>
            <a:off x="950976" y="4389120"/>
            <a:ext cx="365760" cy="365760"/>
          </a:xfrm>
          <a:prstGeom prst="ellipse">
            <a:avLst/>
          </a:prstGeom>
          <a:solidFill>
            <a:srgbClr val="00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976" y="438912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81328" y="432511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8232B"/>
                </a:solidFill>
                <a:latin typeface="Arial"/>
              </a:rPr>
              <a:t>Best for identifiers and money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1783080"/>
            <a:ext cx="5257800" cy="4315968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63640" y="1783080"/>
            <a:ext cx="5257800" cy="109728"/>
          </a:xfrm>
          <a:prstGeom prst="rect">
            <a:avLst/>
          </a:prstGeom>
          <a:solidFill>
            <a:srgbClr val="F06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37960" y="2029968"/>
            <a:ext cx="470916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F0674A"/>
                </a:solidFill>
                <a:latin typeface="Arial"/>
              </a:rPr>
              <a:t>Agentic layer</a:t>
            </a:r>
          </a:p>
        </p:txBody>
      </p:sp>
      <p:sp>
        <p:nvSpPr>
          <p:cNvPr id="25" name="Oval 24"/>
          <p:cNvSpPr/>
          <p:nvPr/>
        </p:nvSpPr>
        <p:spPr>
          <a:xfrm>
            <a:off x="6556248" y="2743200"/>
            <a:ext cx="365760" cy="365760"/>
          </a:xfrm>
          <a:prstGeom prst="ellipse">
            <a:avLst/>
          </a:prstGeom>
          <a:solidFill>
            <a:srgbClr val="F06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56248" y="274320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86600" y="267919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8232B"/>
                </a:solidFill>
                <a:latin typeface="Arial"/>
              </a:rPr>
              <a:t>Plans bounded research</a:t>
            </a:r>
          </a:p>
        </p:txBody>
      </p:sp>
      <p:sp>
        <p:nvSpPr>
          <p:cNvPr id="28" name="Oval 27"/>
          <p:cNvSpPr/>
          <p:nvPr/>
        </p:nvSpPr>
        <p:spPr>
          <a:xfrm>
            <a:off x="6556248" y="3566160"/>
            <a:ext cx="365760" cy="365760"/>
          </a:xfrm>
          <a:prstGeom prst="ellipse">
            <a:avLst/>
          </a:prstGeom>
          <a:solidFill>
            <a:srgbClr val="F06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56248" y="356616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86600" y="350215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8232B"/>
                </a:solidFill>
                <a:latin typeface="Arial"/>
              </a:rPr>
              <a:t>Chooses approved tools</a:t>
            </a:r>
          </a:p>
        </p:txBody>
      </p:sp>
      <p:sp>
        <p:nvSpPr>
          <p:cNvPr id="31" name="Oval 30"/>
          <p:cNvSpPr/>
          <p:nvPr/>
        </p:nvSpPr>
        <p:spPr>
          <a:xfrm>
            <a:off x="6556248" y="4389120"/>
            <a:ext cx="365760" cy="365760"/>
          </a:xfrm>
          <a:prstGeom prst="ellipse">
            <a:avLst/>
          </a:prstGeom>
          <a:solidFill>
            <a:srgbClr val="F06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56248" y="438912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86600" y="432511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8232B"/>
                </a:solidFill>
                <a:latin typeface="Arial"/>
              </a:rPr>
              <a:t>Must not own irreversible release</a:t>
            </a:r>
          </a:p>
        </p:txBody>
      </p:sp>
    </p:spTree>
  </p:cSld>
  <p:clrMapOvr>
    <a:masterClrMapping/>
  </p:clrMapOvr>
  <p:transition spd="fast"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71600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008F83"/>
                </a:solidFill>
                <a:latin typeface="Arial"/>
              </a:rPr>
              <a:t>CONCRETE CONTRACT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8232B"/>
                </a:solidFill>
                <a:latin typeface="Arial"/>
              </a:rPr>
              <a:t>Campaign State Is a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435608"/>
            <a:ext cx="10927080" cy="16459"/>
          </a:xfrm>
          <a:prstGeom prst="rect">
            <a:avLst/>
          </a:prstGeom>
          <a:solidFill>
            <a:srgbClr val="DD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14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" y="1783080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4944" y="1783080"/>
            <a:ext cx="1755648" cy="841248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1901952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campaign_id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15184" y="1892808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18232B"/>
                </a:solidFill>
                <a:latin typeface="Arial"/>
              </a:rPr>
              <a:t>stable correlation key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9632" y="1783080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99632" y="1783080"/>
            <a:ext cx="1755648" cy="841248"/>
          </a:xfrm>
          <a:prstGeom prst="rect">
            <a:avLst/>
          </a:prstGeom>
          <a:solidFill>
            <a:srgbClr val="F06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1901952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brief_version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19872" y="1892808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18232B"/>
                </a:solidFill>
                <a:latin typeface="Arial"/>
              </a:rPr>
              <a:t>monotonic approved revision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4944" y="2807208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4944" y="2807208"/>
            <a:ext cx="1755648" cy="841248"/>
          </a:xfrm>
          <a:prstGeom prst="rect">
            <a:avLst/>
          </a:prstGeom>
          <a:solidFill>
            <a:srgbClr val="EE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" y="2926080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status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15184" y="2916936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18232B"/>
                </a:solidFill>
                <a:latin typeface="Arial"/>
              </a:rPr>
              <a:t>draft | review | approved | live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99632" y="2807208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99632" y="2807208"/>
            <a:ext cx="1755648" cy="841248"/>
          </a:xfrm>
          <a:prstGeom prst="rect">
            <a:avLst/>
          </a:prstGeom>
          <a:solidFill>
            <a:srgbClr val="3543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9360" y="2926080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approval_hash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19872" y="2916936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18232B"/>
                </a:solidFill>
                <a:latin typeface="Arial"/>
              </a:rPr>
              <a:t>binds decision to exact payload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94944" y="3831336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94944" y="3831336"/>
            <a:ext cx="1755648" cy="841248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4672" y="3950208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source_ids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15184" y="3941064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18232B"/>
                </a:solidFill>
                <a:latin typeface="Arial"/>
              </a:rPr>
              <a:t>evidence behind claims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99632" y="3831336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99632" y="3831336"/>
            <a:ext cx="1755648" cy="841248"/>
          </a:xfrm>
          <a:prstGeom prst="rect">
            <a:avLst/>
          </a:prstGeom>
          <a:solidFill>
            <a:srgbClr val="F06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09360" y="3950208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evidence_uri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19872" y="3941064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18232B"/>
                </a:solidFill>
                <a:latin typeface="Arial"/>
              </a:rPr>
              <a:t>audit artifact</a:t>
            </a:r>
          </a:p>
        </p:txBody>
      </p:sp>
    </p:spTree>
  </p:cSld>
  <p:clrMapOvr>
    <a:masterClrMapping/>
  </p:clrMapOvr>
  <p:transition spd="fast"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71600"/>
          </a:xfrm>
          <a:prstGeom prst="rect">
            <a:avLst/>
          </a:prstGeom>
          <a:solidFill>
            <a:srgbClr val="F06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0674A"/>
                </a:solidFill>
                <a:latin typeface="Arial"/>
              </a:rPr>
              <a:t>DECISION RULE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8232B"/>
                </a:solidFill>
                <a:latin typeface="Arial"/>
              </a:rPr>
              <a:t>Autonomy Boundary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435608"/>
            <a:ext cx="10927080" cy="16459"/>
          </a:xfrm>
          <a:prstGeom prst="rect">
            <a:avLst/>
          </a:prstGeom>
          <a:solidFill>
            <a:srgbClr val="DD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15</a:t>
            </a:r>
          </a:p>
        </p:txBody>
      </p:sp>
      <p:sp>
        <p:nvSpPr>
          <p:cNvPr id="10" name="Diamond 9"/>
          <p:cNvSpPr/>
          <p:nvPr/>
        </p:nvSpPr>
        <p:spPr>
          <a:xfrm>
            <a:off x="4434840" y="1874519"/>
            <a:ext cx="3246120" cy="2148840"/>
          </a:xfrm>
          <a:prstGeom prst="diamond">
            <a:avLst/>
          </a:prstGeom>
          <a:solidFill>
            <a:srgbClr val="FFF1ED"/>
          </a:solidFill>
          <a:ln w="25400">
            <a:solidFill>
              <a:srgbClr val="F067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00600" y="2212848"/>
            <a:ext cx="2514600" cy="12801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8232B"/>
                </a:solidFill>
                <a:latin typeface="Arial"/>
              </a:rPr>
              <a:t>Can this action publish, message, spend, change tracking or expose personal data?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4343400"/>
            <a:ext cx="4983480" cy="1097280"/>
          </a:xfrm>
          <a:prstGeom prst="roundRect">
            <a:avLst/>
          </a:prstGeom>
          <a:solidFill>
            <a:srgbClr val="E9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480560"/>
            <a:ext cx="4480560" cy="7772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208A59"/>
                </a:solidFill>
                <a:latin typeface="Arial"/>
              </a:rPr>
              <a:t>YES · </a:t>
            </a:r>
            <a:r>
              <a:rPr sz="1350" b="0">
                <a:solidFill>
                  <a:srgbClr val="18232B"/>
                </a:solidFill>
                <a:latin typeface="Arial"/>
              </a:rPr>
              <a:t>Require named human approval and an exact preview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10528" y="4343400"/>
            <a:ext cx="4983480" cy="1097280"/>
          </a:xfrm>
          <a:prstGeom prst="roundRect">
            <a:avLst/>
          </a:prstGeom>
          <a:solidFill>
            <a:srgbClr val="FD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57416" y="4480560"/>
            <a:ext cx="4480560" cy="7772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C73D37"/>
                </a:solidFill>
                <a:latin typeface="Arial"/>
              </a:rPr>
              <a:t>NO · </a:t>
            </a:r>
            <a:r>
              <a:rPr sz="1350" b="0">
                <a:solidFill>
                  <a:srgbClr val="18232B"/>
                </a:solidFill>
                <a:latin typeface="Arial"/>
              </a:rPr>
              <a:t>Allow bounded analysis with logging and limits</a:t>
            </a:r>
          </a:p>
        </p:txBody>
      </p:sp>
      <p:cxnSp>
        <p:nvCxnSpPr>
          <p:cNvPr id="16" name="Connector 15"/>
          <p:cNvCxnSpPr/>
          <p:nvPr/>
        </p:nvCxnSpPr>
        <p:spPr>
          <a:xfrm flipH="1">
            <a:off x="3200400" y="3749039"/>
            <a:ext cx="1828800" cy="594361"/>
          </a:xfrm>
          <a:prstGeom prst="bentConnector3">
            <a:avLst/>
          </a:prstGeom>
          <a:ln w="25400">
            <a:solidFill>
              <a:srgbClr val="208A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178040" y="3749039"/>
            <a:ext cx="1783080" cy="594361"/>
          </a:xfrm>
          <a:prstGeom prst="bentConnector3">
            <a:avLst/>
          </a:prstGeom>
          <a:ln w="25400">
            <a:solidFill>
              <a:srgbClr val="C73D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fast">
    <p:fade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71600"/>
          </a:xfrm>
          <a:prstGeom prst="rect">
            <a:avLst/>
          </a:prstGeom>
          <a:solidFill>
            <a:srgbClr val="EE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EEA900"/>
                </a:solidFill>
                <a:latin typeface="Arial"/>
              </a:rPr>
              <a:t>WORKED CALCULATION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8232B"/>
                </a:solidFill>
                <a:latin typeface="Arial"/>
              </a:rPr>
              <a:t>Affiliate Value Equation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435608"/>
            <a:ext cx="10927080" cy="16459"/>
          </a:xfrm>
          <a:prstGeom prst="rect">
            <a:avLst/>
          </a:prstGeom>
          <a:solidFill>
            <a:srgbClr val="DD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16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28800"/>
            <a:ext cx="10744200" cy="114300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029968"/>
            <a:ext cx="10241280" cy="7315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18232B"/>
                </a:solidFill>
                <a:latin typeface="Arial"/>
              </a:rPr>
              <a:t>Profit = attributed revenue - commission - media cost - platform cost - returns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3246120"/>
            <a:ext cx="672084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493008"/>
            <a:ext cx="621792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008F83"/>
                </a:solidFill>
                <a:latin typeface="Arial"/>
              </a:rPr>
              <a:t>REALISTIC INPUTS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977639"/>
            <a:ext cx="6217920" cy="8686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8232B"/>
                </a:solidFill>
                <a:latin typeface="Arial"/>
              </a:rPr>
              <a:t>$18,000 - $2,700 - $3,500 - $500 - $900 = $10,400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99248" y="3246120"/>
            <a:ext cx="3758184" cy="1920240"/>
          </a:xfrm>
          <a:prstGeom prst="roundRect">
            <a:avLst/>
          </a:prstGeom>
          <a:solidFill>
            <a:srgbClr val="FFF6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73568" y="3502152"/>
            <a:ext cx="324612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EEA900"/>
                </a:solidFill>
                <a:latin typeface="Arial"/>
              </a:rPr>
              <a:t>DECISION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73568" y="3913632"/>
            <a:ext cx="3246120" cy="9601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1">
                <a:solidFill>
                  <a:srgbClr val="18232B"/>
                </a:solidFill>
                <a:latin typeface="Arial"/>
              </a:rPr>
              <a:t>Revenue alone cannot tell whether an affiliate programme creates value.</a:t>
            </a:r>
          </a:p>
        </p:txBody>
      </p:sp>
    </p:spTree>
  </p:cSld>
  <p:clrMapOvr>
    <a:masterClrMapping/>
  </p:clrMapOvr>
  <p:transition spd="fast">
    <p:fade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71600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008F83"/>
                </a:solidFill>
                <a:latin typeface="Arial"/>
              </a:rPr>
              <a:t>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8232B"/>
                </a:solidFill>
                <a:latin typeface="Arial"/>
              </a:rPr>
              <a:t>Five Planes of the System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435608"/>
            <a:ext cx="10927080" cy="16459"/>
          </a:xfrm>
          <a:prstGeom prst="rect">
            <a:avLst/>
          </a:prstGeom>
          <a:solidFill>
            <a:srgbClr val="DD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17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1700784"/>
            <a:ext cx="3508248" cy="2139696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" y="1700784"/>
            <a:ext cx="73152" cy="2139696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22960" y="1920240"/>
            <a:ext cx="411480" cy="411480"/>
          </a:xfrm>
          <a:prstGeom prst="ellipse">
            <a:avLst/>
          </a:prstGeom>
          <a:solidFill>
            <a:srgbClr val="00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35024" y="1865376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08F83"/>
                </a:solidFill>
                <a:latin typeface="Arial"/>
              </a:rPr>
              <a:t>Strategy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" y="2414016"/>
            <a:ext cx="3087624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8232B"/>
                </a:solidFill>
                <a:latin typeface="Arial"/>
              </a:rPr>
              <a:t>goals, audience, offer and policy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31208" y="1700784"/>
            <a:ext cx="3508248" cy="2139696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31208" y="1700784"/>
            <a:ext cx="73152" cy="2139696"/>
          </a:xfrm>
          <a:prstGeom prst="rect">
            <a:avLst/>
          </a:prstGeom>
          <a:solidFill>
            <a:srgbClr val="F06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532376" y="1920240"/>
            <a:ext cx="411480" cy="411480"/>
          </a:xfrm>
          <a:prstGeom prst="ellipse">
            <a:avLst/>
          </a:prstGeom>
          <a:solidFill>
            <a:srgbClr val="F06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32376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44440" y="1865376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0674A"/>
                </a:solidFill>
                <a:latin typeface="Arial"/>
              </a:rPr>
              <a:t>Partner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41520" y="2414016"/>
            <a:ext cx="3087624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8232B"/>
                </a:solidFill>
                <a:latin typeface="Arial"/>
              </a:rPr>
              <a:t>profiles, terms and communications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40624" y="1700784"/>
            <a:ext cx="3508248" cy="2139696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40624" y="1700784"/>
            <a:ext cx="73152" cy="2139696"/>
          </a:xfrm>
          <a:prstGeom prst="rect">
            <a:avLst/>
          </a:prstGeom>
          <a:solidFill>
            <a:srgbClr val="EE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241792" y="1920240"/>
            <a:ext cx="411480" cy="411480"/>
          </a:xfrm>
          <a:prstGeom prst="ellipse">
            <a:avLst/>
          </a:prstGeom>
          <a:solidFill>
            <a:srgbClr val="EEA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41792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53856" y="1865376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EEA900"/>
                </a:solidFill>
                <a:latin typeface="Arial"/>
              </a:rPr>
              <a:t>Content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50936" y="2414016"/>
            <a:ext cx="3087624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8232B"/>
                </a:solidFill>
                <a:latin typeface="Arial"/>
              </a:rPr>
              <a:t>claims, channels and tracked links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792" y="4041648"/>
            <a:ext cx="3508248" cy="2139696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1792" y="4041648"/>
            <a:ext cx="73152" cy="2139696"/>
          </a:xfrm>
          <a:prstGeom prst="rect">
            <a:avLst/>
          </a:prstGeom>
          <a:solidFill>
            <a:srgbClr val="3543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22960" y="4261104"/>
            <a:ext cx="411480" cy="411480"/>
          </a:xfrm>
          <a:prstGeom prst="ellipse">
            <a:avLst/>
          </a:prstGeom>
          <a:solidFill>
            <a:srgbClr val="3543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4261104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35024" y="4206240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354352"/>
                </a:solidFill>
                <a:latin typeface="Arial"/>
              </a:rPr>
              <a:t>Evidence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04" y="4754880"/>
            <a:ext cx="3087624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8232B"/>
                </a:solidFill>
                <a:latin typeface="Arial"/>
              </a:rPr>
              <a:t>events, metrics and commission ledger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31208" y="4041648"/>
            <a:ext cx="3508248" cy="2139696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331208" y="4041648"/>
            <a:ext cx="73152" cy="2139696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4532376" y="4261104"/>
            <a:ext cx="411480" cy="411480"/>
          </a:xfrm>
          <a:prstGeom prst="ellipse">
            <a:avLst/>
          </a:prstGeom>
          <a:solidFill>
            <a:srgbClr val="00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32376" y="4261104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44440" y="4206240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08F83"/>
                </a:solidFill>
                <a:latin typeface="Arial"/>
              </a:rPr>
              <a:t>Control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41520" y="4754880"/>
            <a:ext cx="3087624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8232B"/>
                </a:solidFill>
                <a:latin typeface="Arial"/>
              </a:rPr>
              <a:t>approvals, limits and audit trail</a:t>
            </a:r>
          </a:p>
        </p:txBody>
      </p:sp>
    </p:spTree>
  </p:cSld>
  <p:clrMapOvr>
    <a:masterClrMapping/>
  </p:clrMapOvr>
  <p:transition spd="fast">
    <p:fade/>
  </p:transition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71600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008F83"/>
                </a:solidFill>
                <a:latin typeface="Arial"/>
              </a:rPr>
              <a:t>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8232B"/>
                </a:solidFill>
                <a:latin typeface="Arial"/>
              </a:rPr>
              <a:t>Minimum Agent Audit Record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435608"/>
            <a:ext cx="10927080" cy="16459"/>
          </a:xfrm>
          <a:prstGeom prst="rect">
            <a:avLst/>
          </a:prstGeom>
          <a:solidFill>
            <a:srgbClr val="DD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18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1700784"/>
            <a:ext cx="3508248" cy="2139696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" y="1700784"/>
            <a:ext cx="73152" cy="2139696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22960" y="1920240"/>
            <a:ext cx="411480" cy="411480"/>
          </a:xfrm>
          <a:prstGeom prst="ellipse">
            <a:avLst/>
          </a:prstGeom>
          <a:solidFill>
            <a:srgbClr val="00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35024" y="1865376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08F83"/>
                </a:solidFill>
                <a:latin typeface="Arial"/>
              </a:rPr>
              <a:t>Evidence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" y="2414016"/>
            <a:ext cx="3087624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8232B"/>
                </a:solidFill>
                <a:latin typeface="Arial"/>
              </a:rPr>
              <a:t>task and run identifiers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31208" y="1700784"/>
            <a:ext cx="3508248" cy="2139696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31208" y="1700784"/>
            <a:ext cx="73152" cy="2139696"/>
          </a:xfrm>
          <a:prstGeom prst="rect">
            <a:avLst/>
          </a:prstGeom>
          <a:solidFill>
            <a:srgbClr val="F06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532376" y="1920240"/>
            <a:ext cx="411480" cy="411480"/>
          </a:xfrm>
          <a:prstGeom prst="ellipse">
            <a:avLst/>
          </a:prstGeom>
          <a:solidFill>
            <a:srgbClr val="F06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32376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44440" y="1865376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0674A"/>
                </a:solidFill>
                <a:latin typeface="Arial"/>
              </a:rPr>
              <a:t>Evidence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41520" y="2414016"/>
            <a:ext cx="3087624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8232B"/>
                </a:solidFill>
                <a:latin typeface="Arial"/>
              </a:rPr>
              <a:t>input brief version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40624" y="1700784"/>
            <a:ext cx="3508248" cy="2139696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40624" y="1700784"/>
            <a:ext cx="73152" cy="2139696"/>
          </a:xfrm>
          <a:prstGeom prst="rect">
            <a:avLst/>
          </a:prstGeom>
          <a:solidFill>
            <a:srgbClr val="EE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241792" y="1920240"/>
            <a:ext cx="411480" cy="411480"/>
          </a:xfrm>
          <a:prstGeom prst="ellipse">
            <a:avLst/>
          </a:prstGeom>
          <a:solidFill>
            <a:srgbClr val="EEA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41792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53856" y="1865376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EEA900"/>
                </a:solidFill>
                <a:latin typeface="Arial"/>
              </a:rPr>
              <a:t>Evidence 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50936" y="2414016"/>
            <a:ext cx="3087624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8232B"/>
                </a:solidFill>
                <a:latin typeface="Arial"/>
              </a:rPr>
              <a:t>source IDs and timestamps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792" y="4041648"/>
            <a:ext cx="3508248" cy="2139696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1792" y="4041648"/>
            <a:ext cx="73152" cy="2139696"/>
          </a:xfrm>
          <a:prstGeom prst="rect">
            <a:avLst/>
          </a:prstGeom>
          <a:solidFill>
            <a:srgbClr val="3543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22960" y="4261104"/>
            <a:ext cx="411480" cy="411480"/>
          </a:xfrm>
          <a:prstGeom prst="ellipse">
            <a:avLst/>
          </a:prstGeom>
          <a:solidFill>
            <a:srgbClr val="3543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4261104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35024" y="4206240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354352"/>
                </a:solidFill>
                <a:latin typeface="Arial"/>
              </a:rPr>
              <a:t>Evidence 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04" y="4754880"/>
            <a:ext cx="3087624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8232B"/>
                </a:solidFill>
                <a:latin typeface="Arial"/>
              </a:rPr>
              <a:t>agent output and validation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31208" y="4041648"/>
            <a:ext cx="3508248" cy="2139696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331208" y="4041648"/>
            <a:ext cx="73152" cy="2139696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4532376" y="4261104"/>
            <a:ext cx="411480" cy="411480"/>
          </a:xfrm>
          <a:prstGeom prst="ellipse">
            <a:avLst/>
          </a:prstGeom>
          <a:solidFill>
            <a:srgbClr val="00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32376" y="4261104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44440" y="4206240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08F83"/>
                </a:solidFill>
                <a:latin typeface="Arial"/>
              </a:rPr>
              <a:t>Evidence 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41520" y="4754880"/>
            <a:ext cx="3087624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8232B"/>
                </a:solidFill>
                <a:latin typeface="Arial"/>
              </a:rPr>
              <a:t>human decision and payload hash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040624" y="4041648"/>
            <a:ext cx="3508248" cy="2139696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040624" y="4041648"/>
            <a:ext cx="73152" cy="2139696"/>
          </a:xfrm>
          <a:prstGeom prst="rect">
            <a:avLst/>
          </a:prstGeom>
          <a:solidFill>
            <a:srgbClr val="F06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8241792" y="4261104"/>
            <a:ext cx="411480" cy="411480"/>
          </a:xfrm>
          <a:prstGeom prst="ellipse">
            <a:avLst/>
          </a:prstGeom>
          <a:solidFill>
            <a:srgbClr val="F06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41792" y="4261104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753856" y="4206240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0674A"/>
                </a:solidFill>
                <a:latin typeface="Arial"/>
              </a:rPr>
              <a:t>Evidence 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50936" y="4754880"/>
            <a:ext cx="3087624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8232B"/>
                </a:solidFill>
                <a:latin typeface="Arial"/>
              </a:rPr>
              <a:t>external response or report artifact</a:t>
            </a:r>
          </a:p>
        </p:txBody>
      </p:sp>
    </p:spTree>
  </p:cSld>
  <p:clrMapOvr>
    <a:masterClrMapping/>
  </p:clrMapOvr>
  <p:transition spd="fast">
    <p:fade/>
  </p:transition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71600"/>
          </a:xfrm>
          <a:prstGeom prst="rect">
            <a:avLst/>
          </a:prstGeom>
          <a:solidFill>
            <a:srgbClr val="F06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0674A"/>
                </a:solidFill>
                <a:latin typeface="Arial"/>
              </a:rPr>
              <a:t>FAILURE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8232B"/>
                </a:solidFill>
                <a:latin typeface="Arial"/>
              </a:rPr>
              <a:t>Failure Taxonomy Before the Build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435608"/>
            <a:ext cx="10927080" cy="16459"/>
          </a:xfrm>
          <a:prstGeom prst="rect">
            <a:avLst/>
          </a:prstGeom>
          <a:solidFill>
            <a:srgbClr val="DD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19</a:t>
            </a:r>
          </a:p>
        </p:txBody>
      </p:sp>
      <p:sp>
        <p:nvSpPr>
          <p:cNvPr id="10" name="Oval 9"/>
          <p:cNvSpPr/>
          <p:nvPr/>
        </p:nvSpPr>
        <p:spPr>
          <a:xfrm>
            <a:off x="749808" y="1865376"/>
            <a:ext cx="420624" cy="420624"/>
          </a:xfrm>
          <a:prstGeom prst="ellipse">
            <a:avLst/>
          </a:prstGeom>
          <a:solidFill>
            <a:srgbClr val="F06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186537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1755648"/>
            <a:ext cx="20574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0674A"/>
                </a:solidFill>
                <a:latin typeface="Arial"/>
              </a:rPr>
              <a:t>Evidence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73552" y="1755648"/>
            <a:ext cx="8138160" cy="658368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20440" y="1810512"/>
            <a:ext cx="7635240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18232B"/>
                </a:solidFill>
                <a:latin typeface="Arial"/>
              </a:rPr>
              <a:t>unsupported or stale source</a:t>
            </a:r>
          </a:p>
        </p:txBody>
      </p:sp>
      <p:sp>
        <p:nvSpPr>
          <p:cNvPr id="15" name="Oval 14"/>
          <p:cNvSpPr/>
          <p:nvPr/>
        </p:nvSpPr>
        <p:spPr>
          <a:xfrm>
            <a:off x="749808" y="2724912"/>
            <a:ext cx="420624" cy="420624"/>
          </a:xfrm>
          <a:prstGeom prst="ellipse">
            <a:avLst/>
          </a:prstGeom>
          <a:solidFill>
            <a:srgbClr val="EEA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272491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53312" y="2615184"/>
            <a:ext cx="20574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EA900"/>
                </a:solidFill>
                <a:latin typeface="Arial"/>
              </a:rPr>
              <a:t>Partner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73552" y="2615184"/>
            <a:ext cx="8138160" cy="658368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20440" y="2670048"/>
            <a:ext cx="7635240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18232B"/>
                </a:solidFill>
                <a:latin typeface="Arial"/>
              </a:rPr>
              <a:t>fraud, mismatch or concentration</a:t>
            </a:r>
          </a:p>
        </p:txBody>
      </p:sp>
      <p:sp>
        <p:nvSpPr>
          <p:cNvPr id="20" name="Oval 19"/>
          <p:cNvSpPr/>
          <p:nvPr/>
        </p:nvSpPr>
        <p:spPr>
          <a:xfrm>
            <a:off x="749808" y="3584448"/>
            <a:ext cx="420624" cy="420624"/>
          </a:xfrm>
          <a:prstGeom prst="ellipse">
            <a:avLst/>
          </a:prstGeom>
          <a:solidFill>
            <a:srgbClr val="F06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8" y="3584448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53312" y="3474720"/>
            <a:ext cx="20574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0674A"/>
                </a:solidFill>
                <a:latin typeface="Arial"/>
              </a:rPr>
              <a:t>Content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273552" y="3474720"/>
            <a:ext cx="8138160" cy="658368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20440" y="3529584"/>
            <a:ext cx="7635240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18232B"/>
                </a:solidFill>
                <a:latin typeface="Arial"/>
              </a:rPr>
              <a:t>claim, disclosure or brand failure</a:t>
            </a:r>
          </a:p>
        </p:txBody>
      </p:sp>
      <p:sp>
        <p:nvSpPr>
          <p:cNvPr id="25" name="Oval 24"/>
          <p:cNvSpPr/>
          <p:nvPr/>
        </p:nvSpPr>
        <p:spPr>
          <a:xfrm>
            <a:off x="749808" y="4443984"/>
            <a:ext cx="420624" cy="420624"/>
          </a:xfrm>
          <a:prstGeom prst="ellipse">
            <a:avLst/>
          </a:prstGeom>
          <a:solidFill>
            <a:srgbClr val="EEA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9808" y="4443984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53312" y="4334256"/>
            <a:ext cx="20574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EA900"/>
                </a:solidFill>
                <a:latin typeface="Arial"/>
              </a:rPr>
              <a:t>Attribution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273552" y="4334256"/>
            <a:ext cx="8138160" cy="658368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520440" y="4389120"/>
            <a:ext cx="7635240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18232B"/>
                </a:solidFill>
                <a:latin typeface="Arial"/>
              </a:rPr>
              <a:t>duplicate, missing or misassigned event</a:t>
            </a:r>
          </a:p>
        </p:txBody>
      </p:sp>
      <p:sp>
        <p:nvSpPr>
          <p:cNvPr id="30" name="Oval 29"/>
          <p:cNvSpPr/>
          <p:nvPr/>
        </p:nvSpPr>
        <p:spPr>
          <a:xfrm>
            <a:off x="749808" y="5303520"/>
            <a:ext cx="420624" cy="420624"/>
          </a:xfrm>
          <a:prstGeom prst="ellipse">
            <a:avLst/>
          </a:prstGeom>
          <a:solidFill>
            <a:srgbClr val="F06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9808" y="5303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53312" y="5193792"/>
            <a:ext cx="20574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0674A"/>
                </a:solidFill>
                <a:latin typeface="Arial"/>
              </a:rPr>
              <a:t>Operations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273552" y="5193792"/>
            <a:ext cx="8138160" cy="658368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520440" y="5248656"/>
            <a:ext cx="7635240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18232B"/>
                </a:solidFill>
                <a:latin typeface="Arial"/>
              </a:rPr>
              <a:t>credential leak or unapproved action</a:t>
            </a:r>
          </a:p>
        </p:txBody>
      </p:sp>
    </p:spTree>
  </p:cSld>
  <p:clrMapOvr>
    <a:masterClrMapping/>
  </p:clrMapOvr>
  <p:transition spd="fast">
    <p:fade/>
  </p:transition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874519"/>
            <a:ext cx="85953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0674A"/>
                </a:solidFill>
                <a:latin typeface="Arial"/>
              </a:rPr>
              <a:t>TOPIC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359152"/>
            <a:ext cx="9875520" cy="13258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8232B"/>
                </a:solidFill>
                <a:latin typeface="Arial"/>
              </a:rPr>
              <a:t>Affiliate Research and Campaign Planning with Claude Cowork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6968" y="3840480"/>
            <a:ext cx="9052560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5E6872"/>
                </a:solidFill>
                <a:latin typeface="Arial"/>
              </a:rPr>
              <a:t>Market signals -&gt; offer economics -&gt; reusable research Skill -&gt; evidence-led partner update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84080" y="731520"/>
            <a:ext cx="1828800" cy="10972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6400" b="1">
                <a:solidFill>
                  <a:srgbClr val="DDE4E8"/>
                </a:solidFill>
                <a:latin typeface="Arial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Agentic AI for Affiliate Marketing · C1319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20</a:t>
            </a:r>
          </a:p>
        </p:txBody>
      </p:sp>
    </p:spTree>
  </p:cSld>
  <p:clrMapOvr>
    <a:masterClrMapping/>
  </p:clrMapOvr>
  <p:transition spd="med">
    <p:push/>
  </p:transition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71600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008F83"/>
                </a:solidFill>
                <a:latin typeface="Arial"/>
              </a:rPr>
              <a:t>LO1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8232B"/>
                </a:solidFill>
                <a:latin typeface="Arial"/>
              </a:rPr>
              <a:t>Topic 01 Coverage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435608"/>
            <a:ext cx="10927080" cy="16459"/>
          </a:xfrm>
          <a:prstGeom prst="rect">
            <a:avLst/>
          </a:prstGeom>
          <a:solidFill>
            <a:srgbClr val="DD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21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1700784"/>
            <a:ext cx="5362956" cy="2139696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" y="1700784"/>
            <a:ext cx="73152" cy="2139696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22960" y="1920240"/>
            <a:ext cx="411480" cy="411480"/>
          </a:xfrm>
          <a:prstGeom prst="ellipse">
            <a:avLst/>
          </a:prstGeom>
          <a:solidFill>
            <a:srgbClr val="00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35024" y="1865376"/>
            <a:ext cx="4466844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08F83"/>
                </a:solidFill>
                <a:latin typeface="Arial"/>
              </a:rPr>
              <a:t>Mechanism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" y="2414016"/>
            <a:ext cx="4942332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8232B"/>
                </a:solidFill>
                <a:latin typeface="Arial"/>
              </a:rPr>
              <a:t>Model incentive economics with EPC, conversion, commission and break-even thresholds.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85916" y="1700784"/>
            <a:ext cx="5362956" cy="2139696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85916" y="1700784"/>
            <a:ext cx="73152" cy="2139696"/>
          </a:xfrm>
          <a:prstGeom prst="rect">
            <a:avLst/>
          </a:prstGeom>
          <a:solidFill>
            <a:srgbClr val="F06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87084" y="1920240"/>
            <a:ext cx="411480" cy="411480"/>
          </a:xfrm>
          <a:prstGeom prst="ellipse">
            <a:avLst/>
          </a:prstGeom>
          <a:solidFill>
            <a:srgbClr val="F06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87084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99148" y="1865376"/>
            <a:ext cx="4466844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0674A"/>
                </a:solidFill>
                <a:latin typeface="Arial"/>
              </a:rPr>
              <a:t>Mechanism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96228" y="2414016"/>
            <a:ext cx="4942332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8232B"/>
                </a:solidFill>
                <a:latin typeface="Arial"/>
              </a:rPr>
              <a:t>Separate observed market evidence from agent inference and partner-facing recommendations.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" y="4041648"/>
            <a:ext cx="5362956" cy="2139696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1792" y="4041648"/>
            <a:ext cx="73152" cy="2139696"/>
          </a:xfrm>
          <a:prstGeom prst="rect">
            <a:avLst/>
          </a:prstGeom>
          <a:solidFill>
            <a:srgbClr val="EE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22960" y="4261104"/>
            <a:ext cx="411480" cy="411480"/>
          </a:xfrm>
          <a:prstGeom prst="ellipse">
            <a:avLst/>
          </a:prstGeom>
          <a:solidFill>
            <a:srgbClr val="EEA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4261104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35024" y="4206240"/>
            <a:ext cx="4466844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EEA900"/>
                </a:solidFill>
                <a:latin typeface="Arial"/>
              </a:rPr>
              <a:t>Mechanism 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" y="4754880"/>
            <a:ext cx="4942332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8232B"/>
                </a:solidFill>
                <a:latin typeface="Arial"/>
              </a:rPr>
              <a:t>Package repeatable affiliate research and product-update work as a bounded Claude Skill.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85916" y="4041648"/>
            <a:ext cx="5362956" cy="2139696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85916" y="4041648"/>
            <a:ext cx="73152" cy="2139696"/>
          </a:xfrm>
          <a:prstGeom prst="rect">
            <a:avLst/>
          </a:prstGeom>
          <a:solidFill>
            <a:srgbClr val="3543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387084" y="4261104"/>
            <a:ext cx="411480" cy="411480"/>
          </a:xfrm>
          <a:prstGeom prst="ellipse">
            <a:avLst/>
          </a:prstGeom>
          <a:solidFill>
            <a:srgbClr val="3543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87084" y="4261104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99148" y="4206240"/>
            <a:ext cx="4466844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354352"/>
                </a:solidFill>
                <a:latin typeface="Arial"/>
              </a:rPr>
              <a:t>Mechanism 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96228" y="4754880"/>
            <a:ext cx="4942332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8232B"/>
                </a:solidFill>
                <a:latin typeface="Arial"/>
              </a:rPr>
              <a:t>Use human review to control claims, pricing, disclosure, data use and external communication.</a:t>
            </a:r>
          </a:p>
        </p:txBody>
      </p:sp>
    </p:spTree>
  </p:cSld>
  <p:clrMapOvr>
    <a:masterClrMapping/>
  </p:clrMapOvr>
  <p:transition spd="fast">
    <p:fade/>
  </p:transition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71600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008F83"/>
                </a:solidFill>
                <a:latin typeface="Arial"/>
              </a:rPr>
              <a:t>VISUAL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8232B"/>
                </a:solidFill>
                <a:latin typeface="Arial"/>
              </a:rPr>
              <a:t>Research Specialists Propose; Humans Decide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435608"/>
            <a:ext cx="10927080" cy="16459"/>
          </a:xfrm>
          <a:prstGeom prst="rect">
            <a:avLst/>
          </a:prstGeom>
          <a:solidFill>
            <a:srgbClr val="DD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22</a:t>
            </a:r>
          </a:p>
        </p:txBody>
      </p:sp>
      <p:pic>
        <p:nvPicPr>
          <p:cNvPr id="10" name="Picture 9" descr="affiliate-research-agents-v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755648"/>
            <a:ext cx="8001000" cy="4443984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8887968" y="1783080"/>
            <a:ext cx="2523744" cy="758952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887968" y="1783080"/>
            <a:ext cx="64008" cy="758952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89136" y="1856232"/>
            <a:ext cx="210312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150" b="1">
                <a:solidFill>
                  <a:srgbClr val="008F83"/>
                </a:solidFill>
                <a:latin typeface="Arial"/>
              </a:rPr>
              <a:t>Trend researcher</a:t>
            </a:r>
          </a:p>
          <a:p>
            <a:pPr algn="l">
              <a:spcAft>
                <a:spcPts val="100"/>
              </a:spcAft>
            </a:pPr>
            <a:r>
              <a:rPr sz="1050" b="0">
                <a:solidFill>
                  <a:srgbClr val="18232B"/>
                </a:solidFill>
                <a:latin typeface="Arial"/>
              </a:rPr>
              <a:t>evidence and change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87968" y="2633472"/>
            <a:ext cx="2523744" cy="758952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887968" y="2633472"/>
            <a:ext cx="64008" cy="758952"/>
          </a:xfrm>
          <a:prstGeom prst="rect">
            <a:avLst/>
          </a:prstGeom>
          <a:solidFill>
            <a:srgbClr val="F06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89136" y="2706624"/>
            <a:ext cx="210312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150" b="1">
                <a:solidFill>
                  <a:srgbClr val="F0674A"/>
                </a:solidFill>
                <a:latin typeface="Arial"/>
              </a:rPr>
              <a:t>Partner scout</a:t>
            </a:r>
          </a:p>
          <a:p>
            <a:pPr algn="l">
              <a:spcAft>
                <a:spcPts val="100"/>
              </a:spcAft>
            </a:pPr>
            <a:r>
              <a:rPr sz="1050" b="0">
                <a:solidFill>
                  <a:srgbClr val="18232B"/>
                </a:solidFill>
                <a:latin typeface="Arial"/>
              </a:rPr>
              <a:t>audience and fit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887968" y="3483864"/>
            <a:ext cx="2523744" cy="758952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887968" y="3483864"/>
            <a:ext cx="64008" cy="758952"/>
          </a:xfrm>
          <a:prstGeom prst="rect">
            <a:avLst/>
          </a:prstGeom>
          <a:solidFill>
            <a:srgbClr val="EE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89136" y="3557016"/>
            <a:ext cx="210312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150" b="1">
                <a:solidFill>
                  <a:srgbClr val="EEA900"/>
                </a:solidFill>
                <a:latin typeface="Arial"/>
              </a:rPr>
              <a:t>Offer evaluator</a:t>
            </a:r>
          </a:p>
          <a:p>
            <a:pPr algn="l">
              <a:spcAft>
                <a:spcPts val="100"/>
              </a:spcAft>
            </a:pPr>
            <a:r>
              <a:rPr sz="1050" b="0">
                <a:solidFill>
                  <a:srgbClr val="18232B"/>
                </a:solidFill>
                <a:latin typeface="Arial"/>
              </a:rPr>
              <a:t>economics and risk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887968" y="4334256"/>
            <a:ext cx="2523744" cy="758952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887968" y="4334256"/>
            <a:ext cx="64008" cy="758952"/>
          </a:xfrm>
          <a:prstGeom prst="rect">
            <a:avLst/>
          </a:prstGeom>
          <a:solidFill>
            <a:srgbClr val="3543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89136" y="4407408"/>
            <a:ext cx="210312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150" b="1">
                <a:solidFill>
                  <a:srgbClr val="354352"/>
                </a:solidFill>
                <a:latin typeface="Arial"/>
              </a:rPr>
              <a:t>Content planner</a:t>
            </a:r>
          </a:p>
          <a:p>
            <a:pPr algn="l">
              <a:spcAft>
                <a:spcPts val="100"/>
              </a:spcAft>
            </a:pPr>
            <a:r>
              <a:rPr sz="1050" b="0">
                <a:solidFill>
                  <a:srgbClr val="18232B"/>
                </a:solidFill>
                <a:latin typeface="Arial"/>
              </a:rPr>
              <a:t>channel and message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887968" y="5184648"/>
            <a:ext cx="2523744" cy="758952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887968" y="5184648"/>
            <a:ext cx="64008" cy="758952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89136" y="5257800"/>
            <a:ext cx="210312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150" b="1">
                <a:solidFill>
                  <a:srgbClr val="008F83"/>
                </a:solidFill>
                <a:latin typeface="Arial"/>
              </a:rPr>
              <a:t>Human owner</a:t>
            </a:r>
          </a:p>
          <a:p>
            <a:pPr algn="l">
              <a:spcAft>
                <a:spcPts val="100"/>
              </a:spcAft>
            </a:pPr>
            <a:r>
              <a:rPr sz="1050" b="0">
                <a:solidFill>
                  <a:srgbClr val="18232B"/>
                </a:solidFill>
                <a:latin typeface="Arial"/>
              </a:rPr>
              <a:t>approve exact brief</a:t>
            </a:r>
          </a:p>
        </p:txBody>
      </p:sp>
    </p:spTree>
  </p:cSld>
  <p:clrMapOvr>
    <a:masterClrMapping/>
  </p:clrMapOvr>
  <p:transition spd="fast">
    <p:fade/>
  </p:transition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71600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008F83"/>
                </a:solidFill>
                <a:latin typeface="Arial"/>
              </a:rPr>
              <a:t>RUNTIME TRACE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8232B"/>
                </a:solidFill>
                <a:latin typeface="Arial"/>
              </a:rPr>
              <a:t>Affiliate Transaction Runtime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435608"/>
            <a:ext cx="10927080" cy="16459"/>
          </a:xfrm>
          <a:prstGeom prst="rect">
            <a:avLst/>
          </a:prstGeom>
          <a:solidFill>
            <a:srgbClr val="DD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23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240280"/>
            <a:ext cx="1597152" cy="301752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36904" y="2532888"/>
            <a:ext cx="640080" cy="640080"/>
          </a:xfrm>
          <a:prstGeom prst="ellipse">
            <a:avLst/>
          </a:prstGeom>
          <a:solidFill>
            <a:srgbClr val="00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36904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3410712"/>
            <a:ext cx="1377696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18232B"/>
                </a:solidFill>
                <a:latin typeface="Arial"/>
              </a:rPr>
              <a:t>Publisher places tracked link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255520" y="3749040"/>
            <a:ext cx="256032" cy="0"/>
          </a:xfrm>
          <a:prstGeom prst="line">
            <a:avLst/>
          </a:prstGeom>
          <a:ln w="31750">
            <a:solidFill>
              <a:srgbClr val="008F8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511552" y="2240280"/>
            <a:ext cx="1597152" cy="301752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990088" y="2532888"/>
            <a:ext cx="640080" cy="640080"/>
          </a:xfrm>
          <a:prstGeom prst="ellipse">
            <a:avLst/>
          </a:prstGeom>
          <a:solidFill>
            <a:srgbClr val="F06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90088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21280" y="3410712"/>
            <a:ext cx="1377696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18232B"/>
                </a:solidFill>
                <a:latin typeface="Arial"/>
              </a:rPr>
              <a:t>Visitor clicks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108704" y="3749040"/>
            <a:ext cx="256032" cy="0"/>
          </a:xfrm>
          <a:prstGeom prst="line">
            <a:avLst/>
          </a:prstGeom>
          <a:ln w="31750">
            <a:solidFill>
              <a:srgbClr val="008F8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4364736" y="2240280"/>
            <a:ext cx="1597152" cy="301752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843272" y="2532888"/>
            <a:ext cx="640080" cy="640080"/>
          </a:xfrm>
          <a:prstGeom prst="ellipse">
            <a:avLst/>
          </a:prstGeom>
          <a:solidFill>
            <a:srgbClr val="EEA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4327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74464" y="3410712"/>
            <a:ext cx="1377696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18232B"/>
                </a:solidFill>
                <a:latin typeface="Arial"/>
              </a:rPr>
              <a:t>Network records click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961888" y="3749040"/>
            <a:ext cx="256032" cy="0"/>
          </a:xfrm>
          <a:prstGeom prst="line">
            <a:avLst/>
          </a:prstGeom>
          <a:ln w="31750">
            <a:solidFill>
              <a:srgbClr val="008F8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217920" y="2240280"/>
            <a:ext cx="1597152" cy="301752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696456" y="2532888"/>
            <a:ext cx="640080" cy="640080"/>
          </a:xfrm>
          <a:prstGeom prst="ellipse">
            <a:avLst/>
          </a:prstGeom>
          <a:solidFill>
            <a:srgbClr val="3543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96456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27648" y="3410712"/>
            <a:ext cx="1377696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18232B"/>
                </a:solidFill>
                <a:latin typeface="Arial"/>
              </a:rPr>
              <a:t>Customer converts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815072" y="3749040"/>
            <a:ext cx="256032" cy="0"/>
          </a:xfrm>
          <a:prstGeom prst="line">
            <a:avLst/>
          </a:prstGeom>
          <a:ln w="31750">
            <a:solidFill>
              <a:srgbClr val="008F8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8071104" y="2240280"/>
            <a:ext cx="1597152" cy="301752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549640" y="2532888"/>
            <a:ext cx="640080" cy="640080"/>
          </a:xfrm>
          <a:prstGeom prst="ellipse">
            <a:avLst/>
          </a:prstGeom>
          <a:solidFill>
            <a:srgbClr val="00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49640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80832" y="3410712"/>
            <a:ext cx="1377696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18232B"/>
                </a:solidFill>
                <a:latin typeface="Arial"/>
              </a:rPr>
              <a:t>Merchant validates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668256" y="3749040"/>
            <a:ext cx="256032" cy="0"/>
          </a:xfrm>
          <a:prstGeom prst="line">
            <a:avLst/>
          </a:prstGeom>
          <a:ln w="31750">
            <a:solidFill>
              <a:srgbClr val="008F8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9924288" y="2240280"/>
            <a:ext cx="1597152" cy="301752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402824" y="2532888"/>
            <a:ext cx="640080" cy="640080"/>
          </a:xfrm>
          <a:prstGeom prst="ellipse">
            <a:avLst/>
          </a:prstGeom>
          <a:solidFill>
            <a:srgbClr val="F06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402824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034016" y="3410712"/>
            <a:ext cx="1377696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18232B"/>
                </a:solidFill>
                <a:latin typeface="Arial"/>
              </a:rPr>
              <a:t>Commission settles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13232" y="5577840"/>
            <a:ext cx="10698480" cy="4206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5E6872"/>
                </a:solidFill>
                <a:latin typeface="Arial"/>
              </a:rPr>
              <a:t>Read left to right. Each boundary has a named payload, state transition and owner.</a:t>
            </a:r>
          </a:p>
        </p:txBody>
      </p:sp>
    </p:spTree>
  </p:cSld>
  <p:clrMapOvr>
    <a:masterClrMapping/>
  </p:clrMapOvr>
  <p:transition spd="fast">
    <p:fade/>
  </p:transition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71600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008F83"/>
                </a:solidFill>
                <a:latin typeface="Arial"/>
              </a:rPr>
              <a:t>RUNTIME TRACE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8232B"/>
                </a:solidFill>
                <a:latin typeface="Arial"/>
              </a:rPr>
              <a:t>Trend Monitoring Cycle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435608"/>
            <a:ext cx="10927080" cy="16459"/>
          </a:xfrm>
          <a:prstGeom prst="rect">
            <a:avLst/>
          </a:prstGeom>
          <a:solidFill>
            <a:srgbClr val="DD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24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240280"/>
            <a:ext cx="1967788" cy="301752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322222" y="2532888"/>
            <a:ext cx="640080" cy="640080"/>
          </a:xfrm>
          <a:prstGeom prst="ellipse">
            <a:avLst/>
          </a:prstGeom>
          <a:solidFill>
            <a:srgbClr val="00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2222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18232B"/>
                </a:solidFill>
                <a:latin typeface="Arial"/>
              </a:rPr>
              <a:t>Define signals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626156" y="3749040"/>
            <a:ext cx="256032" cy="0"/>
          </a:xfrm>
          <a:prstGeom prst="line">
            <a:avLst/>
          </a:prstGeom>
          <a:ln w="31750">
            <a:solidFill>
              <a:srgbClr val="008F8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882188" y="2240280"/>
            <a:ext cx="1967788" cy="301752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46042" y="2532888"/>
            <a:ext cx="640080" cy="640080"/>
          </a:xfrm>
          <a:prstGeom prst="ellipse">
            <a:avLst/>
          </a:prstGeom>
          <a:solidFill>
            <a:srgbClr val="F06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4604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9191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18232B"/>
                </a:solidFill>
                <a:latin typeface="Arial"/>
              </a:rPr>
              <a:t>Collect dated sources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849976" y="3749040"/>
            <a:ext cx="256032" cy="0"/>
          </a:xfrm>
          <a:prstGeom prst="line">
            <a:avLst/>
          </a:prstGeom>
          <a:ln w="31750">
            <a:solidFill>
              <a:srgbClr val="008F8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106008" y="2240280"/>
            <a:ext cx="1967788" cy="301752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69862" y="2532888"/>
            <a:ext cx="640080" cy="640080"/>
          </a:xfrm>
          <a:prstGeom prst="ellipse">
            <a:avLst/>
          </a:prstGeom>
          <a:solidFill>
            <a:srgbClr val="EEA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986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573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18232B"/>
                </a:solidFill>
                <a:latin typeface="Arial"/>
              </a:rPr>
              <a:t>Normalise observations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73796" y="3749040"/>
            <a:ext cx="256032" cy="0"/>
          </a:xfrm>
          <a:prstGeom prst="line">
            <a:avLst/>
          </a:prstGeom>
          <a:ln w="31750">
            <a:solidFill>
              <a:srgbClr val="008F8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329828" y="2240280"/>
            <a:ext cx="1967788" cy="301752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93682" y="2532888"/>
            <a:ext cx="640080" cy="640080"/>
          </a:xfrm>
          <a:prstGeom prst="ellipse">
            <a:avLst/>
          </a:prstGeom>
          <a:solidFill>
            <a:srgbClr val="3543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9368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3955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18232B"/>
                </a:solidFill>
                <a:latin typeface="Arial"/>
              </a:rPr>
              <a:t>Compare baseline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297616" y="3749040"/>
            <a:ext cx="256032" cy="0"/>
          </a:xfrm>
          <a:prstGeom prst="line">
            <a:avLst/>
          </a:prstGeom>
          <a:ln w="31750">
            <a:solidFill>
              <a:srgbClr val="008F8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553648" y="2240280"/>
            <a:ext cx="1967788" cy="301752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217502" y="2532888"/>
            <a:ext cx="640080" cy="640080"/>
          </a:xfrm>
          <a:prstGeom prst="ellipse">
            <a:avLst/>
          </a:prstGeom>
          <a:solidFill>
            <a:srgbClr val="00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1750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6337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18232B"/>
                </a:solidFill>
                <a:latin typeface="Arial"/>
              </a:rPr>
              <a:t>Publish reviewed update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3232" y="5577840"/>
            <a:ext cx="10698480" cy="4206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5E6872"/>
                </a:solidFill>
                <a:latin typeface="Arial"/>
              </a:rPr>
              <a:t>Read left to right. Each boundary has a named payload, state transition and owner.</a:t>
            </a:r>
          </a:p>
        </p:txBody>
      </p:sp>
    </p:spTree>
  </p:cSld>
  <p:clrMapOvr>
    <a:masterClrMapping/>
  </p:clrMapOvr>
  <p:transition spd="fast">
    <p:fade/>
  </p:transition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71600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008F83"/>
                </a:solidFill>
                <a:latin typeface="Arial"/>
              </a:rPr>
              <a:t>RUNTIME TRACE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8232B"/>
                </a:solidFill>
                <a:latin typeface="Arial"/>
              </a:rPr>
              <a:t>Offer Evaluation Pipeline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435608"/>
            <a:ext cx="10927080" cy="16459"/>
          </a:xfrm>
          <a:prstGeom prst="rect">
            <a:avLst/>
          </a:prstGeom>
          <a:solidFill>
            <a:srgbClr val="DD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25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240280"/>
            <a:ext cx="1967788" cy="301752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322222" y="2532888"/>
            <a:ext cx="640080" cy="640080"/>
          </a:xfrm>
          <a:prstGeom prst="ellipse">
            <a:avLst/>
          </a:prstGeom>
          <a:solidFill>
            <a:srgbClr val="00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2222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18232B"/>
                </a:solidFill>
                <a:latin typeface="Arial"/>
              </a:rPr>
              <a:t>Confirm audience job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626156" y="3749040"/>
            <a:ext cx="256032" cy="0"/>
          </a:xfrm>
          <a:prstGeom prst="line">
            <a:avLst/>
          </a:prstGeom>
          <a:ln w="31750">
            <a:solidFill>
              <a:srgbClr val="008F8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882188" y="2240280"/>
            <a:ext cx="1967788" cy="301752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46042" y="2532888"/>
            <a:ext cx="640080" cy="640080"/>
          </a:xfrm>
          <a:prstGeom prst="ellipse">
            <a:avLst/>
          </a:prstGeom>
          <a:solidFill>
            <a:srgbClr val="F06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4604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9191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18232B"/>
                </a:solidFill>
                <a:latin typeface="Arial"/>
              </a:rPr>
              <a:t>Check product evidence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849976" y="3749040"/>
            <a:ext cx="256032" cy="0"/>
          </a:xfrm>
          <a:prstGeom prst="line">
            <a:avLst/>
          </a:prstGeom>
          <a:ln w="31750">
            <a:solidFill>
              <a:srgbClr val="008F8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106008" y="2240280"/>
            <a:ext cx="1967788" cy="301752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69862" y="2532888"/>
            <a:ext cx="640080" cy="640080"/>
          </a:xfrm>
          <a:prstGeom prst="ellipse">
            <a:avLst/>
          </a:prstGeom>
          <a:solidFill>
            <a:srgbClr val="EEA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986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573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18232B"/>
                </a:solidFill>
                <a:latin typeface="Arial"/>
              </a:rPr>
              <a:t>Model economics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73796" y="3749040"/>
            <a:ext cx="256032" cy="0"/>
          </a:xfrm>
          <a:prstGeom prst="line">
            <a:avLst/>
          </a:prstGeom>
          <a:ln w="31750">
            <a:solidFill>
              <a:srgbClr val="008F8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329828" y="2240280"/>
            <a:ext cx="1967788" cy="301752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93682" y="2532888"/>
            <a:ext cx="640080" cy="640080"/>
          </a:xfrm>
          <a:prstGeom prst="ellipse">
            <a:avLst/>
          </a:prstGeom>
          <a:solidFill>
            <a:srgbClr val="3543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9368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3955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18232B"/>
                </a:solidFill>
                <a:latin typeface="Arial"/>
              </a:rPr>
              <a:t>Test policy fit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297616" y="3749040"/>
            <a:ext cx="256032" cy="0"/>
          </a:xfrm>
          <a:prstGeom prst="line">
            <a:avLst/>
          </a:prstGeom>
          <a:ln w="31750">
            <a:solidFill>
              <a:srgbClr val="008F8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553648" y="2240280"/>
            <a:ext cx="1967788" cy="301752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217502" y="2532888"/>
            <a:ext cx="640080" cy="640080"/>
          </a:xfrm>
          <a:prstGeom prst="ellipse">
            <a:avLst/>
          </a:prstGeom>
          <a:solidFill>
            <a:srgbClr val="00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1750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6337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18232B"/>
                </a:solidFill>
                <a:latin typeface="Arial"/>
              </a:rPr>
              <a:t>Approve or reject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3232" y="5577840"/>
            <a:ext cx="10698480" cy="4206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5E6872"/>
                </a:solidFill>
                <a:latin typeface="Arial"/>
              </a:rPr>
              <a:t>Read left to right. Each boundary has a named payload, state transition and owner.</a:t>
            </a:r>
          </a:p>
        </p:txBody>
      </p:sp>
    </p:spTree>
  </p:cSld>
  <p:clrMapOvr>
    <a:masterClrMapping/>
  </p:clrMapOvr>
  <p:transition spd="fast">
    <p:fade/>
  </p:transition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71600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008F83"/>
                </a:solidFill>
                <a:latin typeface="Arial"/>
              </a:rPr>
              <a:t>RUNTIME TRACE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8232B"/>
                </a:solidFill>
                <a:latin typeface="Arial"/>
              </a:rPr>
              <a:t>Claude Cowork Research Workflow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435608"/>
            <a:ext cx="10927080" cy="16459"/>
          </a:xfrm>
          <a:prstGeom prst="rect">
            <a:avLst/>
          </a:prstGeom>
          <a:solidFill>
            <a:srgbClr val="DD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240280"/>
            <a:ext cx="1967788" cy="301752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322222" y="2532888"/>
            <a:ext cx="640080" cy="640080"/>
          </a:xfrm>
          <a:prstGeom prst="ellipse">
            <a:avLst/>
          </a:prstGeom>
          <a:solidFill>
            <a:srgbClr val="00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2222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18232B"/>
                </a:solidFill>
                <a:latin typeface="Arial"/>
              </a:rPr>
              <a:t>Load bounded folder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626156" y="3749040"/>
            <a:ext cx="256032" cy="0"/>
          </a:xfrm>
          <a:prstGeom prst="line">
            <a:avLst/>
          </a:prstGeom>
          <a:ln w="31750">
            <a:solidFill>
              <a:srgbClr val="008F8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882188" y="2240280"/>
            <a:ext cx="1967788" cy="301752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46042" y="2532888"/>
            <a:ext cx="640080" cy="640080"/>
          </a:xfrm>
          <a:prstGeom prst="ellipse">
            <a:avLst/>
          </a:prstGeom>
          <a:solidFill>
            <a:srgbClr val="F06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4604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9191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18232B"/>
                </a:solidFill>
                <a:latin typeface="Arial"/>
              </a:rPr>
              <a:t>Read approved sources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849976" y="3749040"/>
            <a:ext cx="256032" cy="0"/>
          </a:xfrm>
          <a:prstGeom prst="line">
            <a:avLst/>
          </a:prstGeom>
          <a:ln w="31750">
            <a:solidFill>
              <a:srgbClr val="008F8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106008" y="2240280"/>
            <a:ext cx="1967788" cy="301752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69862" y="2532888"/>
            <a:ext cx="640080" cy="640080"/>
          </a:xfrm>
          <a:prstGeom prst="ellipse">
            <a:avLst/>
          </a:prstGeom>
          <a:solidFill>
            <a:srgbClr val="EEA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986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573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18232B"/>
                </a:solidFill>
                <a:latin typeface="Arial"/>
              </a:rPr>
              <a:t>Run research Skill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73796" y="3749040"/>
            <a:ext cx="256032" cy="0"/>
          </a:xfrm>
          <a:prstGeom prst="line">
            <a:avLst/>
          </a:prstGeom>
          <a:ln w="31750">
            <a:solidFill>
              <a:srgbClr val="008F8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329828" y="2240280"/>
            <a:ext cx="1967788" cy="301752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93682" y="2532888"/>
            <a:ext cx="640080" cy="640080"/>
          </a:xfrm>
          <a:prstGeom prst="ellipse">
            <a:avLst/>
          </a:prstGeom>
          <a:solidFill>
            <a:srgbClr val="3543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9368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3955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18232B"/>
                </a:solidFill>
                <a:latin typeface="Arial"/>
              </a:rPr>
              <a:t>Check evidence cards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297616" y="3749040"/>
            <a:ext cx="256032" cy="0"/>
          </a:xfrm>
          <a:prstGeom prst="line">
            <a:avLst/>
          </a:prstGeom>
          <a:ln w="31750">
            <a:solidFill>
              <a:srgbClr val="008F8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553648" y="2240280"/>
            <a:ext cx="1967788" cy="301752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217502" y="2532888"/>
            <a:ext cx="640080" cy="640080"/>
          </a:xfrm>
          <a:prstGeom prst="ellipse">
            <a:avLst/>
          </a:prstGeom>
          <a:solidFill>
            <a:srgbClr val="00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1750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6337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18232B"/>
                </a:solidFill>
                <a:latin typeface="Arial"/>
              </a:rPr>
              <a:t>Human releases update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3232" y="5577840"/>
            <a:ext cx="10698480" cy="4206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5E6872"/>
                </a:solidFill>
                <a:latin typeface="Arial"/>
              </a:rPr>
              <a:t>Read left to right. Each boundary has a named payload, state transition and owner.</a:t>
            </a:r>
          </a:p>
        </p:txBody>
      </p:sp>
    </p:spTree>
  </p:cSld>
  <p:clrMapOvr>
    <a:masterClrMapping/>
  </p:clrMapOvr>
  <p:transition spd="fast">
    <p:fade/>
  </p:transition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71600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008F83"/>
                </a:solidFill>
                <a:latin typeface="Arial"/>
              </a:rPr>
              <a:t>RUNTIME TRACE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8232B"/>
                </a:solidFill>
                <a:latin typeface="Arial"/>
              </a:rPr>
              <a:t>Reusable Skill Execution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435608"/>
            <a:ext cx="10927080" cy="16459"/>
          </a:xfrm>
          <a:prstGeom prst="rect">
            <a:avLst/>
          </a:prstGeom>
          <a:solidFill>
            <a:srgbClr val="DD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27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240280"/>
            <a:ext cx="1967788" cy="301752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322222" y="2532888"/>
            <a:ext cx="640080" cy="640080"/>
          </a:xfrm>
          <a:prstGeom prst="ellipse">
            <a:avLst/>
          </a:prstGeom>
          <a:solidFill>
            <a:srgbClr val="00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2222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18232B"/>
                </a:solidFill>
                <a:latin typeface="Arial"/>
              </a:rPr>
              <a:t>Description triggers Skill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626156" y="3749040"/>
            <a:ext cx="256032" cy="0"/>
          </a:xfrm>
          <a:prstGeom prst="line">
            <a:avLst/>
          </a:prstGeom>
          <a:ln w="31750">
            <a:solidFill>
              <a:srgbClr val="008F8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882188" y="2240280"/>
            <a:ext cx="1967788" cy="301752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46042" y="2532888"/>
            <a:ext cx="640080" cy="640080"/>
          </a:xfrm>
          <a:prstGeom prst="ellipse">
            <a:avLst/>
          </a:prstGeom>
          <a:solidFill>
            <a:srgbClr val="F06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4604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9191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18232B"/>
                </a:solidFill>
                <a:latin typeface="Arial"/>
              </a:rPr>
              <a:t>Instructions set method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849976" y="3749040"/>
            <a:ext cx="256032" cy="0"/>
          </a:xfrm>
          <a:prstGeom prst="line">
            <a:avLst/>
          </a:prstGeom>
          <a:ln w="31750">
            <a:solidFill>
              <a:srgbClr val="008F8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106008" y="2240280"/>
            <a:ext cx="1967788" cy="301752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69862" y="2532888"/>
            <a:ext cx="640080" cy="640080"/>
          </a:xfrm>
          <a:prstGeom prst="ellipse">
            <a:avLst/>
          </a:prstGeom>
          <a:solidFill>
            <a:srgbClr val="EEA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986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573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18232B"/>
                </a:solidFill>
                <a:latin typeface="Arial"/>
              </a:rPr>
              <a:t>Resources supply templates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73796" y="3749040"/>
            <a:ext cx="256032" cy="0"/>
          </a:xfrm>
          <a:prstGeom prst="line">
            <a:avLst/>
          </a:prstGeom>
          <a:ln w="31750">
            <a:solidFill>
              <a:srgbClr val="008F8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329828" y="2240280"/>
            <a:ext cx="1967788" cy="301752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93682" y="2532888"/>
            <a:ext cx="640080" cy="640080"/>
          </a:xfrm>
          <a:prstGeom prst="ellipse">
            <a:avLst/>
          </a:prstGeom>
          <a:solidFill>
            <a:srgbClr val="3543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9368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3955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18232B"/>
                </a:solidFill>
                <a:latin typeface="Arial"/>
              </a:rPr>
              <a:t>Checks validate output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297616" y="3749040"/>
            <a:ext cx="256032" cy="0"/>
          </a:xfrm>
          <a:prstGeom prst="line">
            <a:avLst/>
          </a:prstGeom>
          <a:ln w="31750">
            <a:solidFill>
              <a:srgbClr val="008F8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553648" y="2240280"/>
            <a:ext cx="1967788" cy="301752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217502" y="2532888"/>
            <a:ext cx="640080" cy="640080"/>
          </a:xfrm>
          <a:prstGeom prst="ellipse">
            <a:avLst/>
          </a:prstGeom>
          <a:solidFill>
            <a:srgbClr val="00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1750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6337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18232B"/>
                </a:solidFill>
                <a:latin typeface="Arial"/>
              </a:rPr>
              <a:t>Result returns with evidence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3232" y="5577840"/>
            <a:ext cx="10698480" cy="4206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5E6872"/>
                </a:solidFill>
                <a:latin typeface="Arial"/>
              </a:rPr>
              <a:t>Read left to right. Each boundary has a named payload, state transition and owner.</a:t>
            </a:r>
          </a:p>
        </p:txBody>
      </p:sp>
    </p:spTree>
  </p:cSld>
  <p:clrMapOvr>
    <a:masterClrMapping/>
  </p:clrMapOvr>
  <p:transition spd="fast">
    <p:fade/>
  </p:transition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71600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008F83"/>
                </a:solidFill>
                <a:latin typeface="Arial"/>
              </a:rPr>
              <a:t>RUNTIME TRACE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8232B"/>
                </a:solidFill>
                <a:latin typeface="Arial"/>
              </a:rPr>
              <a:t>Product Update Communication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435608"/>
            <a:ext cx="10927080" cy="16459"/>
          </a:xfrm>
          <a:prstGeom prst="rect">
            <a:avLst/>
          </a:prstGeom>
          <a:solidFill>
            <a:srgbClr val="DD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28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240280"/>
            <a:ext cx="1967788" cy="301752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322222" y="2532888"/>
            <a:ext cx="640080" cy="640080"/>
          </a:xfrm>
          <a:prstGeom prst="ellipse">
            <a:avLst/>
          </a:prstGeom>
          <a:solidFill>
            <a:srgbClr val="00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2222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18232B"/>
                </a:solidFill>
                <a:latin typeface="Arial"/>
              </a:rPr>
              <a:t>Detect approved change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626156" y="3749040"/>
            <a:ext cx="256032" cy="0"/>
          </a:xfrm>
          <a:prstGeom prst="line">
            <a:avLst/>
          </a:prstGeom>
          <a:ln w="31750">
            <a:solidFill>
              <a:srgbClr val="008F8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882188" y="2240280"/>
            <a:ext cx="1967788" cy="301752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46042" y="2532888"/>
            <a:ext cx="640080" cy="640080"/>
          </a:xfrm>
          <a:prstGeom prst="ellipse">
            <a:avLst/>
          </a:prstGeom>
          <a:solidFill>
            <a:srgbClr val="F06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4604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9191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18232B"/>
                </a:solidFill>
                <a:latin typeface="Arial"/>
              </a:rPr>
              <a:t>Diff product record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849976" y="3749040"/>
            <a:ext cx="256032" cy="0"/>
          </a:xfrm>
          <a:prstGeom prst="line">
            <a:avLst/>
          </a:prstGeom>
          <a:ln w="31750">
            <a:solidFill>
              <a:srgbClr val="008F8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106008" y="2240280"/>
            <a:ext cx="1967788" cy="301752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69862" y="2532888"/>
            <a:ext cx="640080" cy="640080"/>
          </a:xfrm>
          <a:prstGeom prst="ellipse">
            <a:avLst/>
          </a:prstGeom>
          <a:solidFill>
            <a:srgbClr val="EEA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986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573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18232B"/>
                </a:solidFill>
                <a:latin typeface="Arial"/>
              </a:rPr>
              <a:t>Draft partner impact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73796" y="3749040"/>
            <a:ext cx="256032" cy="0"/>
          </a:xfrm>
          <a:prstGeom prst="line">
            <a:avLst/>
          </a:prstGeom>
          <a:ln w="31750">
            <a:solidFill>
              <a:srgbClr val="008F8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329828" y="2240280"/>
            <a:ext cx="1967788" cy="301752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93682" y="2532888"/>
            <a:ext cx="640080" cy="640080"/>
          </a:xfrm>
          <a:prstGeom prst="ellipse">
            <a:avLst/>
          </a:prstGeom>
          <a:solidFill>
            <a:srgbClr val="3543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9368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3955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18232B"/>
                </a:solidFill>
                <a:latin typeface="Arial"/>
              </a:rPr>
              <a:t>Review claims and date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297616" y="3749040"/>
            <a:ext cx="256032" cy="0"/>
          </a:xfrm>
          <a:prstGeom prst="line">
            <a:avLst/>
          </a:prstGeom>
          <a:ln w="31750">
            <a:solidFill>
              <a:srgbClr val="008F8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553648" y="2240280"/>
            <a:ext cx="1967788" cy="301752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217502" y="2532888"/>
            <a:ext cx="640080" cy="640080"/>
          </a:xfrm>
          <a:prstGeom prst="ellipse">
            <a:avLst/>
          </a:prstGeom>
          <a:solidFill>
            <a:srgbClr val="00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1750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6337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18232B"/>
                </a:solidFill>
                <a:latin typeface="Arial"/>
              </a:rPr>
              <a:t>Send through owned channel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3232" y="5577840"/>
            <a:ext cx="10698480" cy="4206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5E6872"/>
                </a:solidFill>
                <a:latin typeface="Arial"/>
              </a:rPr>
              <a:t>Read left to right. Each boundary has a named payload, state transition and owner.</a:t>
            </a:r>
          </a:p>
        </p:txBody>
      </p:sp>
    </p:spTree>
  </p:cSld>
  <p:clrMapOvr>
    <a:masterClrMapping/>
  </p:clrMapOvr>
  <p:transition spd="fast">
    <p:fade/>
  </p:transition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71600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008F83"/>
                </a:solidFill>
                <a:latin typeface="Arial"/>
              </a:rPr>
              <a:t>RUNTIME TRACE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8232B"/>
                </a:solidFill>
                <a:latin typeface="Arial"/>
              </a:rPr>
              <a:t>Review Content Evidence Chain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435608"/>
            <a:ext cx="10927080" cy="16459"/>
          </a:xfrm>
          <a:prstGeom prst="rect">
            <a:avLst/>
          </a:prstGeom>
          <a:solidFill>
            <a:srgbClr val="DD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29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240280"/>
            <a:ext cx="1967788" cy="301752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322222" y="2532888"/>
            <a:ext cx="640080" cy="640080"/>
          </a:xfrm>
          <a:prstGeom prst="ellipse">
            <a:avLst/>
          </a:prstGeom>
          <a:solidFill>
            <a:srgbClr val="00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2222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18232B"/>
                </a:solidFill>
                <a:latin typeface="Arial"/>
              </a:rPr>
              <a:t>Product source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626156" y="3749040"/>
            <a:ext cx="256032" cy="0"/>
          </a:xfrm>
          <a:prstGeom prst="line">
            <a:avLst/>
          </a:prstGeom>
          <a:ln w="31750">
            <a:solidFill>
              <a:srgbClr val="008F8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882188" y="2240280"/>
            <a:ext cx="1967788" cy="301752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46042" y="2532888"/>
            <a:ext cx="640080" cy="640080"/>
          </a:xfrm>
          <a:prstGeom prst="ellipse">
            <a:avLst/>
          </a:prstGeom>
          <a:solidFill>
            <a:srgbClr val="F06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4604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9191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18232B"/>
                </a:solidFill>
                <a:latin typeface="Arial"/>
              </a:rPr>
              <a:t>Feature-to-benefit claim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849976" y="3749040"/>
            <a:ext cx="256032" cy="0"/>
          </a:xfrm>
          <a:prstGeom prst="line">
            <a:avLst/>
          </a:prstGeom>
          <a:ln w="31750">
            <a:solidFill>
              <a:srgbClr val="008F8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106008" y="2240280"/>
            <a:ext cx="1967788" cy="301752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69862" y="2532888"/>
            <a:ext cx="640080" cy="640080"/>
          </a:xfrm>
          <a:prstGeom prst="ellipse">
            <a:avLst/>
          </a:prstGeom>
          <a:solidFill>
            <a:srgbClr val="EEA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986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573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18232B"/>
                </a:solidFill>
                <a:latin typeface="Arial"/>
              </a:rPr>
              <a:t>Audience limitation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73796" y="3749040"/>
            <a:ext cx="256032" cy="0"/>
          </a:xfrm>
          <a:prstGeom prst="line">
            <a:avLst/>
          </a:prstGeom>
          <a:ln w="31750">
            <a:solidFill>
              <a:srgbClr val="008F8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329828" y="2240280"/>
            <a:ext cx="1967788" cy="301752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93682" y="2532888"/>
            <a:ext cx="640080" cy="640080"/>
          </a:xfrm>
          <a:prstGeom prst="ellipse">
            <a:avLst/>
          </a:prstGeom>
          <a:solidFill>
            <a:srgbClr val="3543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9368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3955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18232B"/>
                </a:solidFill>
                <a:latin typeface="Arial"/>
              </a:rPr>
              <a:t>Disclosure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297616" y="3749040"/>
            <a:ext cx="256032" cy="0"/>
          </a:xfrm>
          <a:prstGeom prst="line">
            <a:avLst/>
          </a:prstGeom>
          <a:ln w="31750">
            <a:solidFill>
              <a:srgbClr val="008F8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553648" y="2240280"/>
            <a:ext cx="1967788" cy="301752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217502" y="2532888"/>
            <a:ext cx="640080" cy="640080"/>
          </a:xfrm>
          <a:prstGeom prst="ellipse">
            <a:avLst/>
          </a:prstGeom>
          <a:solidFill>
            <a:srgbClr val="00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1750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6337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18232B"/>
                </a:solidFill>
                <a:latin typeface="Arial"/>
              </a:rPr>
              <a:t>Tracked CTA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3232" y="5577840"/>
            <a:ext cx="10698480" cy="4206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5E6872"/>
                </a:solidFill>
                <a:latin typeface="Arial"/>
              </a:rPr>
              <a:t>Read left to right. Each boundary has a named payload, state transition and owner.</a:t>
            </a:r>
          </a:p>
        </p:txBody>
      </p:sp>
    </p:spTree>
  </p:cSld>
  <p:clrMapOvr>
    <a:masterClrMapping/>
  </p:clrMapOvr>
  <p:transition spd="fast">
    <p:fade/>
  </p:transition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71600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008F83"/>
                </a:solidFill>
                <a:latin typeface="Arial"/>
              </a:rPr>
              <a:t>RUNTIME TRACE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8232B"/>
                </a:solidFill>
                <a:latin typeface="Arial"/>
              </a:rPr>
              <a:t>From Ebook Foundation to Current Practice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435608"/>
            <a:ext cx="10927080" cy="16459"/>
          </a:xfrm>
          <a:prstGeom prst="rect">
            <a:avLst/>
          </a:prstGeom>
          <a:solidFill>
            <a:srgbClr val="DD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30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240280"/>
            <a:ext cx="1967788" cy="301752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322222" y="2532888"/>
            <a:ext cx="640080" cy="640080"/>
          </a:xfrm>
          <a:prstGeom prst="ellipse">
            <a:avLst/>
          </a:prstGeom>
          <a:solidFill>
            <a:srgbClr val="00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2222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18232B"/>
                </a:solidFill>
                <a:latin typeface="Arial"/>
              </a:rPr>
              <a:t>Select niche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626156" y="3749040"/>
            <a:ext cx="256032" cy="0"/>
          </a:xfrm>
          <a:prstGeom prst="line">
            <a:avLst/>
          </a:prstGeom>
          <a:ln w="31750">
            <a:solidFill>
              <a:srgbClr val="008F8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882188" y="2240280"/>
            <a:ext cx="1967788" cy="301752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46042" y="2532888"/>
            <a:ext cx="640080" cy="640080"/>
          </a:xfrm>
          <a:prstGeom prst="ellipse">
            <a:avLst/>
          </a:prstGeom>
          <a:solidFill>
            <a:srgbClr val="F06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4604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9191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18232B"/>
                </a:solidFill>
                <a:latin typeface="Arial"/>
              </a:rPr>
              <a:t>Choose product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849976" y="3749040"/>
            <a:ext cx="256032" cy="0"/>
          </a:xfrm>
          <a:prstGeom prst="line">
            <a:avLst/>
          </a:prstGeom>
          <a:ln w="31750">
            <a:solidFill>
              <a:srgbClr val="008F8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106008" y="2240280"/>
            <a:ext cx="1967788" cy="301752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69862" y="2532888"/>
            <a:ext cx="640080" cy="640080"/>
          </a:xfrm>
          <a:prstGeom prst="ellipse">
            <a:avLst/>
          </a:prstGeom>
          <a:solidFill>
            <a:srgbClr val="EEA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986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573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18232B"/>
                </a:solidFill>
                <a:latin typeface="Arial"/>
              </a:rPr>
              <a:t>Create useful review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73796" y="3749040"/>
            <a:ext cx="256032" cy="0"/>
          </a:xfrm>
          <a:prstGeom prst="line">
            <a:avLst/>
          </a:prstGeom>
          <a:ln w="31750">
            <a:solidFill>
              <a:srgbClr val="008F8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329828" y="2240280"/>
            <a:ext cx="1967788" cy="301752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93682" y="2532888"/>
            <a:ext cx="640080" cy="640080"/>
          </a:xfrm>
          <a:prstGeom prst="ellipse">
            <a:avLst/>
          </a:prstGeom>
          <a:solidFill>
            <a:srgbClr val="3543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9368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3955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18232B"/>
                </a:solidFill>
                <a:latin typeface="Arial"/>
              </a:rPr>
              <a:t>Attract qualified traffic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297616" y="3749040"/>
            <a:ext cx="256032" cy="0"/>
          </a:xfrm>
          <a:prstGeom prst="line">
            <a:avLst/>
          </a:prstGeom>
          <a:ln w="31750">
            <a:solidFill>
              <a:srgbClr val="008F8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553648" y="2240280"/>
            <a:ext cx="1967788" cy="301752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217502" y="2532888"/>
            <a:ext cx="640080" cy="640080"/>
          </a:xfrm>
          <a:prstGeom prst="ellipse">
            <a:avLst/>
          </a:prstGeom>
          <a:solidFill>
            <a:srgbClr val="00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1750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6337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18232B"/>
                </a:solidFill>
                <a:latin typeface="Arial"/>
              </a:rPr>
              <a:t>Track and improve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3232" y="5577840"/>
            <a:ext cx="10698480" cy="4206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5E6872"/>
                </a:solidFill>
                <a:latin typeface="Arial"/>
              </a:rPr>
              <a:t>Read left to right. Each boundary has a named payload, state transition and owner.</a:t>
            </a:r>
          </a:p>
        </p:txBody>
      </p:sp>
    </p:spTree>
  </p:cSld>
  <p:clrMapOvr>
    <a:masterClrMapping/>
  </p:clrMapOvr>
  <p:transition spd="fast">
    <p:fade/>
  </p:transition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71600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008F83"/>
                </a:solidFill>
                <a:latin typeface="Arial"/>
              </a:rPr>
              <a:t>CONCRETE CONTRACT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8232B"/>
                </a:solidFill>
                <a:latin typeface="Arial"/>
              </a:rPr>
              <a:t>Offer Evaluation Record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435608"/>
            <a:ext cx="10927080" cy="16459"/>
          </a:xfrm>
          <a:prstGeom prst="rect">
            <a:avLst/>
          </a:prstGeom>
          <a:solidFill>
            <a:srgbClr val="DD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31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" y="1783080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4944" y="1783080"/>
            <a:ext cx="1755648" cy="841248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1901952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offer_id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15184" y="1892808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18232B"/>
                </a:solidFill>
                <a:latin typeface="Arial"/>
              </a:rPr>
              <a:t>stable product or service key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9632" y="1783080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99632" y="1783080"/>
            <a:ext cx="1755648" cy="841248"/>
          </a:xfrm>
          <a:prstGeom prst="rect">
            <a:avLst/>
          </a:prstGeom>
          <a:solidFill>
            <a:srgbClr val="F06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1901952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commission_model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19872" y="1892808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18232B"/>
                </a:solidFill>
                <a:latin typeface="Arial"/>
              </a:rPr>
              <a:t>CPS | CPA | CPL | recurring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4944" y="2807208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4944" y="2807208"/>
            <a:ext cx="1755648" cy="841248"/>
          </a:xfrm>
          <a:prstGeom prst="rect">
            <a:avLst/>
          </a:prstGeom>
          <a:solidFill>
            <a:srgbClr val="EE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" y="2926080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commission_value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15184" y="2916936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18232B"/>
                </a:solidFill>
                <a:latin typeface="Arial"/>
              </a:rPr>
              <a:t>rate or fixed amount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99632" y="2807208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99632" y="2807208"/>
            <a:ext cx="1755648" cy="841248"/>
          </a:xfrm>
          <a:prstGeom prst="rect">
            <a:avLst/>
          </a:prstGeom>
          <a:solidFill>
            <a:srgbClr val="3543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9360" y="2926080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cookie_window_days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19872" y="2916936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18232B"/>
                </a:solidFill>
                <a:latin typeface="Arial"/>
              </a:rPr>
              <a:t>attribution eligibility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94944" y="3831336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94944" y="3831336"/>
            <a:ext cx="1755648" cy="841248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4672" y="3950208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refund_window_days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15184" y="3941064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18232B"/>
                </a:solidFill>
                <a:latin typeface="Arial"/>
              </a:rPr>
              <a:t>reversal exposure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99632" y="3831336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99632" y="3831336"/>
            <a:ext cx="1755648" cy="841248"/>
          </a:xfrm>
          <a:prstGeom prst="rect">
            <a:avLst/>
          </a:prstGeom>
          <a:solidFill>
            <a:srgbClr val="F06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09360" y="3950208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approved_claims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19872" y="3941064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18232B"/>
                </a:solidFill>
                <a:latin typeface="Arial"/>
              </a:rPr>
              <a:t>verifiable product proof</a:t>
            </a:r>
          </a:p>
        </p:txBody>
      </p:sp>
    </p:spTree>
  </p:cSld>
  <p:clrMapOvr>
    <a:masterClrMapping/>
  </p:clrMapOvr>
  <p:transition spd="fast">
    <p:fade/>
  </p:transition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71600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008F83"/>
                </a:solidFill>
                <a:latin typeface="Arial"/>
              </a:rPr>
              <a:t>CONCRETE CONTRACT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8232B"/>
                </a:solidFill>
                <a:latin typeface="Arial"/>
              </a:rPr>
              <a:t>Trend Evidence Card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435608"/>
            <a:ext cx="10927080" cy="16459"/>
          </a:xfrm>
          <a:prstGeom prst="rect">
            <a:avLst/>
          </a:prstGeom>
          <a:solidFill>
            <a:srgbClr val="DD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32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" y="1783080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4944" y="1783080"/>
            <a:ext cx="1755648" cy="841248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1901952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observation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15184" y="1892808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18232B"/>
                </a:solidFill>
                <a:latin typeface="Arial"/>
              </a:rPr>
              <a:t>what changed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9632" y="1783080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99632" y="1783080"/>
            <a:ext cx="1755648" cy="841248"/>
          </a:xfrm>
          <a:prstGeom prst="rect">
            <a:avLst/>
          </a:prstGeom>
          <a:solidFill>
            <a:srgbClr val="F06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1901952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source_url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19872" y="1892808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18232B"/>
                </a:solidFill>
                <a:latin typeface="Arial"/>
              </a:rPr>
              <a:t>direct evidence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4944" y="2807208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4944" y="2807208"/>
            <a:ext cx="1755648" cy="841248"/>
          </a:xfrm>
          <a:prstGeom prst="rect">
            <a:avLst/>
          </a:prstGeom>
          <a:solidFill>
            <a:srgbClr val="EE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" y="2926080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published_at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15184" y="2916936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18232B"/>
                </a:solidFill>
                <a:latin typeface="Arial"/>
              </a:rPr>
              <a:t>source date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99632" y="2807208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99632" y="2807208"/>
            <a:ext cx="1755648" cy="841248"/>
          </a:xfrm>
          <a:prstGeom prst="rect">
            <a:avLst/>
          </a:prstGeom>
          <a:solidFill>
            <a:srgbClr val="3543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9360" y="2926080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captured_at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19872" y="2916936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18232B"/>
                </a:solidFill>
                <a:latin typeface="Arial"/>
              </a:rPr>
              <a:t>research date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94944" y="3831336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94944" y="3831336"/>
            <a:ext cx="1755648" cy="841248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4672" y="3950208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confidence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15184" y="3941064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18232B"/>
                </a:solidFill>
                <a:latin typeface="Arial"/>
              </a:rPr>
              <a:t>low | medium | high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99632" y="3831336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99632" y="3831336"/>
            <a:ext cx="1755648" cy="841248"/>
          </a:xfrm>
          <a:prstGeom prst="rect">
            <a:avLst/>
          </a:prstGeom>
          <a:solidFill>
            <a:srgbClr val="F06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09360" y="3950208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implication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19872" y="3941064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18232B"/>
                </a:solidFill>
                <a:latin typeface="Arial"/>
              </a:rPr>
              <a:t>bounded partner action</a:t>
            </a:r>
          </a:p>
        </p:txBody>
      </p:sp>
    </p:spTree>
  </p:cSld>
  <p:clrMapOvr>
    <a:masterClrMapping/>
  </p:clrMapOvr>
  <p:transition spd="fast">
    <p:fade/>
  </p:transition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71600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008F83"/>
                </a:solidFill>
                <a:latin typeface="Arial"/>
              </a:rPr>
              <a:t>CONCRETE CONTRACT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8232B"/>
                </a:solidFill>
                <a:latin typeface="Arial"/>
              </a:rPr>
              <a:t>Affiliate Content Brief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435608"/>
            <a:ext cx="10927080" cy="16459"/>
          </a:xfrm>
          <a:prstGeom prst="rect">
            <a:avLst/>
          </a:prstGeom>
          <a:solidFill>
            <a:srgbClr val="DD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33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" y="1783080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4944" y="1783080"/>
            <a:ext cx="1755648" cy="841248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1901952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audience_job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15184" y="1892808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18232B"/>
                </a:solidFill>
                <a:latin typeface="Arial"/>
              </a:rPr>
              <a:t>problem and context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9632" y="1783080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99632" y="1783080"/>
            <a:ext cx="1755648" cy="841248"/>
          </a:xfrm>
          <a:prstGeom prst="rect">
            <a:avLst/>
          </a:prstGeom>
          <a:solidFill>
            <a:srgbClr val="F06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1901952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offer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19872" y="1892808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18232B"/>
                </a:solidFill>
                <a:latin typeface="Arial"/>
              </a:rPr>
              <a:t>approved product version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4944" y="2807208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4944" y="2807208"/>
            <a:ext cx="1755648" cy="841248"/>
          </a:xfrm>
          <a:prstGeom prst="rect">
            <a:avLst/>
          </a:prstGeom>
          <a:solidFill>
            <a:srgbClr val="EE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" y="2926080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angle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15184" y="2916936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18232B"/>
                </a:solidFill>
                <a:latin typeface="Arial"/>
              </a:rPr>
              <a:t>one defensible promise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99632" y="2807208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99632" y="2807208"/>
            <a:ext cx="1755648" cy="841248"/>
          </a:xfrm>
          <a:prstGeom prst="rect">
            <a:avLst/>
          </a:prstGeom>
          <a:solidFill>
            <a:srgbClr val="3543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9360" y="2926080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proof_ids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19872" y="2916936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18232B"/>
                </a:solidFill>
                <a:latin typeface="Arial"/>
              </a:rPr>
              <a:t>sources for factual claims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94944" y="3831336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94944" y="3831336"/>
            <a:ext cx="1755648" cy="841248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4672" y="3950208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disclosure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15184" y="3941064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18232B"/>
                </a:solidFill>
                <a:latin typeface="Arial"/>
              </a:rPr>
              <a:t>clear affiliate relationship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99632" y="3831336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99632" y="3831336"/>
            <a:ext cx="1755648" cy="841248"/>
          </a:xfrm>
          <a:prstGeom prst="rect">
            <a:avLst/>
          </a:prstGeom>
          <a:solidFill>
            <a:srgbClr val="F06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09360" y="3950208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cta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19872" y="3941064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18232B"/>
                </a:solidFill>
                <a:latin typeface="Arial"/>
              </a:rPr>
              <a:t>one tracked next step</a:t>
            </a:r>
          </a:p>
        </p:txBody>
      </p:sp>
    </p:spTree>
  </p:cSld>
  <p:clrMapOvr>
    <a:masterClrMapping/>
  </p:clrMapOvr>
  <p:transition spd="fast">
    <p:fade/>
  </p:transition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71600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008F83"/>
                </a:solidFill>
                <a:latin typeface="Arial"/>
              </a:rPr>
              <a:t>CONCRETE CONTRACT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8232B"/>
                </a:solidFill>
                <a:latin typeface="Arial"/>
              </a:rPr>
              <a:t>Claude Skill Package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435608"/>
            <a:ext cx="10927080" cy="16459"/>
          </a:xfrm>
          <a:prstGeom prst="rect">
            <a:avLst/>
          </a:prstGeom>
          <a:solidFill>
            <a:srgbClr val="DD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34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" y="1783080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4944" y="1783080"/>
            <a:ext cx="1755648" cy="841248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1901952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SKILL.md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15184" y="1892808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18232B"/>
                </a:solidFill>
                <a:latin typeface="Arial"/>
              </a:rPr>
              <a:t>trigger and workflow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9632" y="1783080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99632" y="1783080"/>
            <a:ext cx="1755648" cy="841248"/>
          </a:xfrm>
          <a:prstGeom prst="rect">
            <a:avLst/>
          </a:prstGeom>
          <a:solidFill>
            <a:srgbClr val="F06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1901952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templates/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19872" y="1892808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18232B"/>
                </a:solidFill>
                <a:latin typeface="Arial"/>
              </a:rPr>
              <a:t>repeatable output shape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4944" y="2807208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4944" y="2807208"/>
            <a:ext cx="1755648" cy="841248"/>
          </a:xfrm>
          <a:prstGeom prst="rect">
            <a:avLst/>
          </a:prstGeom>
          <a:solidFill>
            <a:srgbClr val="EE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" y="2926080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references/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15184" y="2916936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18232B"/>
                </a:solidFill>
                <a:latin typeface="Arial"/>
              </a:rPr>
              <a:t>approved domain knowledge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99632" y="2807208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99632" y="2807208"/>
            <a:ext cx="1755648" cy="841248"/>
          </a:xfrm>
          <a:prstGeom prst="rect">
            <a:avLst/>
          </a:prstGeom>
          <a:solidFill>
            <a:srgbClr val="3543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9360" y="2926080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scripts/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19872" y="2916936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18232B"/>
                </a:solidFill>
                <a:latin typeface="Arial"/>
              </a:rPr>
              <a:t>deterministic checks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94944" y="3831336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94944" y="3831336"/>
            <a:ext cx="1755648" cy="841248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4672" y="3950208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examples/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15184" y="3941064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18232B"/>
                </a:solidFill>
                <a:latin typeface="Arial"/>
              </a:rPr>
              <a:t>quality baseline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99632" y="3831336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99632" y="3831336"/>
            <a:ext cx="1755648" cy="841248"/>
          </a:xfrm>
          <a:prstGeom prst="rect">
            <a:avLst/>
          </a:prstGeom>
          <a:solidFill>
            <a:srgbClr val="F06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09360" y="3950208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version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19872" y="3941064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18232B"/>
                </a:solidFill>
                <a:latin typeface="Arial"/>
              </a:rPr>
              <a:t>change and review history</a:t>
            </a:r>
          </a:p>
        </p:txBody>
      </p:sp>
    </p:spTree>
  </p:cSld>
  <p:clrMapOvr>
    <a:masterClrMapping/>
  </p:clrMapOvr>
  <p:transition spd="fast">
    <p:fade/>
  </p:transition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71600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008F83"/>
                </a:solidFill>
                <a:latin typeface="Arial"/>
              </a:rPr>
              <a:t>CONCRETE CONTRACT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8232B"/>
                </a:solidFill>
                <a:latin typeface="Arial"/>
              </a:rPr>
              <a:t>MCP Research Tool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435608"/>
            <a:ext cx="10927080" cy="16459"/>
          </a:xfrm>
          <a:prstGeom prst="rect">
            <a:avLst/>
          </a:prstGeom>
          <a:solidFill>
            <a:srgbClr val="DD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35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" y="1783080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4944" y="1783080"/>
            <a:ext cx="1755648" cy="841248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1901952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tool_name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15184" y="1892808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18232B"/>
                </a:solidFill>
                <a:latin typeface="Arial"/>
              </a:rPr>
              <a:t>intent-specific action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9632" y="1783080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99632" y="1783080"/>
            <a:ext cx="1755648" cy="841248"/>
          </a:xfrm>
          <a:prstGeom prst="rect">
            <a:avLst/>
          </a:prstGeom>
          <a:solidFill>
            <a:srgbClr val="F06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1901952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input_schema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19872" y="1892808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18232B"/>
                </a:solidFill>
                <a:latin typeface="Arial"/>
              </a:rPr>
              <a:t>allowed query fields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4944" y="2807208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4944" y="2807208"/>
            <a:ext cx="1755648" cy="841248"/>
          </a:xfrm>
          <a:prstGeom prst="rect">
            <a:avLst/>
          </a:prstGeom>
          <a:solidFill>
            <a:srgbClr val="EE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" y="2926080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permission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15184" y="2916936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18232B"/>
                </a:solidFill>
                <a:latin typeface="Arial"/>
              </a:rPr>
              <a:t>read-only by default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99632" y="2807208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99632" y="2807208"/>
            <a:ext cx="1755648" cy="841248"/>
          </a:xfrm>
          <a:prstGeom prst="rect">
            <a:avLst/>
          </a:prstGeom>
          <a:solidFill>
            <a:srgbClr val="3543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9360" y="2926080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output_schema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19872" y="2916936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18232B"/>
                </a:solidFill>
                <a:latin typeface="Arial"/>
              </a:rPr>
              <a:t>evidence and source IDs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94944" y="3831336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94944" y="3831336"/>
            <a:ext cx="1755648" cy="841248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4672" y="3950208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timeout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15184" y="3941064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18232B"/>
                </a:solidFill>
                <a:latin typeface="Arial"/>
              </a:rPr>
              <a:t>bounded execution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99632" y="3831336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99632" y="3831336"/>
            <a:ext cx="1755648" cy="841248"/>
          </a:xfrm>
          <a:prstGeom prst="rect">
            <a:avLst/>
          </a:prstGeom>
          <a:solidFill>
            <a:srgbClr val="F06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09360" y="3950208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audit_id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19872" y="3941064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18232B"/>
                </a:solidFill>
                <a:latin typeface="Arial"/>
              </a:rPr>
              <a:t>traceable invocation</a:t>
            </a:r>
          </a:p>
        </p:txBody>
      </p:sp>
    </p:spTree>
  </p:cSld>
  <p:clrMapOvr>
    <a:masterClrMapping/>
  </p:clrMapOvr>
  <p:transition spd="fast">
    <p:fade/>
  </p:transition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71600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008F83"/>
                </a:solidFill>
                <a:latin typeface="Arial"/>
              </a:rPr>
              <a:t>CONCRETE CONTRACT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8232B"/>
                </a:solidFill>
                <a:latin typeface="Arial"/>
              </a:rPr>
              <a:t>Product Change Record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435608"/>
            <a:ext cx="10927080" cy="16459"/>
          </a:xfrm>
          <a:prstGeom prst="rect">
            <a:avLst/>
          </a:prstGeom>
          <a:solidFill>
            <a:srgbClr val="DD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36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" y="1783080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4944" y="1783080"/>
            <a:ext cx="1755648" cy="841248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1901952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product_id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15184" y="1892808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18232B"/>
                </a:solidFill>
                <a:latin typeface="Arial"/>
              </a:rPr>
              <a:t>stable catalogue key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9632" y="1783080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99632" y="1783080"/>
            <a:ext cx="1755648" cy="841248"/>
          </a:xfrm>
          <a:prstGeom prst="rect">
            <a:avLst/>
          </a:prstGeom>
          <a:solidFill>
            <a:srgbClr val="F06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1901952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effective_at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19872" y="1892808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18232B"/>
                </a:solidFill>
                <a:latin typeface="Arial"/>
              </a:rPr>
              <a:t>when the change applies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4944" y="2807208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4944" y="2807208"/>
            <a:ext cx="1755648" cy="841248"/>
          </a:xfrm>
          <a:prstGeom prst="rect">
            <a:avLst/>
          </a:prstGeom>
          <a:solidFill>
            <a:srgbClr val="EE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" y="2926080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changed_fields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15184" y="2916936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18232B"/>
                </a:solidFill>
                <a:latin typeface="Arial"/>
              </a:rPr>
              <a:t>price, terms, feature or availability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99632" y="2807208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99632" y="2807208"/>
            <a:ext cx="1755648" cy="841248"/>
          </a:xfrm>
          <a:prstGeom prst="rect">
            <a:avLst/>
          </a:prstGeom>
          <a:solidFill>
            <a:srgbClr val="3543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9360" y="2926080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partner_impact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19872" y="2916936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18232B"/>
                </a:solidFill>
                <a:latin typeface="Arial"/>
              </a:rPr>
              <a:t>what affiliates must change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94944" y="3831336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94944" y="3831336"/>
            <a:ext cx="1755648" cy="841248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4672" y="3950208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assets_version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15184" y="3941064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18232B"/>
                </a:solidFill>
                <a:latin typeface="Arial"/>
              </a:rPr>
              <a:t>approved creative set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99632" y="3831336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99632" y="3831336"/>
            <a:ext cx="1755648" cy="841248"/>
          </a:xfrm>
          <a:prstGeom prst="rect">
            <a:avLst/>
          </a:prstGeom>
          <a:solidFill>
            <a:srgbClr val="F06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09360" y="3950208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owner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19872" y="3941064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18232B"/>
                </a:solidFill>
                <a:latin typeface="Arial"/>
              </a:rPr>
              <a:t>accountable approver</a:t>
            </a:r>
          </a:p>
        </p:txBody>
      </p:sp>
    </p:spTree>
  </p:cSld>
  <p:clrMapOvr>
    <a:masterClrMapping/>
  </p:clrMapOvr>
  <p:transition spd="fast">
    <p:fade/>
  </p:transition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71600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008F83"/>
                </a:solidFill>
                <a:latin typeface="Arial"/>
              </a:rPr>
              <a:t>CONCRETE CONTRACT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8232B"/>
                </a:solidFill>
                <a:latin typeface="Arial"/>
              </a:rPr>
              <a:t>Source Allow-List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435608"/>
            <a:ext cx="10927080" cy="16459"/>
          </a:xfrm>
          <a:prstGeom prst="rect">
            <a:avLst/>
          </a:prstGeom>
          <a:solidFill>
            <a:srgbClr val="DD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37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" y="1783080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4944" y="1783080"/>
            <a:ext cx="1755648" cy="841248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1901952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domain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15184" y="1892808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18232B"/>
                </a:solidFill>
                <a:latin typeface="Arial"/>
              </a:rPr>
              <a:t>approved source owner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9632" y="1783080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99632" y="1783080"/>
            <a:ext cx="1755648" cy="841248"/>
          </a:xfrm>
          <a:prstGeom prst="rect">
            <a:avLst/>
          </a:prstGeom>
          <a:solidFill>
            <a:srgbClr val="F06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1901952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source_type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19872" y="1892808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18232B"/>
                </a:solidFill>
                <a:latin typeface="Arial"/>
              </a:rPr>
              <a:t>product, policy, market or partner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4944" y="2807208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4944" y="2807208"/>
            <a:ext cx="1755648" cy="841248"/>
          </a:xfrm>
          <a:prstGeom prst="rect">
            <a:avLst/>
          </a:prstGeom>
          <a:solidFill>
            <a:srgbClr val="EE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" y="2926080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freshness_days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15184" y="2916936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18232B"/>
                </a:solidFill>
                <a:latin typeface="Arial"/>
              </a:rPr>
              <a:t>maximum acceptable age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99632" y="2807208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99632" y="2807208"/>
            <a:ext cx="1755648" cy="841248"/>
          </a:xfrm>
          <a:prstGeom prst="rect">
            <a:avLst/>
          </a:prstGeom>
          <a:solidFill>
            <a:srgbClr val="3543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9360" y="2926080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claims_allowed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19872" y="2916936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18232B"/>
                </a:solidFill>
                <a:latin typeface="Arial"/>
              </a:rPr>
              <a:t>supported statement classes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94944" y="3831336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94944" y="3831336"/>
            <a:ext cx="1755648" cy="841248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4672" y="3950208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pii_rule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15184" y="3941064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18232B"/>
                </a:solidFill>
                <a:latin typeface="Arial"/>
              </a:rPr>
              <a:t>data-handling boundary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99632" y="3831336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99632" y="3831336"/>
            <a:ext cx="1755648" cy="841248"/>
          </a:xfrm>
          <a:prstGeom prst="rect">
            <a:avLst/>
          </a:prstGeom>
          <a:solidFill>
            <a:srgbClr val="F06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09360" y="3950208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review_owner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19872" y="3941064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18232B"/>
                </a:solidFill>
                <a:latin typeface="Arial"/>
              </a:rPr>
              <a:t>human source steward</a:t>
            </a:r>
          </a:p>
        </p:txBody>
      </p:sp>
    </p:spTree>
  </p:cSld>
  <p:clrMapOvr>
    <a:masterClrMapping/>
  </p:clrMapOvr>
  <p:transition spd="fast">
    <p:fade/>
  </p:transition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71600"/>
          </a:xfrm>
          <a:prstGeom prst="rect">
            <a:avLst/>
          </a:prstGeom>
          <a:solidFill>
            <a:srgbClr val="EE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EEA900"/>
                </a:solidFill>
                <a:latin typeface="Arial"/>
              </a:rPr>
              <a:t>WORKED CALCULATION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8232B"/>
                </a:solidFill>
                <a:latin typeface="Arial"/>
              </a:rPr>
              <a:t>Earnings per Click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435608"/>
            <a:ext cx="10927080" cy="16459"/>
          </a:xfrm>
          <a:prstGeom prst="rect">
            <a:avLst/>
          </a:prstGeom>
          <a:solidFill>
            <a:srgbClr val="DD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38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28800"/>
            <a:ext cx="10744200" cy="114300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029968"/>
            <a:ext cx="10241280" cy="7315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18232B"/>
                </a:solidFill>
                <a:latin typeface="Arial"/>
              </a:rPr>
              <a:t>EPC = affiliate commission / unique tracked clicks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3246120"/>
            <a:ext cx="672084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493008"/>
            <a:ext cx="621792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008F83"/>
                </a:solidFill>
                <a:latin typeface="Arial"/>
              </a:rPr>
              <a:t>REALISTIC INPUTS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977639"/>
            <a:ext cx="6217920" cy="8686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8232B"/>
                </a:solidFill>
                <a:latin typeface="Arial"/>
              </a:rPr>
              <a:t>$1,260 commission / 4,200 clicks = $0.30 EPC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99248" y="3246120"/>
            <a:ext cx="3758184" cy="1920240"/>
          </a:xfrm>
          <a:prstGeom prst="roundRect">
            <a:avLst/>
          </a:prstGeom>
          <a:solidFill>
            <a:srgbClr val="FFF6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73568" y="3502152"/>
            <a:ext cx="324612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EEA900"/>
                </a:solidFill>
                <a:latin typeface="Arial"/>
              </a:rPr>
              <a:t>DECISION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73568" y="3913632"/>
            <a:ext cx="3246120" cy="9601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1">
                <a:solidFill>
                  <a:srgbClr val="18232B"/>
                </a:solidFill>
                <a:latin typeface="Arial"/>
              </a:rPr>
              <a:t>Compare offers only when the attribution window and traffic quality are comparable.</a:t>
            </a:r>
          </a:p>
        </p:txBody>
      </p:sp>
    </p:spTree>
  </p:cSld>
  <p:clrMapOvr>
    <a:masterClrMapping/>
  </p:clrMapOvr>
  <p:transition spd="fast">
    <p:fade/>
  </p:transition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71600"/>
          </a:xfrm>
          <a:prstGeom prst="rect">
            <a:avLst/>
          </a:prstGeom>
          <a:solidFill>
            <a:srgbClr val="EE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EEA900"/>
                </a:solidFill>
                <a:latin typeface="Arial"/>
              </a:rPr>
              <a:t>WORKED CALCULATION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8232B"/>
                </a:solidFill>
                <a:latin typeface="Arial"/>
              </a:rPr>
              <a:t>Conversion Rate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435608"/>
            <a:ext cx="10927080" cy="16459"/>
          </a:xfrm>
          <a:prstGeom prst="rect">
            <a:avLst/>
          </a:prstGeom>
          <a:solidFill>
            <a:srgbClr val="DD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39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28800"/>
            <a:ext cx="10744200" cy="114300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029968"/>
            <a:ext cx="10241280" cy="7315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18232B"/>
                </a:solidFill>
                <a:latin typeface="Arial"/>
              </a:rPr>
              <a:t>Conversion rate = approved conversions / unique clicks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3246120"/>
            <a:ext cx="672084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493008"/>
            <a:ext cx="621792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008F83"/>
                </a:solidFill>
                <a:latin typeface="Arial"/>
              </a:rPr>
              <a:t>REALISTIC INPUTS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977639"/>
            <a:ext cx="6217920" cy="8686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8232B"/>
                </a:solidFill>
                <a:latin typeface="Arial"/>
              </a:rPr>
              <a:t>168 approved orders / 4,200 clicks = 4.0%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99248" y="3246120"/>
            <a:ext cx="3758184" cy="1920240"/>
          </a:xfrm>
          <a:prstGeom prst="roundRect">
            <a:avLst/>
          </a:prstGeom>
          <a:solidFill>
            <a:srgbClr val="FFF6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73568" y="3502152"/>
            <a:ext cx="324612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EEA900"/>
                </a:solidFill>
                <a:latin typeface="Arial"/>
              </a:rPr>
              <a:t>DECISION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73568" y="3913632"/>
            <a:ext cx="3246120" cy="9601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1">
                <a:solidFill>
                  <a:srgbClr val="18232B"/>
                </a:solidFill>
                <a:latin typeface="Arial"/>
              </a:rPr>
              <a:t>Use approved conversions after cancellations, not raw checkout events.</a:t>
            </a:r>
          </a:p>
        </p:txBody>
      </p:sp>
    </p:spTree>
  </p:cSld>
  <p:clrMapOvr>
    <a:masterClrMapping/>
  </p:clrMapOvr>
  <p:transition spd="fast">
    <p:fade/>
  </p:transition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71600"/>
          </a:xfrm>
          <a:prstGeom prst="rect">
            <a:avLst/>
          </a:prstGeom>
          <a:solidFill>
            <a:srgbClr val="EE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EEA900"/>
                </a:solidFill>
                <a:latin typeface="Arial"/>
              </a:rPr>
              <a:t>WORKED CALCULATION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8232B"/>
                </a:solidFill>
                <a:latin typeface="Arial"/>
              </a:rPr>
              <a:t>Expected Commission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435608"/>
            <a:ext cx="10927080" cy="16459"/>
          </a:xfrm>
          <a:prstGeom prst="rect">
            <a:avLst/>
          </a:prstGeom>
          <a:solidFill>
            <a:srgbClr val="DD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40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28800"/>
            <a:ext cx="10744200" cy="114300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029968"/>
            <a:ext cx="10241280" cy="7315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18232B"/>
                </a:solidFill>
                <a:latin typeface="Arial"/>
              </a:rPr>
              <a:t>Expected commission = clicks x conversion rate x average order value x commission rate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3246120"/>
            <a:ext cx="672084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493008"/>
            <a:ext cx="621792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008F83"/>
                </a:solidFill>
                <a:latin typeface="Arial"/>
              </a:rPr>
              <a:t>REALISTIC INPUTS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977639"/>
            <a:ext cx="6217920" cy="8686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8232B"/>
                </a:solidFill>
                <a:latin typeface="Arial"/>
              </a:rPr>
              <a:t>5,000 x 3.2% x $140 x 12% = $2,688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99248" y="3246120"/>
            <a:ext cx="3758184" cy="1920240"/>
          </a:xfrm>
          <a:prstGeom prst="roundRect">
            <a:avLst/>
          </a:prstGeom>
          <a:solidFill>
            <a:srgbClr val="FFF6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73568" y="3502152"/>
            <a:ext cx="324612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EEA900"/>
                </a:solidFill>
                <a:latin typeface="Arial"/>
              </a:rPr>
              <a:t>DECISION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73568" y="3913632"/>
            <a:ext cx="3246120" cy="9601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1">
                <a:solidFill>
                  <a:srgbClr val="18232B"/>
                </a:solidFill>
                <a:latin typeface="Arial"/>
              </a:rPr>
              <a:t>Every assumption needs a source or a sensitivity range.</a:t>
            </a:r>
          </a:p>
        </p:txBody>
      </p:sp>
    </p:spTree>
  </p:cSld>
  <p:clrMapOvr>
    <a:masterClrMapping/>
  </p:clrMapOvr>
  <p:transition spd="fast">
    <p:fade/>
  </p:transition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71600"/>
          </a:xfrm>
          <a:prstGeom prst="rect">
            <a:avLst/>
          </a:prstGeom>
          <a:solidFill>
            <a:srgbClr val="EE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EEA900"/>
                </a:solidFill>
                <a:latin typeface="Arial"/>
              </a:rPr>
              <a:t>WORKED CALCULATION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8232B"/>
                </a:solidFill>
                <a:latin typeface="Arial"/>
              </a:rPr>
              <a:t>Break-Even CPC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435608"/>
            <a:ext cx="10927080" cy="16459"/>
          </a:xfrm>
          <a:prstGeom prst="rect">
            <a:avLst/>
          </a:prstGeom>
          <a:solidFill>
            <a:srgbClr val="DD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41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28800"/>
            <a:ext cx="10744200" cy="114300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029968"/>
            <a:ext cx="10241280" cy="7315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18232B"/>
                </a:solidFill>
                <a:latin typeface="Arial"/>
              </a:rPr>
              <a:t>Break-even CPC = conversion rate x order value x commission rate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3246120"/>
            <a:ext cx="672084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493008"/>
            <a:ext cx="621792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008F83"/>
                </a:solidFill>
                <a:latin typeface="Arial"/>
              </a:rPr>
              <a:t>REALISTIC INPUTS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977639"/>
            <a:ext cx="6217920" cy="8686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8232B"/>
                </a:solidFill>
                <a:latin typeface="Arial"/>
              </a:rPr>
              <a:t>0.032 x $140 x 0.12 = $0.5376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99248" y="3246120"/>
            <a:ext cx="3758184" cy="1920240"/>
          </a:xfrm>
          <a:prstGeom prst="roundRect">
            <a:avLst/>
          </a:prstGeom>
          <a:solidFill>
            <a:srgbClr val="FFF6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73568" y="3502152"/>
            <a:ext cx="324612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EEA900"/>
                </a:solidFill>
                <a:latin typeface="Arial"/>
              </a:rPr>
              <a:t>DECISION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73568" y="3913632"/>
            <a:ext cx="3246120" cy="9601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1">
                <a:solidFill>
                  <a:srgbClr val="18232B"/>
                </a:solidFill>
                <a:latin typeface="Arial"/>
              </a:rPr>
              <a:t>Paid traffic above $0.54 per click loses money before overhead and reversals.</a:t>
            </a:r>
          </a:p>
        </p:txBody>
      </p:sp>
    </p:spTree>
  </p:cSld>
  <p:clrMapOvr>
    <a:masterClrMapping/>
  </p:clrMapOvr>
  <p:transition spd="fast">
    <p:fade/>
  </p:transition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71600"/>
          </a:xfrm>
          <a:prstGeom prst="rect">
            <a:avLst/>
          </a:prstGeom>
          <a:solidFill>
            <a:srgbClr val="EE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EEA900"/>
                </a:solidFill>
                <a:latin typeface="Arial"/>
              </a:rPr>
              <a:t>WORKED CALCULATION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8232B"/>
                </a:solidFill>
                <a:latin typeface="Arial"/>
              </a:rPr>
              <a:t>Refund-Adjusted EPC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435608"/>
            <a:ext cx="10927080" cy="16459"/>
          </a:xfrm>
          <a:prstGeom prst="rect">
            <a:avLst/>
          </a:prstGeom>
          <a:solidFill>
            <a:srgbClr val="DD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42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28800"/>
            <a:ext cx="10744200" cy="114300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029968"/>
            <a:ext cx="10241280" cy="7315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18232B"/>
                </a:solidFill>
                <a:latin typeface="Arial"/>
              </a:rPr>
              <a:t>Adjusted EPC = gross commission x (1 - reversal rate) / unique clicks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3246120"/>
            <a:ext cx="672084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493008"/>
            <a:ext cx="621792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008F83"/>
                </a:solidFill>
                <a:latin typeface="Arial"/>
              </a:rPr>
              <a:t>REALISTIC INPUTS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977639"/>
            <a:ext cx="6217920" cy="8686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8232B"/>
                </a:solidFill>
                <a:latin typeface="Arial"/>
              </a:rPr>
              <a:t>$1,260 x 0.91 / 4,200 = $0.273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99248" y="3246120"/>
            <a:ext cx="3758184" cy="1920240"/>
          </a:xfrm>
          <a:prstGeom prst="roundRect">
            <a:avLst/>
          </a:prstGeom>
          <a:solidFill>
            <a:srgbClr val="FFF6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73568" y="3502152"/>
            <a:ext cx="324612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EEA900"/>
                </a:solidFill>
                <a:latin typeface="Arial"/>
              </a:rPr>
              <a:t>DECISION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73568" y="3913632"/>
            <a:ext cx="3246120" cy="9601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1">
                <a:solidFill>
                  <a:srgbClr val="18232B"/>
                </a:solidFill>
                <a:latin typeface="Arial"/>
              </a:rPr>
              <a:t>A high headline commission can hide costly reversals.</a:t>
            </a:r>
          </a:p>
        </p:txBody>
      </p:sp>
    </p:spTree>
  </p:cSld>
  <p:clrMapOvr>
    <a:masterClrMapping/>
  </p:clrMapOvr>
  <p:transition spd="fast">
    <p:fade/>
  </p:transition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71600"/>
          </a:xfrm>
          <a:prstGeom prst="rect">
            <a:avLst/>
          </a:prstGeom>
          <a:solidFill>
            <a:srgbClr val="EE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EEA900"/>
                </a:solidFill>
                <a:latin typeface="Arial"/>
              </a:rPr>
              <a:t>WORKED CALCULATION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8232B"/>
                </a:solidFill>
                <a:latin typeface="Arial"/>
              </a:rPr>
              <a:t>Content Payback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435608"/>
            <a:ext cx="10927080" cy="16459"/>
          </a:xfrm>
          <a:prstGeom prst="rect">
            <a:avLst/>
          </a:prstGeom>
          <a:solidFill>
            <a:srgbClr val="DD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43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28800"/>
            <a:ext cx="10744200" cy="114300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029968"/>
            <a:ext cx="10241280" cy="7315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18232B"/>
                </a:solidFill>
                <a:latin typeface="Arial"/>
              </a:rPr>
              <a:t>Payback clicks = content cost / expected EPC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3246120"/>
            <a:ext cx="672084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493008"/>
            <a:ext cx="621792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008F83"/>
                </a:solidFill>
                <a:latin typeface="Arial"/>
              </a:rPr>
              <a:t>REALISTIC INPUTS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977639"/>
            <a:ext cx="6217920" cy="8686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8232B"/>
                </a:solidFill>
                <a:latin typeface="Arial"/>
              </a:rPr>
              <a:t>$900 article / $0.30 EPC = 3,000 clicks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99248" y="3246120"/>
            <a:ext cx="3758184" cy="1920240"/>
          </a:xfrm>
          <a:prstGeom prst="roundRect">
            <a:avLst/>
          </a:prstGeom>
          <a:solidFill>
            <a:srgbClr val="FFF6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73568" y="3502152"/>
            <a:ext cx="324612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EEA900"/>
                </a:solidFill>
                <a:latin typeface="Arial"/>
              </a:rPr>
              <a:t>DECISION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73568" y="3913632"/>
            <a:ext cx="3246120" cy="9601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1">
                <a:solidFill>
                  <a:srgbClr val="18232B"/>
                </a:solidFill>
                <a:latin typeface="Arial"/>
              </a:rPr>
              <a:t>Use incremental qualified clicks, not page views, for payback.</a:t>
            </a:r>
          </a:p>
        </p:txBody>
      </p:sp>
    </p:spTree>
  </p:cSld>
  <p:clrMapOvr>
    <a:masterClrMapping/>
  </p:clrMapOvr>
  <p:transition spd="fast">
    <p:fade/>
  </p:transition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71600"/>
          </a:xfrm>
          <a:prstGeom prst="rect">
            <a:avLst/>
          </a:prstGeom>
          <a:solidFill>
            <a:srgbClr val="EE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EEA900"/>
                </a:solidFill>
                <a:latin typeface="Arial"/>
              </a:rPr>
              <a:t>WORKED CALCULATION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8232B"/>
                </a:solidFill>
                <a:latin typeface="Arial"/>
              </a:rPr>
              <a:t>Trend Priority Score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435608"/>
            <a:ext cx="10927080" cy="16459"/>
          </a:xfrm>
          <a:prstGeom prst="rect">
            <a:avLst/>
          </a:prstGeom>
          <a:solidFill>
            <a:srgbClr val="DD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44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28800"/>
            <a:ext cx="10744200" cy="114300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029968"/>
            <a:ext cx="10241280" cy="7315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18232B"/>
                </a:solidFill>
                <a:latin typeface="Arial"/>
              </a:rPr>
              <a:t>Priority = relevance x confidence x urgency / effort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3246120"/>
            <a:ext cx="672084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493008"/>
            <a:ext cx="621792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008F83"/>
                </a:solidFill>
                <a:latin typeface="Arial"/>
              </a:rPr>
              <a:t>REALISTIC INPUTS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977639"/>
            <a:ext cx="6217920" cy="8686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8232B"/>
                </a:solidFill>
                <a:latin typeface="Arial"/>
              </a:rPr>
              <a:t>4 x 3 x 4 / 2 = 24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99248" y="3246120"/>
            <a:ext cx="3758184" cy="1920240"/>
          </a:xfrm>
          <a:prstGeom prst="roundRect">
            <a:avLst/>
          </a:prstGeom>
          <a:solidFill>
            <a:srgbClr val="FFF6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73568" y="3502152"/>
            <a:ext cx="324612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EEA900"/>
                </a:solidFill>
                <a:latin typeface="Arial"/>
              </a:rPr>
              <a:t>DECISION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73568" y="3913632"/>
            <a:ext cx="3246120" cy="9601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1">
                <a:solidFill>
                  <a:srgbClr val="18232B"/>
                </a:solidFill>
                <a:latin typeface="Arial"/>
              </a:rPr>
              <a:t>The score ranks research follow-up; it does not make a claim true.</a:t>
            </a:r>
          </a:p>
        </p:txBody>
      </p:sp>
    </p:spTree>
  </p:cSld>
  <p:clrMapOvr>
    <a:masterClrMapping/>
  </p:clrMapOvr>
  <p:transition spd="fast">
    <p:fade/>
  </p:transition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71600"/>
          </a:xfrm>
          <a:prstGeom prst="rect">
            <a:avLst/>
          </a:prstGeom>
          <a:solidFill>
            <a:srgbClr val="F06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0674A"/>
                </a:solidFill>
                <a:latin typeface="Arial"/>
              </a:rPr>
              <a:t>COMPARE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8232B"/>
                </a:solidFill>
                <a:latin typeface="Arial"/>
              </a:rPr>
              <a:t>CPS, CPA and CPL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435608"/>
            <a:ext cx="10927080" cy="16459"/>
          </a:xfrm>
          <a:prstGeom prst="rect">
            <a:avLst/>
          </a:prstGeom>
          <a:solidFill>
            <a:srgbClr val="DD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45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783080"/>
            <a:ext cx="5257800" cy="4315968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783080"/>
            <a:ext cx="5257800" cy="109728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2029968"/>
            <a:ext cx="470916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008F83"/>
                </a:solidFill>
                <a:latin typeface="Arial"/>
              </a:rPr>
              <a:t>Revenue-linked</a:t>
            </a:r>
          </a:p>
        </p:txBody>
      </p:sp>
      <p:sp>
        <p:nvSpPr>
          <p:cNvPr id="13" name="Oval 12"/>
          <p:cNvSpPr/>
          <p:nvPr/>
        </p:nvSpPr>
        <p:spPr>
          <a:xfrm>
            <a:off x="950976" y="2743200"/>
            <a:ext cx="365760" cy="365760"/>
          </a:xfrm>
          <a:prstGeom prst="ellipse">
            <a:avLst/>
          </a:prstGeom>
          <a:solidFill>
            <a:srgbClr val="00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0976" y="274320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1328" y="267919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8232B"/>
                </a:solidFill>
                <a:latin typeface="Arial"/>
              </a:rPr>
              <a:t>CPS pays after approved sale</a:t>
            </a:r>
          </a:p>
        </p:txBody>
      </p:sp>
      <p:sp>
        <p:nvSpPr>
          <p:cNvPr id="16" name="Oval 15"/>
          <p:cNvSpPr/>
          <p:nvPr/>
        </p:nvSpPr>
        <p:spPr>
          <a:xfrm>
            <a:off x="950976" y="3566160"/>
            <a:ext cx="365760" cy="365760"/>
          </a:xfrm>
          <a:prstGeom prst="ellipse">
            <a:avLst/>
          </a:prstGeom>
          <a:solidFill>
            <a:srgbClr val="00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0976" y="356616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1328" y="350215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8232B"/>
                </a:solidFill>
                <a:latin typeface="Arial"/>
              </a:rPr>
              <a:t>Aligns with merchant revenue</a:t>
            </a:r>
          </a:p>
        </p:txBody>
      </p:sp>
      <p:sp>
        <p:nvSpPr>
          <p:cNvPr id="19" name="Oval 18"/>
          <p:cNvSpPr/>
          <p:nvPr/>
        </p:nvSpPr>
        <p:spPr>
          <a:xfrm>
            <a:off x="950976" y="4389120"/>
            <a:ext cx="365760" cy="365760"/>
          </a:xfrm>
          <a:prstGeom prst="ellipse">
            <a:avLst/>
          </a:prstGeom>
          <a:solidFill>
            <a:srgbClr val="00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976" y="438912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81328" y="432511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8232B"/>
                </a:solidFill>
                <a:latin typeface="Arial"/>
              </a:rPr>
              <a:t>Sensitive to refunds and attribution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1783080"/>
            <a:ext cx="5257800" cy="4315968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63640" y="1783080"/>
            <a:ext cx="5257800" cy="109728"/>
          </a:xfrm>
          <a:prstGeom prst="rect">
            <a:avLst/>
          </a:prstGeom>
          <a:solidFill>
            <a:srgbClr val="F06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37960" y="2029968"/>
            <a:ext cx="470916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F0674A"/>
                </a:solidFill>
                <a:latin typeface="Arial"/>
              </a:rPr>
              <a:t>Action-linked</a:t>
            </a:r>
          </a:p>
        </p:txBody>
      </p:sp>
      <p:sp>
        <p:nvSpPr>
          <p:cNvPr id="25" name="Oval 24"/>
          <p:cNvSpPr/>
          <p:nvPr/>
        </p:nvSpPr>
        <p:spPr>
          <a:xfrm>
            <a:off x="6556248" y="2743200"/>
            <a:ext cx="365760" cy="365760"/>
          </a:xfrm>
          <a:prstGeom prst="ellipse">
            <a:avLst/>
          </a:prstGeom>
          <a:solidFill>
            <a:srgbClr val="F06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56248" y="274320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86600" y="267919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8232B"/>
                </a:solidFill>
                <a:latin typeface="Arial"/>
              </a:rPr>
              <a:t>CPA/CPL pays for defined action</a:t>
            </a:r>
          </a:p>
        </p:txBody>
      </p:sp>
      <p:sp>
        <p:nvSpPr>
          <p:cNvPr id="28" name="Oval 27"/>
          <p:cNvSpPr/>
          <p:nvPr/>
        </p:nvSpPr>
        <p:spPr>
          <a:xfrm>
            <a:off x="6556248" y="3566160"/>
            <a:ext cx="365760" cy="365760"/>
          </a:xfrm>
          <a:prstGeom prst="ellipse">
            <a:avLst/>
          </a:prstGeom>
          <a:solidFill>
            <a:srgbClr val="F06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56248" y="356616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86600" y="350215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8232B"/>
                </a:solidFill>
                <a:latin typeface="Arial"/>
              </a:rPr>
              <a:t>Faster feedback</a:t>
            </a:r>
          </a:p>
        </p:txBody>
      </p:sp>
      <p:sp>
        <p:nvSpPr>
          <p:cNvPr id="31" name="Oval 30"/>
          <p:cNvSpPr/>
          <p:nvPr/>
        </p:nvSpPr>
        <p:spPr>
          <a:xfrm>
            <a:off x="6556248" y="4389120"/>
            <a:ext cx="365760" cy="365760"/>
          </a:xfrm>
          <a:prstGeom prst="ellipse">
            <a:avLst/>
          </a:prstGeom>
          <a:solidFill>
            <a:srgbClr val="F06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56248" y="438912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86600" y="432511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8232B"/>
                </a:solidFill>
                <a:latin typeface="Arial"/>
              </a:rPr>
              <a:t>Needs strict quality validation</a:t>
            </a:r>
          </a:p>
        </p:txBody>
      </p:sp>
    </p:spTree>
  </p:cSld>
  <p:clrMapOvr>
    <a:masterClrMapping/>
  </p:clrMapOvr>
  <p:transition spd="fast">
    <p:fade/>
  </p:transition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71600"/>
          </a:xfrm>
          <a:prstGeom prst="rect">
            <a:avLst/>
          </a:prstGeom>
          <a:solidFill>
            <a:srgbClr val="F06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0674A"/>
                </a:solidFill>
                <a:latin typeface="Arial"/>
              </a:rPr>
              <a:t>COMPARE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8232B"/>
                </a:solidFill>
                <a:latin typeface="Arial"/>
              </a:rPr>
              <a:t>Recurring vs One-Time Commission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435608"/>
            <a:ext cx="10927080" cy="16459"/>
          </a:xfrm>
          <a:prstGeom prst="rect">
            <a:avLst/>
          </a:prstGeom>
          <a:solidFill>
            <a:srgbClr val="DD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46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783080"/>
            <a:ext cx="5257800" cy="4315968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783080"/>
            <a:ext cx="5257800" cy="109728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2029968"/>
            <a:ext cx="470916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008F83"/>
                </a:solidFill>
                <a:latin typeface="Arial"/>
              </a:rPr>
              <a:t>Recurring</a:t>
            </a:r>
          </a:p>
        </p:txBody>
      </p:sp>
      <p:sp>
        <p:nvSpPr>
          <p:cNvPr id="13" name="Oval 12"/>
          <p:cNvSpPr/>
          <p:nvPr/>
        </p:nvSpPr>
        <p:spPr>
          <a:xfrm>
            <a:off x="950976" y="2743200"/>
            <a:ext cx="365760" cy="365760"/>
          </a:xfrm>
          <a:prstGeom prst="ellipse">
            <a:avLst/>
          </a:prstGeom>
          <a:solidFill>
            <a:srgbClr val="00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0976" y="274320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1328" y="267919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8232B"/>
                </a:solidFill>
                <a:latin typeface="Arial"/>
              </a:rPr>
              <a:t>Rewards retained subscriptions</a:t>
            </a:r>
          </a:p>
        </p:txBody>
      </p:sp>
      <p:sp>
        <p:nvSpPr>
          <p:cNvPr id="16" name="Oval 15"/>
          <p:cNvSpPr/>
          <p:nvPr/>
        </p:nvSpPr>
        <p:spPr>
          <a:xfrm>
            <a:off x="950976" y="3566160"/>
            <a:ext cx="365760" cy="365760"/>
          </a:xfrm>
          <a:prstGeom prst="ellipse">
            <a:avLst/>
          </a:prstGeom>
          <a:solidFill>
            <a:srgbClr val="00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0976" y="356616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1328" y="350215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8232B"/>
                </a:solidFill>
                <a:latin typeface="Arial"/>
              </a:rPr>
              <a:t>Requires churn and cohort view</a:t>
            </a:r>
          </a:p>
        </p:txBody>
      </p:sp>
      <p:sp>
        <p:nvSpPr>
          <p:cNvPr id="19" name="Oval 18"/>
          <p:cNvSpPr/>
          <p:nvPr/>
        </p:nvSpPr>
        <p:spPr>
          <a:xfrm>
            <a:off x="950976" y="4389120"/>
            <a:ext cx="365760" cy="365760"/>
          </a:xfrm>
          <a:prstGeom prst="ellipse">
            <a:avLst/>
          </a:prstGeom>
          <a:solidFill>
            <a:srgbClr val="00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976" y="438912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81328" y="432511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8232B"/>
                </a:solidFill>
                <a:latin typeface="Arial"/>
              </a:rPr>
              <a:t>Longer earnings tail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1783080"/>
            <a:ext cx="5257800" cy="4315968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63640" y="1783080"/>
            <a:ext cx="5257800" cy="109728"/>
          </a:xfrm>
          <a:prstGeom prst="rect">
            <a:avLst/>
          </a:prstGeom>
          <a:solidFill>
            <a:srgbClr val="F06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37960" y="2029968"/>
            <a:ext cx="470916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F0674A"/>
                </a:solidFill>
                <a:latin typeface="Arial"/>
              </a:rPr>
              <a:t>One-time</a:t>
            </a:r>
          </a:p>
        </p:txBody>
      </p:sp>
      <p:sp>
        <p:nvSpPr>
          <p:cNvPr id="25" name="Oval 24"/>
          <p:cNvSpPr/>
          <p:nvPr/>
        </p:nvSpPr>
        <p:spPr>
          <a:xfrm>
            <a:off x="6556248" y="2743200"/>
            <a:ext cx="365760" cy="365760"/>
          </a:xfrm>
          <a:prstGeom prst="ellipse">
            <a:avLst/>
          </a:prstGeom>
          <a:solidFill>
            <a:srgbClr val="F06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56248" y="274320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86600" y="267919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8232B"/>
                </a:solidFill>
                <a:latin typeface="Arial"/>
              </a:rPr>
              <a:t>Simple settlement</a:t>
            </a:r>
          </a:p>
        </p:txBody>
      </p:sp>
      <p:sp>
        <p:nvSpPr>
          <p:cNvPr id="28" name="Oval 27"/>
          <p:cNvSpPr/>
          <p:nvPr/>
        </p:nvSpPr>
        <p:spPr>
          <a:xfrm>
            <a:off x="6556248" y="3566160"/>
            <a:ext cx="365760" cy="365760"/>
          </a:xfrm>
          <a:prstGeom prst="ellipse">
            <a:avLst/>
          </a:prstGeom>
          <a:solidFill>
            <a:srgbClr val="F06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56248" y="356616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86600" y="350215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8232B"/>
                </a:solidFill>
                <a:latin typeface="Arial"/>
              </a:rPr>
              <a:t>Fast payback read</a:t>
            </a:r>
          </a:p>
        </p:txBody>
      </p:sp>
      <p:sp>
        <p:nvSpPr>
          <p:cNvPr id="31" name="Oval 30"/>
          <p:cNvSpPr/>
          <p:nvPr/>
        </p:nvSpPr>
        <p:spPr>
          <a:xfrm>
            <a:off x="6556248" y="4389120"/>
            <a:ext cx="365760" cy="365760"/>
          </a:xfrm>
          <a:prstGeom prst="ellipse">
            <a:avLst/>
          </a:prstGeom>
          <a:solidFill>
            <a:srgbClr val="F06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56248" y="438912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86600" y="432511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8232B"/>
                </a:solidFill>
                <a:latin typeface="Arial"/>
              </a:rPr>
              <a:t>Can favour short-term acquisition</a:t>
            </a:r>
          </a:p>
        </p:txBody>
      </p:sp>
    </p:spTree>
  </p:cSld>
  <p:clrMapOvr>
    <a:masterClrMapping/>
  </p:clrMapOvr>
  <p:transition spd="fast">
    <p:fade/>
  </p:transition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71600"/>
          </a:xfrm>
          <a:prstGeom prst="rect">
            <a:avLst/>
          </a:prstGeom>
          <a:solidFill>
            <a:srgbClr val="F06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0674A"/>
                </a:solidFill>
                <a:latin typeface="Arial"/>
              </a:rPr>
              <a:t>COMPARE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8232B"/>
                </a:solidFill>
                <a:latin typeface="Arial"/>
              </a:rPr>
              <a:t>Broad Category vs Narrow Niche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435608"/>
            <a:ext cx="10927080" cy="16459"/>
          </a:xfrm>
          <a:prstGeom prst="rect">
            <a:avLst/>
          </a:prstGeom>
          <a:solidFill>
            <a:srgbClr val="DD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47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783080"/>
            <a:ext cx="5257800" cy="4315968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783080"/>
            <a:ext cx="5257800" cy="109728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2029968"/>
            <a:ext cx="470916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008F83"/>
                </a:solidFill>
                <a:latin typeface="Arial"/>
              </a:rPr>
              <a:t>Broad</a:t>
            </a:r>
          </a:p>
        </p:txBody>
      </p:sp>
      <p:sp>
        <p:nvSpPr>
          <p:cNvPr id="13" name="Oval 12"/>
          <p:cNvSpPr/>
          <p:nvPr/>
        </p:nvSpPr>
        <p:spPr>
          <a:xfrm>
            <a:off x="950976" y="2743200"/>
            <a:ext cx="365760" cy="365760"/>
          </a:xfrm>
          <a:prstGeom prst="ellipse">
            <a:avLst/>
          </a:prstGeom>
          <a:solidFill>
            <a:srgbClr val="00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0976" y="274320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1328" y="267919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8232B"/>
                </a:solidFill>
                <a:latin typeface="Arial"/>
              </a:rPr>
              <a:t>Larger possible reach</a:t>
            </a:r>
          </a:p>
        </p:txBody>
      </p:sp>
      <p:sp>
        <p:nvSpPr>
          <p:cNvPr id="16" name="Oval 15"/>
          <p:cNvSpPr/>
          <p:nvPr/>
        </p:nvSpPr>
        <p:spPr>
          <a:xfrm>
            <a:off x="950976" y="3566160"/>
            <a:ext cx="365760" cy="365760"/>
          </a:xfrm>
          <a:prstGeom prst="ellipse">
            <a:avLst/>
          </a:prstGeom>
          <a:solidFill>
            <a:srgbClr val="00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0976" y="356616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1328" y="350215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8232B"/>
                </a:solidFill>
                <a:latin typeface="Arial"/>
              </a:rPr>
              <a:t>More content competition</a:t>
            </a:r>
          </a:p>
        </p:txBody>
      </p:sp>
      <p:sp>
        <p:nvSpPr>
          <p:cNvPr id="19" name="Oval 18"/>
          <p:cNvSpPr/>
          <p:nvPr/>
        </p:nvSpPr>
        <p:spPr>
          <a:xfrm>
            <a:off x="950976" y="4389120"/>
            <a:ext cx="365760" cy="365760"/>
          </a:xfrm>
          <a:prstGeom prst="ellipse">
            <a:avLst/>
          </a:prstGeom>
          <a:solidFill>
            <a:srgbClr val="00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976" y="438912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81328" y="432511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8232B"/>
                </a:solidFill>
                <a:latin typeface="Arial"/>
              </a:rPr>
              <a:t>Weaker audience specificity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1783080"/>
            <a:ext cx="5257800" cy="4315968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63640" y="1783080"/>
            <a:ext cx="5257800" cy="109728"/>
          </a:xfrm>
          <a:prstGeom prst="rect">
            <a:avLst/>
          </a:prstGeom>
          <a:solidFill>
            <a:srgbClr val="F06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37960" y="2029968"/>
            <a:ext cx="470916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F0674A"/>
                </a:solidFill>
                <a:latin typeface="Arial"/>
              </a:rPr>
              <a:t>Narrow</a:t>
            </a:r>
          </a:p>
        </p:txBody>
      </p:sp>
      <p:sp>
        <p:nvSpPr>
          <p:cNvPr id="25" name="Oval 24"/>
          <p:cNvSpPr/>
          <p:nvPr/>
        </p:nvSpPr>
        <p:spPr>
          <a:xfrm>
            <a:off x="6556248" y="2743200"/>
            <a:ext cx="365760" cy="365760"/>
          </a:xfrm>
          <a:prstGeom prst="ellipse">
            <a:avLst/>
          </a:prstGeom>
          <a:solidFill>
            <a:srgbClr val="F06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56248" y="274320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86600" y="267919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8232B"/>
                </a:solidFill>
                <a:latin typeface="Arial"/>
              </a:rPr>
              <a:t>Clearer expertise and intent</a:t>
            </a:r>
          </a:p>
        </p:txBody>
      </p:sp>
      <p:sp>
        <p:nvSpPr>
          <p:cNvPr id="28" name="Oval 27"/>
          <p:cNvSpPr/>
          <p:nvPr/>
        </p:nvSpPr>
        <p:spPr>
          <a:xfrm>
            <a:off x="6556248" y="3566160"/>
            <a:ext cx="365760" cy="365760"/>
          </a:xfrm>
          <a:prstGeom prst="ellipse">
            <a:avLst/>
          </a:prstGeom>
          <a:solidFill>
            <a:srgbClr val="F06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56248" y="356616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86600" y="350215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8232B"/>
                </a:solidFill>
                <a:latin typeface="Arial"/>
              </a:rPr>
              <a:t>Smaller reachable market</a:t>
            </a:r>
          </a:p>
        </p:txBody>
      </p:sp>
      <p:sp>
        <p:nvSpPr>
          <p:cNvPr id="31" name="Oval 30"/>
          <p:cNvSpPr/>
          <p:nvPr/>
        </p:nvSpPr>
        <p:spPr>
          <a:xfrm>
            <a:off x="6556248" y="4389120"/>
            <a:ext cx="365760" cy="365760"/>
          </a:xfrm>
          <a:prstGeom prst="ellipse">
            <a:avLst/>
          </a:prstGeom>
          <a:solidFill>
            <a:srgbClr val="F06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56248" y="438912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86600" y="432511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8232B"/>
                </a:solidFill>
                <a:latin typeface="Arial"/>
              </a:rPr>
              <a:t>Often stronger conversion quality</a:t>
            </a:r>
          </a:p>
        </p:txBody>
      </p:sp>
    </p:spTree>
  </p:cSld>
  <p:clrMapOvr>
    <a:masterClrMapping/>
  </p:clrMapOvr>
  <p:transition spd="fast">
    <p:fade/>
  </p:transition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71600"/>
          </a:xfrm>
          <a:prstGeom prst="rect">
            <a:avLst/>
          </a:prstGeom>
          <a:solidFill>
            <a:srgbClr val="F06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0674A"/>
                </a:solidFill>
                <a:latin typeface="Arial"/>
              </a:rPr>
              <a:t>COMPARE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8232B"/>
                </a:solidFill>
                <a:latin typeface="Arial"/>
              </a:rPr>
              <a:t>Review Article vs Comparison Page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435608"/>
            <a:ext cx="10927080" cy="16459"/>
          </a:xfrm>
          <a:prstGeom prst="rect">
            <a:avLst/>
          </a:prstGeom>
          <a:solidFill>
            <a:srgbClr val="DD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48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783080"/>
            <a:ext cx="5257800" cy="4315968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783080"/>
            <a:ext cx="5257800" cy="109728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2029968"/>
            <a:ext cx="470916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008F83"/>
                </a:solidFill>
                <a:latin typeface="Arial"/>
              </a:rPr>
              <a:t>Review</a:t>
            </a:r>
          </a:p>
        </p:txBody>
      </p:sp>
      <p:sp>
        <p:nvSpPr>
          <p:cNvPr id="13" name="Oval 12"/>
          <p:cNvSpPr/>
          <p:nvPr/>
        </p:nvSpPr>
        <p:spPr>
          <a:xfrm>
            <a:off x="950976" y="2743200"/>
            <a:ext cx="365760" cy="365760"/>
          </a:xfrm>
          <a:prstGeom prst="ellipse">
            <a:avLst/>
          </a:prstGeom>
          <a:solidFill>
            <a:srgbClr val="00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0976" y="274320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1328" y="267919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8232B"/>
                </a:solidFill>
                <a:latin typeface="Arial"/>
              </a:rPr>
              <a:t>Deep single-offer evidence</a:t>
            </a:r>
          </a:p>
        </p:txBody>
      </p:sp>
      <p:sp>
        <p:nvSpPr>
          <p:cNvPr id="16" name="Oval 15"/>
          <p:cNvSpPr/>
          <p:nvPr/>
        </p:nvSpPr>
        <p:spPr>
          <a:xfrm>
            <a:off x="950976" y="3566160"/>
            <a:ext cx="365760" cy="365760"/>
          </a:xfrm>
          <a:prstGeom prst="ellipse">
            <a:avLst/>
          </a:prstGeom>
          <a:solidFill>
            <a:srgbClr val="00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0976" y="356616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1328" y="350215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8232B"/>
                </a:solidFill>
                <a:latin typeface="Arial"/>
              </a:rPr>
              <a:t>Supports high-intent query</a:t>
            </a:r>
          </a:p>
        </p:txBody>
      </p:sp>
      <p:sp>
        <p:nvSpPr>
          <p:cNvPr id="19" name="Oval 18"/>
          <p:cNvSpPr/>
          <p:nvPr/>
        </p:nvSpPr>
        <p:spPr>
          <a:xfrm>
            <a:off x="950976" y="4389120"/>
            <a:ext cx="365760" cy="365760"/>
          </a:xfrm>
          <a:prstGeom prst="ellipse">
            <a:avLst/>
          </a:prstGeom>
          <a:solidFill>
            <a:srgbClr val="00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976" y="438912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81328" y="432511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8232B"/>
                </a:solidFill>
                <a:latin typeface="Arial"/>
              </a:rPr>
              <a:t>Must disclose limitations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1783080"/>
            <a:ext cx="5257800" cy="4315968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63640" y="1783080"/>
            <a:ext cx="5257800" cy="109728"/>
          </a:xfrm>
          <a:prstGeom prst="rect">
            <a:avLst/>
          </a:prstGeom>
          <a:solidFill>
            <a:srgbClr val="F06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37960" y="2029968"/>
            <a:ext cx="470916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F0674A"/>
                </a:solidFill>
                <a:latin typeface="Arial"/>
              </a:rPr>
              <a:t>Comparison</a:t>
            </a:r>
          </a:p>
        </p:txBody>
      </p:sp>
      <p:sp>
        <p:nvSpPr>
          <p:cNvPr id="25" name="Oval 24"/>
          <p:cNvSpPr/>
          <p:nvPr/>
        </p:nvSpPr>
        <p:spPr>
          <a:xfrm>
            <a:off x="6556248" y="2743200"/>
            <a:ext cx="365760" cy="365760"/>
          </a:xfrm>
          <a:prstGeom prst="ellipse">
            <a:avLst/>
          </a:prstGeom>
          <a:solidFill>
            <a:srgbClr val="F06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56248" y="274320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86600" y="267919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8232B"/>
                </a:solidFill>
                <a:latin typeface="Arial"/>
              </a:rPr>
              <a:t>Makes criteria explicit</a:t>
            </a:r>
          </a:p>
        </p:txBody>
      </p:sp>
      <p:sp>
        <p:nvSpPr>
          <p:cNvPr id="28" name="Oval 27"/>
          <p:cNvSpPr/>
          <p:nvPr/>
        </p:nvSpPr>
        <p:spPr>
          <a:xfrm>
            <a:off x="6556248" y="3566160"/>
            <a:ext cx="365760" cy="365760"/>
          </a:xfrm>
          <a:prstGeom prst="ellipse">
            <a:avLst/>
          </a:prstGeom>
          <a:solidFill>
            <a:srgbClr val="F06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56248" y="356616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86600" y="350215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8232B"/>
                </a:solidFill>
                <a:latin typeface="Arial"/>
              </a:rPr>
              <a:t>Supports choice among offers</a:t>
            </a:r>
          </a:p>
        </p:txBody>
      </p:sp>
      <p:sp>
        <p:nvSpPr>
          <p:cNvPr id="31" name="Oval 30"/>
          <p:cNvSpPr/>
          <p:nvPr/>
        </p:nvSpPr>
        <p:spPr>
          <a:xfrm>
            <a:off x="6556248" y="4389120"/>
            <a:ext cx="365760" cy="365760"/>
          </a:xfrm>
          <a:prstGeom prst="ellipse">
            <a:avLst/>
          </a:prstGeom>
          <a:solidFill>
            <a:srgbClr val="F06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56248" y="438912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86600" y="432511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8232B"/>
                </a:solidFill>
                <a:latin typeface="Arial"/>
              </a:rPr>
              <a:t>Needs fair and current data</a:t>
            </a:r>
          </a:p>
        </p:txBody>
      </p:sp>
    </p:spTree>
  </p:cSld>
  <p:clrMapOvr>
    <a:masterClrMapping/>
  </p:clrMapOvr>
  <p:transition spd="fast">
    <p:fade/>
  </p:transition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71600"/>
          </a:xfrm>
          <a:prstGeom prst="rect">
            <a:avLst/>
          </a:prstGeom>
          <a:solidFill>
            <a:srgbClr val="F06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0674A"/>
                </a:solidFill>
                <a:latin typeface="Arial"/>
              </a:rPr>
              <a:t>COMPARE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8232B"/>
                </a:solidFill>
                <a:latin typeface="Arial"/>
              </a:rPr>
              <a:t>Owned vs Paid Traffic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435608"/>
            <a:ext cx="10927080" cy="16459"/>
          </a:xfrm>
          <a:prstGeom prst="rect">
            <a:avLst/>
          </a:prstGeom>
          <a:solidFill>
            <a:srgbClr val="DD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49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783080"/>
            <a:ext cx="5257800" cy="4315968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783080"/>
            <a:ext cx="5257800" cy="109728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2029968"/>
            <a:ext cx="470916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008F83"/>
                </a:solidFill>
                <a:latin typeface="Arial"/>
              </a:rPr>
              <a:t>Owned</a:t>
            </a:r>
          </a:p>
        </p:txBody>
      </p:sp>
      <p:sp>
        <p:nvSpPr>
          <p:cNvPr id="13" name="Oval 12"/>
          <p:cNvSpPr/>
          <p:nvPr/>
        </p:nvSpPr>
        <p:spPr>
          <a:xfrm>
            <a:off x="950976" y="2743200"/>
            <a:ext cx="365760" cy="365760"/>
          </a:xfrm>
          <a:prstGeom prst="ellipse">
            <a:avLst/>
          </a:prstGeom>
          <a:solidFill>
            <a:srgbClr val="00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0976" y="274320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1328" y="267919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8232B"/>
                </a:solidFill>
                <a:latin typeface="Arial"/>
              </a:rPr>
              <a:t>SEO, email and community</a:t>
            </a:r>
          </a:p>
        </p:txBody>
      </p:sp>
      <p:sp>
        <p:nvSpPr>
          <p:cNvPr id="16" name="Oval 15"/>
          <p:cNvSpPr/>
          <p:nvPr/>
        </p:nvSpPr>
        <p:spPr>
          <a:xfrm>
            <a:off x="950976" y="3566160"/>
            <a:ext cx="365760" cy="365760"/>
          </a:xfrm>
          <a:prstGeom prst="ellipse">
            <a:avLst/>
          </a:prstGeom>
          <a:solidFill>
            <a:srgbClr val="00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0976" y="356616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1328" y="350215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8232B"/>
                </a:solidFill>
                <a:latin typeface="Arial"/>
              </a:rPr>
              <a:t>Compounds but takes time</a:t>
            </a:r>
          </a:p>
        </p:txBody>
      </p:sp>
      <p:sp>
        <p:nvSpPr>
          <p:cNvPr id="19" name="Oval 18"/>
          <p:cNvSpPr/>
          <p:nvPr/>
        </p:nvSpPr>
        <p:spPr>
          <a:xfrm>
            <a:off x="950976" y="4389120"/>
            <a:ext cx="365760" cy="365760"/>
          </a:xfrm>
          <a:prstGeom prst="ellipse">
            <a:avLst/>
          </a:prstGeom>
          <a:solidFill>
            <a:srgbClr val="00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976" y="438912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81328" y="432511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8232B"/>
                </a:solidFill>
                <a:latin typeface="Arial"/>
              </a:rPr>
              <a:t>Greater message control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1783080"/>
            <a:ext cx="5257800" cy="4315968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63640" y="1783080"/>
            <a:ext cx="5257800" cy="109728"/>
          </a:xfrm>
          <a:prstGeom prst="rect">
            <a:avLst/>
          </a:prstGeom>
          <a:solidFill>
            <a:srgbClr val="F06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37960" y="2029968"/>
            <a:ext cx="470916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F0674A"/>
                </a:solidFill>
                <a:latin typeface="Arial"/>
              </a:rPr>
              <a:t>Paid</a:t>
            </a:r>
          </a:p>
        </p:txBody>
      </p:sp>
      <p:sp>
        <p:nvSpPr>
          <p:cNvPr id="25" name="Oval 24"/>
          <p:cNvSpPr/>
          <p:nvPr/>
        </p:nvSpPr>
        <p:spPr>
          <a:xfrm>
            <a:off x="6556248" y="2743200"/>
            <a:ext cx="365760" cy="365760"/>
          </a:xfrm>
          <a:prstGeom prst="ellipse">
            <a:avLst/>
          </a:prstGeom>
          <a:solidFill>
            <a:srgbClr val="F06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56248" y="274320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86600" y="267919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8232B"/>
                </a:solidFill>
                <a:latin typeface="Arial"/>
              </a:rPr>
              <a:t>Immediate test volume</a:t>
            </a:r>
          </a:p>
        </p:txBody>
      </p:sp>
      <p:sp>
        <p:nvSpPr>
          <p:cNvPr id="28" name="Oval 27"/>
          <p:cNvSpPr/>
          <p:nvPr/>
        </p:nvSpPr>
        <p:spPr>
          <a:xfrm>
            <a:off x="6556248" y="3566160"/>
            <a:ext cx="365760" cy="365760"/>
          </a:xfrm>
          <a:prstGeom prst="ellipse">
            <a:avLst/>
          </a:prstGeom>
          <a:solidFill>
            <a:srgbClr val="F06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56248" y="356616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86600" y="350215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8232B"/>
                </a:solidFill>
                <a:latin typeface="Arial"/>
              </a:rPr>
              <a:t>Marginal cost per click</a:t>
            </a:r>
          </a:p>
        </p:txBody>
      </p:sp>
      <p:sp>
        <p:nvSpPr>
          <p:cNvPr id="31" name="Oval 30"/>
          <p:cNvSpPr/>
          <p:nvPr/>
        </p:nvSpPr>
        <p:spPr>
          <a:xfrm>
            <a:off x="6556248" y="4389120"/>
            <a:ext cx="365760" cy="365760"/>
          </a:xfrm>
          <a:prstGeom prst="ellipse">
            <a:avLst/>
          </a:prstGeom>
          <a:solidFill>
            <a:srgbClr val="F06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56248" y="438912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86600" y="432511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8232B"/>
                </a:solidFill>
                <a:latin typeface="Arial"/>
              </a:rPr>
              <a:t>Strict break-even control</a:t>
            </a:r>
          </a:p>
        </p:txBody>
      </p:sp>
    </p:spTree>
  </p:cSld>
  <p:clrMapOvr>
    <a:masterClrMapping/>
  </p:clrMapOvr>
  <p:transition spd="fast">
    <p:fade/>
  </p:transition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71600"/>
          </a:xfrm>
          <a:prstGeom prst="rect">
            <a:avLst/>
          </a:prstGeom>
          <a:solidFill>
            <a:srgbClr val="F06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0674A"/>
                </a:solidFill>
                <a:latin typeface="Arial"/>
              </a:rPr>
              <a:t>COMPARE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8232B"/>
                </a:solidFill>
                <a:latin typeface="Arial"/>
              </a:rPr>
              <a:t>Observed Signal vs Agent Inference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435608"/>
            <a:ext cx="10927080" cy="16459"/>
          </a:xfrm>
          <a:prstGeom prst="rect">
            <a:avLst/>
          </a:prstGeom>
          <a:solidFill>
            <a:srgbClr val="DD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50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783080"/>
            <a:ext cx="5257800" cy="4315968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783080"/>
            <a:ext cx="5257800" cy="109728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2029968"/>
            <a:ext cx="470916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008F83"/>
                </a:solidFill>
                <a:latin typeface="Arial"/>
              </a:rPr>
              <a:t>Observed</a:t>
            </a:r>
          </a:p>
        </p:txBody>
      </p:sp>
      <p:sp>
        <p:nvSpPr>
          <p:cNvPr id="13" name="Oval 12"/>
          <p:cNvSpPr/>
          <p:nvPr/>
        </p:nvSpPr>
        <p:spPr>
          <a:xfrm>
            <a:off x="950976" y="2743200"/>
            <a:ext cx="365760" cy="365760"/>
          </a:xfrm>
          <a:prstGeom prst="ellipse">
            <a:avLst/>
          </a:prstGeom>
          <a:solidFill>
            <a:srgbClr val="00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0976" y="274320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1328" y="267919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8232B"/>
                </a:solidFill>
                <a:latin typeface="Arial"/>
              </a:rPr>
              <a:t>Source-dated fact</a:t>
            </a:r>
          </a:p>
        </p:txBody>
      </p:sp>
      <p:sp>
        <p:nvSpPr>
          <p:cNvPr id="16" name="Oval 15"/>
          <p:cNvSpPr/>
          <p:nvPr/>
        </p:nvSpPr>
        <p:spPr>
          <a:xfrm>
            <a:off x="950976" y="3566160"/>
            <a:ext cx="365760" cy="365760"/>
          </a:xfrm>
          <a:prstGeom prst="ellipse">
            <a:avLst/>
          </a:prstGeom>
          <a:solidFill>
            <a:srgbClr val="00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0976" y="356616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1328" y="350215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8232B"/>
                </a:solidFill>
                <a:latin typeface="Arial"/>
              </a:rPr>
              <a:t>Quantified sample or change</a:t>
            </a:r>
          </a:p>
        </p:txBody>
      </p:sp>
      <p:sp>
        <p:nvSpPr>
          <p:cNvPr id="19" name="Oval 18"/>
          <p:cNvSpPr/>
          <p:nvPr/>
        </p:nvSpPr>
        <p:spPr>
          <a:xfrm>
            <a:off x="950976" y="4389120"/>
            <a:ext cx="365760" cy="365760"/>
          </a:xfrm>
          <a:prstGeom prst="ellipse">
            <a:avLst/>
          </a:prstGeom>
          <a:solidFill>
            <a:srgbClr val="00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976" y="438912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81328" y="432511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8232B"/>
                </a:solidFill>
                <a:latin typeface="Arial"/>
              </a:rPr>
              <a:t>Reproducible by reviewer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1783080"/>
            <a:ext cx="5257800" cy="4315968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63640" y="1783080"/>
            <a:ext cx="5257800" cy="109728"/>
          </a:xfrm>
          <a:prstGeom prst="rect">
            <a:avLst/>
          </a:prstGeom>
          <a:solidFill>
            <a:srgbClr val="F06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37960" y="2029968"/>
            <a:ext cx="470916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F0674A"/>
                </a:solidFill>
                <a:latin typeface="Arial"/>
              </a:rPr>
              <a:t>Inferred</a:t>
            </a:r>
          </a:p>
        </p:txBody>
      </p:sp>
      <p:sp>
        <p:nvSpPr>
          <p:cNvPr id="25" name="Oval 24"/>
          <p:cNvSpPr/>
          <p:nvPr/>
        </p:nvSpPr>
        <p:spPr>
          <a:xfrm>
            <a:off x="6556248" y="2743200"/>
            <a:ext cx="365760" cy="365760"/>
          </a:xfrm>
          <a:prstGeom prst="ellipse">
            <a:avLst/>
          </a:prstGeom>
          <a:solidFill>
            <a:srgbClr val="F06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56248" y="274320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86600" y="267919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8232B"/>
                </a:solidFill>
                <a:latin typeface="Arial"/>
              </a:rPr>
              <a:t>Possible explanation</a:t>
            </a:r>
          </a:p>
        </p:txBody>
      </p:sp>
      <p:sp>
        <p:nvSpPr>
          <p:cNvPr id="28" name="Oval 27"/>
          <p:cNvSpPr/>
          <p:nvPr/>
        </p:nvSpPr>
        <p:spPr>
          <a:xfrm>
            <a:off x="6556248" y="3566160"/>
            <a:ext cx="365760" cy="365760"/>
          </a:xfrm>
          <a:prstGeom prst="ellipse">
            <a:avLst/>
          </a:prstGeom>
          <a:solidFill>
            <a:srgbClr val="F06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56248" y="356616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86600" y="350215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8232B"/>
                </a:solidFill>
                <a:latin typeface="Arial"/>
              </a:rPr>
              <a:t>Must state uncertainty</a:t>
            </a:r>
          </a:p>
        </p:txBody>
      </p:sp>
      <p:sp>
        <p:nvSpPr>
          <p:cNvPr id="31" name="Oval 30"/>
          <p:cNvSpPr/>
          <p:nvPr/>
        </p:nvSpPr>
        <p:spPr>
          <a:xfrm>
            <a:off x="6556248" y="4389120"/>
            <a:ext cx="365760" cy="365760"/>
          </a:xfrm>
          <a:prstGeom prst="ellipse">
            <a:avLst/>
          </a:prstGeom>
          <a:solidFill>
            <a:srgbClr val="F06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56248" y="438912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86600" y="432511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8232B"/>
                </a:solidFill>
                <a:latin typeface="Arial"/>
              </a:rPr>
              <a:t>Requires test before causality</a:t>
            </a:r>
          </a:p>
        </p:txBody>
      </p:sp>
    </p:spTree>
  </p:cSld>
  <p:clrMapOvr>
    <a:masterClrMapping/>
  </p:clrMapOvr>
  <p:transition spd="fast">
    <p:fade/>
  </p:transition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71600"/>
          </a:xfrm>
          <a:prstGeom prst="rect">
            <a:avLst/>
          </a:prstGeom>
          <a:solidFill>
            <a:srgbClr val="F06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0674A"/>
                </a:solidFill>
                <a:latin typeface="Arial"/>
              </a:rPr>
              <a:t>COMPARE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8232B"/>
                </a:solidFill>
                <a:latin typeface="Arial"/>
              </a:rPr>
              <a:t>Manual Prompt vs Reusable Skill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435608"/>
            <a:ext cx="10927080" cy="16459"/>
          </a:xfrm>
          <a:prstGeom prst="rect">
            <a:avLst/>
          </a:prstGeom>
          <a:solidFill>
            <a:srgbClr val="DD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51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783080"/>
            <a:ext cx="5257800" cy="4315968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783080"/>
            <a:ext cx="5257800" cy="109728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2029968"/>
            <a:ext cx="470916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008F83"/>
                </a:solidFill>
                <a:latin typeface="Arial"/>
              </a:rPr>
              <a:t>One-off prompt</a:t>
            </a:r>
          </a:p>
        </p:txBody>
      </p:sp>
      <p:sp>
        <p:nvSpPr>
          <p:cNvPr id="13" name="Oval 12"/>
          <p:cNvSpPr/>
          <p:nvPr/>
        </p:nvSpPr>
        <p:spPr>
          <a:xfrm>
            <a:off x="950976" y="2743200"/>
            <a:ext cx="365760" cy="365760"/>
          </a:xfrm>
          <a:prstGeom prst="ellipse">
            <a:avLst/>
          </a:prstGeom>
          <a:solidFill>
            <a:srgbClr val="00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0976" y="274320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1328" y="267919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8232B"/>
                </a:solidFill>
                <a:latin typeface="Arial"/>
              </a:rPr>
              <a:t>Fast exploration</a:t>
            </a:r>
          </a:p>
        </p:txBody>
      </p:sp>
      <p:sp>
        <p:nvSpPr>
          <p:cNvPr id="16" name="Oval 15"/>
          <p:cNvSpPr/>
          <p:nvPr/>
        </p:nvSpPr>
        <p:spPr>
          <a:xfrm>
            <a:off x="950976" y="3566160"/>
            <a:ext cx="365760" cy="365760"/>
          </a:xfrm>
          <a:prstGeom prst="ellipse">
            <a:avLst/>
          </a:prstGeom>
          <a:solidFill>
            <a:srgbClr val="00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0976" y="356616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1328" y="350215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8232B"/>
                </a:solidFill>
                <a:latin typeface="Arial"/>
              </a:rPr>
              <a:t>Variable method and format</a:t>
            </a:r>
          </a:p>
        </p:txBody>
      </p:sp>
      <p:sp>
        <p:nvSpPr>
          <p:cNvPr id="19" name="Oval 18"/>
          <p:cNvSpPr/>
          <p:nvPr/>
        </p:nvSpPr>
        <p:spPr>
          <a:xfrm>
            <a:off x="950976" y="4389120"/>
            <a:ext cx="365760" cy="365760"/>
          </a:xfrm>
          <a:prstGeom prst="ellipse">
            <a:avLst/>
          </a:prstGeom>
          <a:solidFill>
            <a:srgbClr val="00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976" y="438912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81328" y="432511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8232B"/>
                </a:solidFill>
                <a:latin typeface="Arial"/>
              </a:rPr>
              <a:t>Harder to audit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1783080"/>
            <a:ext cx="5257800" cy="4315968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63640" y="1783080"/>
            <a:ext cx="5257800" cy="109728"/>
          </a:xfrm>
          <a:prstGeom prst="rect">
            <a:avLst/>
          </a:prstGeom>
          <a:solidFill>
            <a:srgbClr val="F06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37960" y="2029968"/>
            <a:ext cx="470916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F0674A"/>
                </a:solidFill>
                <a:latin typeface="Arial"/>
              </a:rPr>
              <a:t>Custom Skill</a:t>
            </a:r>
          </a:p>
        </p:txBody>
      </p:sp>
      <p:sp>
        <p:nvSpPr>
          <p:cNvPr id="25" name="Oval 24"/>
          <p:cNvSpPr/>
          <p:nvPr/>
        </p:nvSpPr>
        <p:spPr>
          <a:xfrm>
            <a:off x="6556248" y="2743200"/>
            <a:ext cx="365760" cy="365760"/>
          </a:xfrm>
          <a:prstGeom prst="ellipse">
            <a:avLst/>
          </a:prstGeom>
          <a:solidFill>
            <a:srgbClr val="F06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56248" y="274320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86600" y="267919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8232B"/>
                </a:solidFill>
                <a:latin typeface="Arial"/>
              </a:rPr>
              <a:t>Versioned method and templates</a:t>
            </a:r>
          </a:p>
        </p:txBody>
      </p:sp>
      <p:sp>
        <p:nvSpPr>
          <p:cNvPr id="28" name="Oval 27"/>
          <p:cNvSpPr/>
          <p:nvPr/>
        </p:nvSpPr>
        <p:spPr>
          <a:xfrm>
            <a:off x="6556248" y="3566160"/>
            <a:ext cx="365760" cy="365760"/>
          </a:xfrm>
          <a:prstGeom prst="ellipse">
            <a:avLst/>
          </a:prstGeom>
          <a:solidFill>
            <a:srgbClr val="F06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56248" y="356616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86600" y="350215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8232B"/>
                </a:solidFill>
                <a:latin typeface="Arial"/>
              </a:rPr>
              <a:t>Repeatable acceptance checks</a:t>
            </a:r>
          </a:p>
        </p:txBody>
      </p:sp>
      <p:sp>
        <p:nvSpPr>
          <p:cNvPr id="31" name="Oval 30"/>
          <p:cNvSpPr/>
          <p:nvPr/>
        </p:nvSpPr>
        <p:spPr>
          <a:xfrm>
            <a:off x="6556248" y="4389120"/>
            <a:ext cx="365760" cy="365760"/>
          </a:xfrm>
          <a:prstGeom prst="ellipse">
            <a:avLst/>
          </a:prstGeom>
          <a:solidFill>
            <a:srgbClr val="F06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56248" y="438912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86600" y="432511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8232B"/>
                </a:solidFill>
                <a:latin typeface="Arial"/>
              </a:rPr>
              <a:t>Reusable across campaigns</a:t>
            </a:r>
          </a:p>
        </p:txBody>
      </p:sp>
    </p:spTree>
  </p:cSld>
  <p:clrMapOvr>
    <a:masterClrMapping/>
  </p:clrMapOvr>
  <p:transition spd="fast">
    <p:fade/>
  </p:transition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71600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008F83"/>
                </a:solidFill>
                <a:latin typeface="Arial"/>
              </a:rPr>
              <a:t>NATIVE PPT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8232B"/>
                </a:solidFill>
                <a:latin typeface="Arial"/>
              </a:rPr>
              <a:t>Commission Model Sensitivity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435608"/>
            <a:ext cx="10927080" cy="16459"/>
          </a:xfrm>
          <a:prstGeom prst="rect">
            <a:avLst/>
          </a:prstGeom>
          <a:solidFill>
            <a:srgbClr val="DD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52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749808" y="1737360"/>
          <a:ext cx="7818120" cy="422452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8823960" y="2148840"/>
            <a:ext cx="2496312" cy="3035808"/>
          </a:xfrm>
          <a:prstGeom prst="roundRect">
            <a:avLst/>
          </a:prstGeom>
          <a:solidFill>
            <a:srgbClr val="EB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98280" y="2450592"/>
            <a:ext cx="196596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008F83"/>
                </a:solidFill>
                <a:latin typeface="Arial"/>
              </a:rPr>
              <a:t>WHAT THE DATA SHOWS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98280" y="2971800"/>
            <a:ext cx="1965960" cy="17373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8232B"/>
                </a:solidFill>
                <a:latin typeface="Arial"/>
              </a:rPr>
              <a:t>The highest rate is not automatically the highest profit; conversion and validation rules dominate.</a:t>
            </a:r>
          </a:p>
        </p:txBody>
      </p:sp>
    </p:spTree>
  </p:cSld>
  <p:clrMapOvr>
    <a:masterClrMapping/>
  </p:clrMapOvr>
  <p:transition spd="fast">
    <p:fade/>
  </p:transition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71600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008F83"/>
                </a:solidFill>
                <a:latin typeface="Arial"/>
              </a:rPr>
              <a:t>NATIVE PPT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8232B"/>
                </a:solidFill>
                <a:latin typeface="Arial"/>
              </a:rPr>
              <a:t>Traffic Quality by Channel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435608"/>
            <a:ext cx="10927080" cy="16459"/>
          </a:xfrm>
          <a:prstGeom prst="rect">
            <a:avLst/>
          </a:prstGeom>
          <a:solidFill>
            <a:srgbClr val="DD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53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749808" y="1737360"/>
          <a:ext cx="7818120" cy="422452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8823960" y="2148840"/>
            <a:ext cx="2496312" cy="3035808"/>
          </a:xfrm>
          <a:prstGeom prst="roundRect">
            <a:avLst/>
          </a:prstGeom>
          <a:solidFill>
            <a:srgbClr val="EB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98280" y="2450592"/>
            <a:ext cx="196596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008F83"/>
                </a:solidFill>
                <a:latin typeface="Arial"/>
              </a:rPr>
              <a:t>WHAT THE DATA SHOWS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98280" y="2971800"/>
            <a:ext cx="1965960" cy="17373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8232B"/>
                </a:solidFill>
                <a:latin typeface="Arial"/>
              </a:rPr>
              <a:t>Email converts best in this teaching set, while social supplies reach but weaker intent.</a:t>
            </a:r>
          </a:p>
        </p:txBody>
      </p:sp>
    </p:spTree>
  </p:cSld>
  <p:clrMapOvr>
    <a:masterClrMapping/>
  </p:clrMapOvr>
  <p:transition spd="fast">
    <p:fade/>
  </p:transition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71600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008F83"/>
                </a:solidFill>
                <a:latin typeface="Arial"/>
              </a:rPr>
              <a:t>NATIVE PPT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8232B"/>
                </a:solidFill>
                <a:latin typeface="Arial"/>
              </a:rPr>
              <a:t>Offer Scorecard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435608"/>
            <a:ext cx="10927080" cy="16459"/>
          </a:xfrm>
          <a:prstGeom prst="rect">
            <a:avLst/>
          </a:prstGeom>
          <a:solidFill>
            <a:srgbClr val="DD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54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749808" y="1737360"/>
          <a:ext cx="7818120" cy="422452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8823960" y="2148840"/>
            <a:ext cx="2496312" cy="3035808"/>
          </a:xfrm>
          <a:prstGeom prst="roundRect">
            <a:avLst/>
          </a:prstGeom>
          <a:solidFill>
            <a:srgbClr val="EB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98280" y="2450592"/>
            <a:ext cx="196596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008F83"/>
                </a:solidFill>
                <a:latin typeface="Arial"/>
              </a:rPr>
              <a:t>WHAT THE DATA SHOWS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98280" y="2971800"/>
            <a:ext cx="1965960" cy="17373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8232B"/>
                </a:solidFill>
                <a:latin typeface="Arial"/>
              </a:rPr>
              <a:t>Offer B's economics cannot compensate for a policy score below the release threshold.</a:t>
            </a:r>
          </a:p>
        </p:txBody>
      </p:sp>
    </p:spTree>
  </p:cSld>
  <p:clrMapOvr>
    <a:masterClrMapping/>
  </p:clrMapOvr>
  <p:transition spd="fast">
    <p:fade/>
  </p:transition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71600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008F83"/>
                </a:solidFill>
                <a:latin typeface="Arial"/>
              </a:rPr>
              <a:t>NATIVE PPT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8232B"/>
                </a:solidFill>
                <a:latin typeface="Arial"/>
              </a:rPr>
              <a:t>Trend Signal Confidence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435608"/>
            <a:ext cx="10927080" cy="16459"/>
          </a:xfrm>
          <a:prstGeom prst="rect">
            <a:avLst/>
          </a:prstGeom>
          <a:solidFill>
            <a:srgbClr val="DD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55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749808" y="1737360"/>
          <a:ext cx="7818120" cy="422452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8823960" y="2148840"/>
            <a:ext cx="2496312" cy="3035808"/>
          </a:xfrm>
          <a:prstGeom prst="roundRect">
            <a:avLst/>
          </a:prstGeom>
          <a:solidFill>
            <a:srgbClr val="EB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98280" y="2450592"/>
            <a:ext cx="196596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008F83"/>
                </a:solidFill>
                <a:latin typeface="Arial"/>
              </a:rPr>
              <a:t>WHAT THE DATA SHOWS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98280" y="2971800"/>
            <a:ext cx="1965960" cy="17373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8232B"/>
                </a:solidFill>
                <a:latin typeface="Arial"/>
              </a:rPr>
              <a:t>Confidence rises with independent evidence and direct behavioural data.</a:t>
            </a:r>
          </a:p>
        </p:txBody>
      </p:sp>
    </p:spTree>
  </p:cSld>
  <p:clrMapOvr>
    <a:masterClrMapping/>
  </p:clrMapOvr>
  <p:transition spd="fast">
    <p:fade/>
  </p:transition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71600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008F83"/>
                </a:solidFill>
                <a:latin typeface="Arial"/>
              </a:rPr>
              <a:t>NATIVE PPT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8232B"/>
                </a:solidFill>
                <a:latin typeface="Arial"/>
              </a:rPr>
              <a:t>Content Funnel Example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435608"/>
            <a:ext cx="10927080" cy="16459"/>
          </a:xfrm>
          <a:prstGeom prst="rect">
            <a:avLst/>
          </a:prstGeom>
          <a:solidFill>
            <a:srgbClr val="DD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56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749808" y="1737360"/>
          <a:ext cx="7818120" cy="422452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8823960" y="2148840"/>
            <a:ext cx="2496312" cy="3035808"/>
          </a:xfrm>
          <a:prstGeom prst="roundRect">
            <a:avLst/>
          </a:prstGeom>
          <a:solidFill>
            <a:srgbClr val="EB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98280" y="2450592"/>
            <a:ext cx="196596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008F83"/>
                </a:solidFill>
                <a:latin typeface="Arial"/>
              </a:rPr>
              <a:t>WHAT THE DATA SHOWS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98280" y="2971800"/>
            <a:ext cx="1965960" cy="17373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8232B"/>
                </a:solidFill>
                <a:latin typeface="Arial"/>
              </a:rPr>
              <a:t>The largest absolute drop is visibility to visit; the commercial decision still depends on EPC and cost.</a:t>
            </a:r>
          </a:p>
        </p:txBody>
      </p:sp>
    </p:spTree>
  </p:cSld>
  <p:clrMapOvr>
    <a:masterClrMapping/>
  </p:clrMapOvr>
  <p:transition spd="fast">
    <p:fade/>
  </p:transition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71600"/>
          </a:xfrm>
          <a:prstGeom prst="rect">
            <a:avLst/>
          </a:prstGeom>
          <a:solidFill>
            <a:srgbClr val="F06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0674A"/>
                </a:solidFill>
                <a:latin typeface="Arial"/>
              </a:rPr>
              <a:t>DECISION RULE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8232B"/>
                </a:solidFill>
                <a:latin typeface="Arial"/>
              </a:rPr>
              <a:t>Select an Offer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435608"/>
            <a:ext cx="10927080" cy="16459"/>
          </a:xfrm>
          <a:prstGeom prst="rect">
            <a:avLst/>
          </a:prstGeom>
          <a:solidFill>
            <a:srgbClr val="DD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57</a:t>
            </a:r>
          </a:p>
        </p:txBody>
      </p:sp>
      <p:sp>
        <p:nvSpPr>
          <p:cNvPr id="10" name="Diamond 9"/>
          <p:cNvSpPr/>
          <p:nvPr/>
        </p:nvSpPr>
        <p:spPr>
          <a:xfrm>
            <a:off x="4434840" y="1874519"/>
            <a:ext cx="3246120" cy="2148840"/>
          </a:xfrm>
          <a:prstGeom prst="diamond">
            <a:avLst/>
          </a:prstGeom>
          <a:solidFill>
            <a:srgbClr val="FFF1ED"/>
          </a:solidFill>
          <a:ln w="25400">
            <a:solidFill>
              <a:srgbClr val="F067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00600" y="2212848"/>
            <a:ext cx="2514600" cy="12801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8232B"/>
                </a:solidFill>
                <a:latin typeface="Arial"/>
              </a:rPr>
              <a:t>Do audience fit, evidence, policy and downside all meet minimum thresholds?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4343400"/>
            <a:ext cx="4983480" cy="1097280"/>
          </a:xfrm>
          <a:prstGeom prst="roundRect">
            <a:avLst/>
          </a:prstGeom>
          <a:solidFill>
            <a:srgbClr val="E9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480560"/>
            <a:ext cx="4480560" cy="7772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208A59"/>
                </a:solidFill>
                <a:latin typeface="Arial"/>
              </a:rPr>
              <a:t>YES · </a:t>
            </a:r>
            <a:r>
              <a:rPr sz="1350" b="0">
                <a:solidFill>
                  <a:srgbClr val="18232B"/>
                </a:solidFill>
                <a:latin typeface="Arial"/>
              </a:rPr>
              <a:t>Model expected value and approve a bounded pilot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10528" y="4343400"/>
            <a:ext cx="4983480" cy="1097280"/>
          </a:xfrm>
          <a:prstGeom prst="roundRect">
            <a:avLst/>
          </a:prstGeom>
          <a:solidFill>
            <a:srgbClr val="FD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57416" y="4480560"/>
            <a:ext cx="4480560" cy="7772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C73D37"/>
                </a:solidFill>
                <a:latin typeface="Arial"/>
              </a:rPr>
              <a:t>NO · </a:t>
            </a:r>
            <a:r>
              <a:rPr sz="1350" b="0">
                <a:solidFill>
                  <a:srgbClr val="18232B"/>
                </a:solidFill>
                <a:latin typeface="Arial"/>
              </a:rPr>
              <a:t>Reject or request missing evidence; do not average away a hard failure</a:t>
            </a:r>
          </a:p>
        </p:txBody>
      </p:sp>
      <p:cxnSp>
        <p:nvCxnSpPr>
          <p:cNvPr id="16" name="Connector 15"/>
          <p:cNvCxnSpPr/>
          <p:nvPr/>
        </p:nvCxnSpPr>
        <p:spPr>
          <a:xfrm flipH="1">
            <a:off x="3200400" y="3749039"/>
            <a:ext cx="1828800" cy="594361"/>
          </a:xfrm>
          <a:prstGeom prst="bentConnector3">
            <a:avLst/>
          </a:prstGeom>
          <a:ln w="25400">
            <a:solidFill>
              <a:srgbClr val="208A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178040" y="3749039"/>
            <a:ext cx="1783080" cy="594361"/>
          </a:xfrm>
          <a:prstGeom prst="bentConnector3">
            <a:avLst/>
          </a:prstGeom>
          <a:ln w="25400">
            <a:solidFill>
              <a:srgbClr val="C73D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fast">
    <p:fade/>
  </p:transition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71600"/>
          </a:xfrm>
          <a:prstGeom prst="rect">
            <a:avLst/>
          </a:prstGeom>
          <a:solidFill>
            <a:srgbClr val="F06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0674A"/>
                </a:solidFill>
                <a:latin typeface="Arial"/>
              </a:rPr>
              <a:t>DECISION RULE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8232B"/>
                </a:solidFill>
                <a:latin typeface="Arial"/>
              </a:rPr>
              <a:t>Release a Product Update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435608"/>
            <a:ext cx="10927080" cy="16459"/>
          </a:xfrm>
          <a:prstGeom prst="rect">
            <a:avLst/>
          </a:prstGeom>
          <a:solidFill>
            <a:srgbClr val="DD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58</a:t>
            </a:r>
          </a:p>
        </p:txBody>
      </p:sp>
      <p:sp>
        <p:nvSpPr>
          <p:cNvPr id="10" name="Diamond 9"/>
          <p:cNvSpPr/>
          <p:nvPr/>
        </p:nvSpPr>
        <p:spPr>
          <a:xfrm>
            <a:off x="4434840" y="1874519"/>
            <a:ext cx="3246120" cy="2148840"/>
          </a:xfrm>
          <a:prstGeom prst="diamond">
            <a:avLst/>
          </a:prstGeom>
          <a:solidFill>
            <a:srgbClr val="FFF1ED"/>
          </a:solidFill>
          <a:ln w="25400">
            <a:solidFill>
              <a:srgbClr val="F067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00600" y="2212848"/>
            <a:ext cx="2514600" cy="12801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8232B"/>
                </a:solidFill>
                <a:latin typeface="Arial"/>
              </a:rPr>
              <a:t>Is the change approved, effective-dated and supported by current product evidence?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4343400"/>
            <a:ext cx="4983480" cy="1097280"/>
          </a:xfrm>
          <a:prstGeom prst="roundRect">
            <a:avLst/>
          </a:prstGeom>
          <a:solidFill>
            <a:srgbClr val="E9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480560"/>
            <a:ext cx="4480560" cy="7772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208A59"/>
                </a:solidFill>
                <a:latin typeface="Arial"/>
              </a:rPr>
              <a:t>YES · </a:t>
            </a:r>
            <a:r>
              <a:rPr sz="1350" b="0">
                <a:solidFill>
                  <a:srgbClr val="18232B"/>
                </a:solidFill>
                <a:latin typeface="Arial"/>
              </a:rPr>
              <a:t>Send the versioned partner update with required actions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10528" y="4343400"/>
            <a:ext cx="4983480" cy="1097280"/>
          </a:xfrm>
          <a:prstGeom prst="roundRect">
            <a:avLst/>
          </a:prstGeom>
          <a:solidFill>
            <a:srgbClr val="FD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57416" y="4480560"/>
            <a:ext cx="4480560" cy="7772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C73D37"/>
                </a:solidFill>
                <a:latin typeface="Arial"/>
              </a:rPr>
              <a:t>NO · </a:t>
            </a:r>
            <a:r>
              <a:rPr sz="1350" b="0">
                <a:solidFill>
                  <a:srgbClr val="18232B"/>
                </a:solidFill>
                <a:latin typeface="Arial"/>
              </a:rPr>
              <a:t>Hold the update and escalate to the product owner</a:t>
            </a:r>
          </a:p>
        </p:txBody>
      </p:sp>
      <p:cxnSp>
        <p:nvCxnSpPr>
          <p:cNvPr id="16" name="Connector 15"/>
          <p:cNvCxnSpPr/>
          <p:nvPr/>
        </p:nvCxnSpPr>
        <p:spPr>
          <a:xfrm flipH="1">
            <a:off x="3200400" y="3749039"/>
            <a:ext cx="1828800" cy="594361"/>
          </a:xfrm>
          <a:prstGeom prst="bentConnector3">
            <a:avLst/>
          </a:prstGeom>
          <a:ln w="25400">
            <a:solidFill>
              <a:srgbClr val="208A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178040" y="3749039"/>
            <a:ext cx="1783080" cy="594361"/>
          </a:xfrm>
          <a:prstGeom prst="bentConnector3">
            <a:avLst/>
          </a:prstGeom>
          <a:ln w="25400">
            <a:solidFill>
              <a:srgbClr val="C73D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fast">
    <p:fade/>
  </p:transition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71600"/>
          </a:xfrm>
          <a:prstGeom prst="rect">
            <a:avLst/>
          </a:prstGeom>
          <a:solidFill>
            <a:srgbClr val="F06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0674A"/>
                </a:solidFill>
                <a:latin typeface="Arial"/>
              </a:rPr>
              <a:t>DECISION RULE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8232B"/>
                </a:solidFill>
                <a:latin typeface="Arial"/>
              </a:rPr>
              <a:t>Trust a Trend Claim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435608"/>
            <a:ext cx="10927080" cy="16459"/>
          </a:xfrm>
          <a:prstGeom prst="rect">
            <a:avLst/>
          </a:prstGeom>
          <a:solidFill>
            <a:srgbClr val="DD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59</a:t>
            </a:r>
          </a:p>
        </p:txBody>
      </p:sp>
      <p:sp>
        <p:nvSpPr>
          <p:cNvPr id="10" name="Diamond 9"/>
          <p:cNvSpPr/>
          <p:nvPr/>
        </p:nvSpPr>
        <p:spPr>
          <a:xfrm>
            <a:off x="4434840" y="1874519"/>
            <a:ext cx="3246120" cy="2148840"/>
          </a:xfrm>
          <a:prstGeom prst="diamond">
            <a:avLst/>
          </a:prstGeom>
          <a:solidFill>
            <a:srgbClr val="FFF1ED"/>
          </a:solidFill>
          <a:ln w="25400">
            <a:solidFill>
              <a:srgbClr val="F067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00600" y="2212848"/>
            <a:ext cx="2514600" cy="12801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8232B"/>
                </a:solidFill>
                <a:latin typeface="Arial"/>
              </a:rPr>
              <a:t>Do at least two independent sources or one direct data source support the same observation?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4343400"/>
            <a:ext cx="4983480" cy="1097280"/>
          </a:xfrm>
          <a:prstGeom prst="roundRect">
            <a:avLst/>
          </a:prstGeom>
          <a:solidFill>
            <a:srgbClr val="E9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480560"/>
            <a:ext cx="4480560" cy="7772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208A59"/>
                </a:solidFill>
                <a:latin typeface="Arial"/>
              </a:rPr>
              <a:t>YES · </a:t>
            </a:r>
            <a:r>
              <a:rPr sz="1350" b="0">
                <a:solidFill>
                  <a:srgbClr val="18232B"/>
                </a:solidFill>
                <a:latin typeface="Arial"/>
              </a:rPr>
              <a:t>Record confidence and test the implication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10528" y="4343400"/>
            <a:ext cx="4983480" cy="1097280"/>
          </a:xfrm>
          <a:prstGeom prst="roundRect">
            <a:avLst/>
          </a:prstGeom>
          <a:solidFill>
            <a:srgbClr val="FD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57416" y="4480560"/>
            <a:ext cx="4480560" cy="7772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C73D37"/>
                </a:solidFill>
                <a:latin typeface="Arial"/>
              </a:rPr>
              <a:t>NO · </a:t>
            </a:r>
            <a:r>
              <a:rPr sz="1350" b="0">
                <a:solidFill>
                  <a:srgbClr val="18232B"/>
                </a:solidFill>
                <a:latin typeface="Arial"/>
              </a:rPr>
              <a:t>Label as unverified and keep monitoring</a:t>
            </a:r>
          </a:p>
        </p:txBody>
      </p:sp>
      <p:cxnSp>
        <p:nvCxnSpPr>
          <p:cNvPr id="16" name="Connector 15"/>
          <p:cNvCxnSpPr/>
          <p:nvPr/>
        </p:nvCxnSpPr>
        <p:spPr>
          <a:xfrm flipH="1">
            <a:off x="3200400" y="3749039"/>
            <a:ext cx="1828800" cy="594361"/>
          </a:xfrm>
          <a:prstGeom prst="bentConnector3">
            <a:avLst/>
          </a:prstGeom>
          <a:ln w="25400">
            <a:solidFill>
              <a:srgbClr val="208A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178040" y="3749039"/>
            <a:ext cx="1783080" cy="594361"/>
          </a:xfrm>
          <a:prstGeom prst="bentConnector3">
            <a:avLst/>
          </a:prstGeom>
          <a:ln w="25400">
            <a:solidFill>
              <a:srgbClr val="C73D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fast">
    <p:fade/>
  </p:transition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71600"/>
          </a:xfrm>
          <a:prstGeom prst="rect">
            <a:avLst/>
          </a:prstGeom>
          <a:solidFill>
            <a:srgbClr val="F06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0674A"/>
                </a:solidFill>
                <a:latin typeface="Arial"/>
              </a:rPr>
              <a:t>DECISION RULE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8232B"/>
                </a:solidFill>
                <a:latin typeface="Arial"/>
              </a:rPr>
              <a:t>Use an MCP Tool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435608"/>
            <a:ext cx="10927080" cy="16459"/>
          </a:xfrm>
          <a:prstGeom prst="rect">
            <a:avLst/>
          </a:prstGeom>
          <a:solidFill>
            <a:srgbClr val="DD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60</a:t>
            </a:r>
          </a:p>
        </p:txBody>
      </p:sp>
      <p:sp>
        <p:nvSpPr>
          <p:cNvPr id="10" name="Diamond 9"/>
          <p:cNvSpPr/>
          <p:nvPr/>
        </p:nvSpPr>
        <p:spPr>
          <a:xfrm>
            <a:off x="4434840" y="1874519"/>
            <a:ext cx="3246120" cy="2148840"/>
          </a:xfrm>
          <a:prstGeom prst="diamond">
            <a:avLst/>
          </a:prstGeom>
          <a:solidFill>
            <a:srgbClr val="FFF1ED"/>
          </a:solidFill>
          <a:ln w="25400">
            <a:solidFill>
              <a:srgbClr val="F067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00600" y="2212848"/>
            <a:ext cx="2514600" cy="12801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8232B"/>
                </a:solidFill>
                <a:latin typeface="Arial"/>
              </a:rPr>
              <a:t>Is the source authorised and the requested action within the tool's least-privilege scope?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4343400"/>
            <a:ext cx="4983480" cy="1097280"/>
          </a:xfrm>
          <a:prstGeom prst="roundRect">
            <a:avLst/>
          </a:prstGeom>
          <a:solidFill>
            <a:srgbClr val="E9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480560"/>
            <a:ext cx="4480560" cy="7772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208A59"/>
                </a:solidFill>
                <a:latin typeface="Arial"/>
              </a:rPr>
              <a:t>YES · </a:t>
            </a:r>
            <a:r>
              <a:rPr sz="1350" b="0">
                <a:solidFill>
                  <a:srgbClr val="18232B"/>
                </a:solidFill>
                <a:latin typeface="Arial"/>
              </a:rPr>
              <a:t>Call the tool and preserve its audit ID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10528" y="4343400"/>
            <a:ext cx="4983480" cy="1097280"/>
          </a:xfrm>
          <a:prstGeom prst="roundRect">
            <a:avLst/>
          </a:prstGeom>
          <a:solidFill>
            <a:srgbClr val="FD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57416" y="4480560"/>
            <a:ext cx="4480560" cy="7772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C73D37"/>
                </a:solidFill>
                <a:latin typeface="Arial"/>
              </a:rPr>
              <a:t>NO · </a:t>
            </a:r>
            <a:r>
              <a:rPr sz="1350" b="0">
                <a:solidFill>
                  <a:srgbClr val="18232B"/>
                </a:solidFill>
                <a:latin typeface="Arial"/>
              </a:rPr>
              <a:t>Do not connect; use an approved read-only source or ask the owner</a:t>
            </a:r>
          </a:p>
        </p:txBody>
      </p:sp>
      <p:cxnSp>
        <p:nvCxnSpPr>
          <p:cNvPr id="16" name="Connector 15"/>
          <p:cNvCxnSpPr/>
          <p:nvPr/>
        </p:nvCxnSpPr>
        <p:spPr>
          <a:xfrm flipH="1">
            <a:off x="3200400" y="3749039"/>
            <a:ext cx="1828800" cy="594361"/>
          </a:xfrm>
          <a:prstGeom prst="bentConnector3">
            <a:avLst/>
          </a:prstGeom>
          <a:ln w="25400">
            <a:solidFill>
              <a:srgbClr val="208A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178040" y="3749039"/>
            <a:ext cx="1783080" cy="594361"/>
          </a:xfrm>
          <a:prstGeom prst="bentConnector3">
            <a:avLst/>
          </a:prstGeom>
          <a:ln w="25400">
            <a:solidFill>
              <a:srgbClr val="C73D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fast">
    <p:fade/>
  </p:transition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71600"/>
          </a:xfrm>
          <a:prstGeom prst="rect">
            <a:avLst/>
          </a:prstGeom>
          <a:solidFill>
            <a:srgbClr val="F06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0674A"/>
                </a:solidFill>
                <a:latin typeface="Arial"/>
              </a:rPr>
              <a:t>FAILURE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8232B"/>
                </a:solidFill>
                <a:latin typeface="Arial"/>
              </a:rPr>
              <a:t>Offer-Selection Failure Modes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435608"/>
            <a:ext cx="10927080" cy="16459"/>
          </a:xfrm>
          <a:prstGeom prst="rect">
            <a:avLst/>
          </a:prstGeom>
          <a:solidFill>
            <a:srgbClr val="DD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61</a:t>
            </a:r>
          </a:p>
        </p:txBody>
      </p:sp>
      <p:sp>
        <p:nvSpPr>
          <p:cNvPr id="10" name="Oval 9"/>
          <p:cNvSpPr/>
          <p:nvPr/>
        </p:nvSpPr>
        <p:spPr>
          <a:xfrm>
            <a:off x="749808" y="1865376"/>
            <a:ext cx="420624" cy="420624"/>
          </a:xfrm>
          <a:prstGeom prst="ellipse">
            <a:avLst/>
          </a:prstGeom>
          <a:solidFill>
            <a:srgbClr val="F06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186537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1755648"/>
            <a:ext cx="20574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0674A"/>
                </a:solidFill>
                <a:latin typeface="Arial"/>
              </a:rPr>
              <a:t>Rate bias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73552" y="1755648"/>
            <a:ext cx="8138160" cy="658368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20440" y="1810512"/>
            <a:ext cx="7635240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18232B"/>
                </a:solidFill>
                <a:latin typeface="Arial"/>
              </a:rPr>
              <a:t>choosing the largest commission</a:t>
            </a:r>
          </a:p>
        </p:txBody>
      </p:sp>
      <p:sp>
        <p:nvSpPr>
          <p:cNvPr id="15" name="Oval 14"/>
          <p:cNvSpPr/>
          <p:nvPr/>
        </p:nvSpPr>
        <p:spPr>
          <a:xfrm>
            <a:off x="749808" y="2724912"/>
            <a:ext cx="420624" cy="420624"/>
          </a:xfrm>
          <a:prstGeom prst="ellipse">
            <a:avLst/>
          </a:prstGeom>
          <a:solidFill>
            <a:srgbClr val="EEA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272491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53312" y="2615184"/>
            <a:ext cx="20574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EA900"/>
                </a:solidFill>
                <a:latin typeface="Arial"/>
              </a:rPr>
              <a:t>Cookie mismatch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73552" y="2615184"/>
            <a:ext cx="8138160" cy="658368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20440" y="2670048"/>
            <a:ext cx="7635240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18232B"/>
                </a:solidFill>
                <a:latin typeface="Arial"/>
              </a:rPr>
              <a:t>ignoring attribution window</a:t>
            </a:r>
          </a:p>
        </p:txBody>
      </p:sp>
      <p:sp>
        <p:nvSpPr>
          <p:cNvPr id="20" name="Oval 19"/>
          <p:cNvSpPr/>
          <p:nvPr/>
        </p:nvSpPr>
        <p:spPr>
          <a:xfrm>
            <a:off x="749808" y="3584448"/>
            <a:ext cx="420624" cy="420624"/>
          </a:xfrm>
          <a:prstGeom prst="ellipse">
            <a:avLst/>
          </a:prstGeom>
          <a:solidFill>
            <a:srgbClr val="F06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8" y="3584448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53312" y="3474720"/>
            <a:ext cx="20574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0674A"/>
                </a:solidFill>
                <a:latin typeface="Arial"/>
              </a:rPr>
              <a:t>Return exposure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273552" y="3474720"/>
            <a:ext cx="8138160" cy="658368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20440" y="3529584"/>
            <a:ext cx="7635240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18232B"/>
                </a:solidFill>
                <a:latin typeface="Arial"/>
              </a:rPr>
              <a:t>using gross conversions</a:t>
            </a:r>
          </a:p>
        </p:txBody>
      </p:sp>
      <p:sp>
        <p:nvSpPr>
          <p:cNvPr id="25" name="Oval 24"/>
          <p:cNvSpPr/>
          <p:nvPr/>
        </p:nvSpPr>
        <p:spPr>
          <a:xfrm>
            <a:off x="749808" y="4443984"/>
            <a:ext cx="420624" cy="420624"/>
          </a:xfrm>
          <a:prstGeom prst="ellipse">
            <a:avLst/>
          </a:prstGeom>
          <a:solidFill>
            <a:srgbClr val="EEA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9808" y="4443984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53312" y="4334256"/>
            <a:ext cx="20574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EA900"/>
                </a:solidFill>
                <a:latin typeface="Arial"/>
              </a:rPr>
              <a:t>Weak proof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273552" y="4334256"/>
            <a:ext cx="8138160" cy="658368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520440" y="4389120"/>
            <a:ext cx="7635240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18232B"/>
                </a:solidFill>
                <a:latin typeface="Arial"/>
              </a:rPr>
              <a:t>promoting unsupported benefits</a:t>
            </a:r>
          </a:p>
        </p:txBody>
      </p:sp>
      <p:sp>
        <p:nvSpPr>
          <p:cNvPr id="30" name="Oval 29"/>
          <p:cNvSpPr/>
          <p:nvPr/>
        </p:nvSpPr>
        <p:spPr>
          <a:xfrm>
            <a:off x="749808" y="5303520"/>
            <a:ext cx="420624" cy="420624"/>
          </a:xfrm>
          <a:prstGeom prst="ellipse">
            <a:avLst/>
          </a:prstGeom>
          <a:solidFill>
            <a:srgbClr val="F06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9808" y="5303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53312" y="5193792"/>
            <a:ext cx="20574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0674A"/>
                </a:solidFill>
                <a:latin typeface="Arial"/>
              </a:rPr>
              <a:t>Ops mismatch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273552" y="5193792"/>
            <a:ext cx="8138160" cy="658368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520440" y="5248656"/>
            <a:ext cx="7635240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18232B"/>
                </a:solidFill>
                <a:latin typeface="Arial"/>
              </a:rPr>
              <a:t>merchant cannot fulfil demand</a:t>
            </a:r>
          </a:p>
        </p:txBody>
      </p:sp>
    </p:spTree>
  </p:cSld>
  <p:clrMapOvr>
    <a:masterClrMapping/>
  </p:clrMapOvr>
  <p:transition spd="fast">
    <p:fade/>
  </p:transition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71600"/>
          </a:xfrm>
          <a:prstGeom prst="rect">
            <a:avLst/>
          </a:prstGeom>
          <a:solidFill>
            <a:srgbClr val="F06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0674A"/>
                </a:solidFill>
                <a:latin typeface="Arial"/>
              </a:rPr>
              <a:t>FAILURE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8232B"/>
                </a:solidFill>
                <a:latin typeface="Arial"/>
              </a:rPr>
              <a:t>Research Failure Modes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435608"/>
            <a:ext cx="10927080" cy="16459"/>
          </a:xfrm>
          <a:prstGeom prst="rect">
            <a:avLst/>
          </a:prstGeom>
          <a:solidFill>
            <a:srgbClr val="DD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62</a:t>
            </a:r>
          </a:p>
        </p:txBody>
      </p:sp>
      <p:sp>
        <p:nvSpPr>
          <p:cNvPr id="10" name="Oval 9"/>
          <p:cNvSpPr/>
          <p:nvPr/>
        </p:nvSpPr>
        <p:spPr>
          <a:xfrm>
            <a:off x="749808" y="1865376"/>
            <a:ext cx="420624" cy="420624"/>
          </a:xfrm>
          <a:prstGeom prst="ellipse">
            <a:avLst/>
          </a:prstGeom>
          <a:solidFill>
            <a:srgbClr val="F06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186537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1755648"/>
            <a:ext cx="20574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0674A"/>
                </a:solidFill>
                <a:latin typeface="Arial"/>
              </a:rPr>
              <a:t>Stale source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73552" y="1755648"/>
            <a:ext cx="8138160" cy="658368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20440" y="1810512"/>
            <a:ext cx="7635240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18232B"/>
                </a:solidFill>
                <a:latin typeface="Arial"/>
              </a:rPr>
              <a:t>old trend presented as current</a:t>
            </a:r>
          </a:p>
        </p:txBody>
      </p:sp>
      <p:sp>
        <p:nvSpPr>
          <p:cNvPr id="15" name="Oval 14"/>
          <p:cNvSpPr/>
          <p:nvPr/>
        </p:nvSpPr>
        <p:spPr>
          <a:xfrm>
            <a:off x="749808" y="2724912"/>
            <a:ext cx="420624" cy="420624"/>
          </a:xfrm>
          <a:prstGeom prst="ellipse">
            <a:avLst/>
          </a:prstGeom>
          <a:solidFill>
            <a:srgbClr val="EEA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272491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53312" y="2615184"/>
            <a:ext cx="20574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EA900"/>
                </a:solidFill>
                <a:latin typeface="Arial"/>
              </a:rPr>
              <a:t>Source laundering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73552" y="2615184"/>
            <a:ext cx="8138160" cy="658368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20440" y="2670048"/>
            <a:ext cx="7635240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18232B"/>
                </a:solidFill>
                <a:latin typeface="Arial"/>
              </a:rPr>
              <a:t>agent answer without direct URL</a:t>
            </a:r>
          </a:p>
        </p:txBody>
      </p:sp>
      <p:sp>
        <p:nvSpPr>
          <p:cNvPr id="20" name="Oval 19"/>
          <p:cNvSpPr/>
          <p:nvPr/>
        </p:nvSpPr>
        <p:spPr>
          <a:xfrm>
            <a:off x="749808" y="3584448"/>
            <a:ext cx="420624" cy="420624"/>
          </a:xfrm>
          <a:prstGeom prst="ellipse">
            <a:avLst/>
          </a:prstGeom>
          <a:solidFill>
            <a:srgbClr val="F06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8" y="3584448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53312" y="3474720"/>
            <a:ext cx="20574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0674A"/>
                </a:solidFill>
                <a:latin typeface="Arial"/>
              </a:rPr>
              <a:t>False consensus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273552" y="3474720"/>
            <a:ext cx="8138160" cy="658368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20440" y="3529584"/>
            <a:ext cx="7635240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18232B"/>
                </a:solidFill>
                <a:latin typeface="Arial"/>
              </a:rPr>
              <a:t>many copies of one claim</a:t>
            </a:r>
          </a:p>
        </p:txBody>
      </p:sp>
      <p:sp>
        <p:nvSpPr>
          <p:cNvPr id="25" name="Oval 24"/>
          <p:cNvSpPr/>
          <p:nvPr/>
        </p:nvSpPr>
        <p:spPr>
          <a:xfrm>
            <a:off x="749808" y="4443984"/>
            <a:ext cx="420624" cy="420624"/>
          </a:xfrm>
          <a:prstGeom prst="ellipse">
            <a:avLst/>
          </a:prstGeom>
          <a:solidFill>
            <a:srgbClr val="EEA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9808" y="4443984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53312" y="4334256"/>
            <a:ext cx="20574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EA900"/>
                </a:solidFill>
                <a:latin typeface="Arial"/>
              </a:rPr>
              <a:t>Confirmation bias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273552" y="4334256"/>
            <a:ext cx="8138160" cy="658368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520440" y="4389120"/>
            <a:ext cx="7635240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18232B"/>
                </a:solidFill>
                <a:latin typeface="Arial"/>
              </a:rPr>
              <a:t>search framed around desired answer</a:t>
            </a:r>
          </a:p>
        </p:txBody>
      </p:sp>
      <p:sp>
        <p:nvSpPr>
          <p:cNvPr id="30" name="Oval 29"/>
          <p:cNvSpPr/>
          <p:nvPr/>
        </p:nvSpPr>
        <p:spPr>
          <a:xfrm>
            <a:off x="749808" y="5303520"/>
            <a:ext cx="420624" cy="420624"/>
          </a:xfrm>
          <a:prstGeom prst="ellipse">
            <a:avLst/>
          </a:prstGeom>
          <a:solidFill>
            <a:srgbClr val="F06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9808" y="5303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53312" y="5193792"/>
            <a:ext cx="20574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0674A"/>
                </a:solidFill>
                <a:latin typeface="Arial"/>
              </a:rPr>
              <a:t>PII leakage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273552" y="5193792"/>
            <a:ext cx="8138160" cy="658368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520440" y="5248656"/>
            <a:ext cx="7635240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18232B"/>
                </a:solidFill>
                <a:latin typeface="Arial"/>
              </a:rPr>
              <a:t>personal data added to prompts</a:t>
            </a:r>
          </a:p>
        </p:txBody>
      </p:sp>
    </p:spTree>
  </p:cSld>
  <p:clrMapOvr>
    <a:masterClrMapping/>
  </p:clrMapOvr>
  <p:transition spd="fast">
    <p:fade/>
  </p:transition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71600"/>
          </a:xfrm>
          <a:prstGeom prst="rect">
            <a:avLst/>
          </a:prstGeom>
          <a:solidFill>
            <a:srgbClr val="F06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0674A"/>
                </a:solidFill>
                <a:latin typeface="Arial"/>
              </a:rPr>
              <a:t>FAILURE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8232B"/>
                </a:solidFill>
                <a:latin typeface="Arial"/>
              </a:rPr>
              <a:t>Content Failure Modes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435608"/>
            <a:ext cx="10927080" cy="16459"/>
          </a:xfrm>
          <a:prstGeom prst="rect">
            <a:avLst/>
          </a:prstGeom>
          <a:solidFill>
            <a:srgbClr val="DD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63</a:t>
            </a:r>
          </a:p>
        </p:txBody>
      </p:sp>
      <p:sp>
        <p:nvSpPr>
          <p:cNvPr id="10" name="Oval 9"/>
          <p:cNvSpPr/>
          <p:nvPr/>
        </p:nvSpPr>
        <p:spPr>
          <a:xfrm>
            <a:off x="749808" y="1865376"/>
            <a:ext cx="420624" cy="420624"/>
          </a:xfrm>
          <a:prstGeom prst="ellipse">
            <a:avLst/>
          </a:prstGeom>
          <a:solidFill>
            <a:srgbClr val="F06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186537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1755648"/>
            <a:ext cx="20574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0674A"/>
                </a:solidFill>
                <a:latin typeface="Arial"/>
              </a:rPr>
              <a:t>Spam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73552" y="1755648"/>
            <a:ext cx="8138160" cy="658368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20440" y="1810512"/>
            <a:ext cx="7635240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18232B"/>
                </a:solidFill>
                <a:latin typeface="Arial"/>
              </a:rPr>
              <a:t>volume without audience value</a:t>
            </a:r>
          </a:p>
        </p:txBody>
      </p:sp>
      <p:sp>
        <p:nvSpPr>
          <p:cNvPr id="15" name="Oval 14"/>
          <p:cNvSpPr/>
          <p:nvPr/>
        </p:nvSpPr>
        <p:spPr>
          <a:xfrm>
            <a:off x="749808" y="2724912"/>
            <a:ext cx="420624" cy="420624"/>
          </a:xfrm>
          <a:prstGeom prst="ellipse">
            <a:avLst/>
          </a:prstGeom>
          <a:solidFill>
            <a:srgbClr val="EEA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272491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53312" y="2615184"/>
            <a:ext cx="20574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EA900"/>
                </a:solidFill>
                <a:latin typeface="Arial"/>
              </a:rPr>
              <a:t>Wrong words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73552" y="2615184"/>
            <a:ext cx="8138160" cy="658368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20440" y="2670048"/>
            <a:ext cx="7635240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18232B"/>
                </a:solidFill>
                <a:latin typeface="Arial"/>
              </a:rPr>
              <a:t>claims do not match intent</a:t>
            </a:r>
          </a:p>
        </p:txBody>
      </p:sp>
      <p:sp>
        <p:nvSpPr>
          <p:cNvPr id="20" name="Oval 19"/>
          <p:cNvSpPr/>
          <p:nvPr/>
        </p:nvSpPr>
        <p:spPr>
          <a:xfrm>
            <a:off x="749808" y="3584448"/>
            <a:ext cx="420624" cy="420624"/>
          </a:xfrm>
          <a:prstGeom prst="ellipse">
            <a:avLst/>
          </a:prstGeom>
          <a:solidFill>
            <a:srgbClr val="F06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8" y="3584448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53312" y="3474720"/>
            <a:ext cx="20574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0674A"/>
                </a:solidFill>
                <a:latin typeface="Arial"/>
              </a:rPr>
              <a:t>Wrong traffic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273552" y="3474720"/>
            <a:ext cx="8138160" cy="658368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20440" y="3529584"/>
            <a:ext cx="7635240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18232B"/>
                </a:solidFill>
                <a:latin typeface="Arial"/>
              </a:rPr>
              <a:t>reach without qualified demand</a:t>
            </a:r>
          </a:p>
        </p:txBody>
      </p:sp>
      <p:sp>
        <p:nvSpPr>
          <p:cNvPr id="25" name="Oval 24"/>
          <p:cNvSpPr/>
          <p:nvPr/>
        </p:nvSpPr>
        <p:spPr>
          <a:xfrm>
            <a:off x="749808" y="4443984"/>
            <a:ext cx="420624" cy="420624"/>
          </a:xfrm>
          <a:prstGeom prst="ellipse">
            <a:avLst/>
          </a:prstGeom>
          <a:solidFill>
            <a:srgbClr val="EEA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9808" y="4443984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53312" y="4334256"/>
            <a:ext cx="20574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EA900"/>
                </a:solidFill>
                <a:latin typeface="Arial"/>
              </a:rPr>
              <a:t>Demand error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273552" y="4334256"/>
            <a:ext cx="8138160" cy="658368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520440" y="4389120"/>
            <a:ext cx="7635240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18232B"/>
                </a:solidFill>
                <a:latin typeface="Arial"/>
              </a:rPr>
              <a:t>content solves no real job</a:t>
            </a:r>
          </a:p>
        </p:txBody>
      </p:sp>
      <p:sp>
        <p:nvSpPr>
          <p:cNvPr id="30" name="Oval 29"/>
          <p:cNvSpPr/>
          <p:nvPr/>
        </p:nvSpPr>
        <p:spPr>
          <a:xfrm>
            <a:off x="749808" y="5303520"/>
            <a:ext cx="420624" cy="420624"/>
          </a:xfrm>
          <a:prstGeom prst="ellipse">
            <a:avLst/>
          </a:prstGeom>
          <a:solidFill>
            <a:srgbClr val="F06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9808" y="5303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53312" y="5193792"/>
            <a:ext cx="20574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0674A"/>
                </a:solidFill>
                <a:latin typeface="Arial"/>
              </a:rPr>
              <a:t>Product error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273552" y="5193792"/>
            <a:ext cx="8138160" cy="658368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520440" y="5248656"/>
            <a:ext cx="7635240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18232B"/>
                </a:solidFill>
                <a:latin typeface="Arial"/>
              </a:rPr>
              <a:t>offer does not fit audience</a:t>
            </a:r>
          </a:p>
        </p:txBody>
      </p:sp>
    </p:spTree>
  </p:cSld>
  <p:clrMapOvr>
    <a:masterClrMapping/>
  </p:clrMapOvr>
  <p:transition spd="fast">
    <p:fade/>
  </p:transition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71600"/>
          </a:xfrm>
          <a:prstGeom prst="rect">
            <a:avLst/>
          </a:prstGeom>
          <a:solidFill>
            <a:srgbClr val="F06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0674A"/>
                </a:solidFill>
                <a:latin typeface="Arial"/>
              </a:rPr>
              <a:t>FAILURE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8232B"/>
                </a:solidFill>
                <a:latin typeface="Arial"/>
              </a:rPr>
              <a:t>Skill and Connector Controls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435608"/>
            <a:ext cx="10927080" cy="16459"/>
          </a:xfrm>
          <a:prstGeom prst="rect">
            <a:avLst/>
          </a:prstGeom>
          <a:solidFill>
            <a:srgbClr val="DD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64</a:t>
            </a:r>
          </a:p>
        </p:txBody>
      </p:sp>
      <p:sp>
        <p:nvSpPr>
          <p:cNvPr id="10" name="Oval 9"/>
          <p:cNvSpPr/>
          <p:nvPr/>
        </p:nvSpPr>
        <p:spPr>
          <a:xfrm>
            <a:off x="749808" y="1865376"/>
            <a:ext cx="420624" cy="420624"/>
          </a:xfrm>
          <a:prstGeom prst="ellipse">
            <a:avLst/>
          </a:prstGeom>
          <a:solidFill>
            <a:srgbClr val="F06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186537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1755648"/>
            <a:ext cx="20574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0674A"/>
                </a:solidFill>
                <a:latin typeface="Arial"/>
              </a:rPr>
              <a:t>Overbroad trigger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73552" y="1755648"/>
            <a:ext cx="8138160" cy="658368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20440" y="1810512"/>
            <a:ext cx="7635240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18232B"/>
                </a:solidFill>
                <a:latin typeface="Arial"/>
              </a:rPr>
              <a:t>Skill runs on unrelated tasks</a:t>
            </a:r>
          </a:p>
        </p:txBody>
      </p:sp>
      <p:sp>
        <p:nvSpPr>
          <p:cNvPr id="15" name="Oval 14"/>
          <p:cNvSpPr/>
          <p:nvPr/>
        </p:nvSpPr>
        <p:spPr>
          <a:xfrm>
            <a:off x="749808" y="2724912"/>
            <a:ext cx="420624" cy="420624"/>
          </a:xfrm>
          <a:prstGeom prst="ellipse">
            <a:avLst/>
          </a:prstGeom>
          <a:solidFill>
            <a:srgbClr val="EEA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272491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53312" y="2615184"/>
            <a:ext cx="20574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EA900"/>
                </a:solidFill>
                <a:latin typeface="Arial"/>
              </a:rPr>
              <a:t>Hidden write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73552" y="2615184"/>
            <a:ext cx="8138160" cy="658368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20440" y="2670048"/>
            <a:ext cx="7635240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18232B"/>
                </a:solidFill>
                <a:latin typeface="Arial"/>
              </a:rPr>
              <a:t>connector changes external state</a:t>
            </a:r>
          </a:p>
        </p:txBody>
      </p:sp>
      <p:sp>
        <p:nvSpPr>
          <p:cNvPr id="20" name="Oval 19"/>
          <p:cNvSpPr/>
          <p:nvPr/>
        </p:nvSpPr>
        <p:spPr>
          <a:xfrm>
            <a:off x="749808" y="3584448"/>
            <a:ext cx="420624" cy="420624"/>
          </a:xfrm>
          <a:prstGeom prst="ellipse">
            <a:avLst/>
          </a:prstGeom>
          <a:solidFill>
            <a:srgbClr val="F06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8" y="3584448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53312" y="3474720"/>
            <a:ext cx="20574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0674A"/>
                </a:solidFill>
                <a:latin typeface="Arial"/>
              </a:rPr>
              <a:t>Prompt injection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273552" y="3474720"/>
            <a:ext cx="8138160" cy="658368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20440" y="3529584"/>
            <a:ext cx="7635240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18232B"/>
                </a:solidFill>
                <a:latin typeface="Arial"/>
              </a:rPr>
              <a:t>source text overrides workflow</a:t>
            </a:r>
          </a:p>
        </p:txBody>
      </p:sp>
      <p:sp>
        <p:nvSpPr>
          <p:cNvPr id="25" name="Oval 24"/>
          <p:cNvSpPr/>
          <p:nvPr/>
        </p:nvSpPr>
        <p:spPr>
          <a:xfrm>
            <a:off x="749808" y="4443984"/>
            <a:ext cx="420624" cy="420624"/>
          </a:xfrm>
          <a:prstGeom prst="ellipse">
            <a:avLst/>
          </a:prstGeom>
          <a:solidFill>
            <a:srgbClr val="EEA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9808" y="4443984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53312" y="4334256"/>
            <a:ext cx="20574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EA900"/>
                </a:solidFill>
                <a:latin typeface="Arial"/>
              </a:rPr>
              <a:t>Secret exposure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273552" y="4334256"/>
            <a:ext cx="8138160" cy="658368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520440" y="4389120"/>
            <a:ext cx="7635240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18232B"/>
                </a:solidFill>
                <a:latin typeface="Arial"/>
              </a:rPr>
              <a:t>token appears in output</a:t>
            </a:r>
          </a:p>
        </p:txBody>
      </p:sp>
      <p:sp>
        <p:nvSpPr>
          <p:cNvPr id="30" name="Oval 29"/>
          <p:cNvSpPr/>
          <p:nvPr/>
        </p:nvSpPr>
        <p:spPr>
          <a:xfrm>
            <a:off x="749808" y="5303520"/>
            <a:ext cx="420624" cy="420624"/>
          </a:xfrm>
          <a:prstGeom prst="ellipse">
            <a:avLst/>
          </a:prstGeom>
          <a:solidFill>
            <a:srgbClr val="F06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9808" y="5303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53312" y="5193792"/>
            <a:ext cx="20574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0674A"/>
                </a:solidFill>
                <a:latin typeface="Arial"/>
              </a:rPr>
              <a:t>No version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273552" y="5193792"/>
            <a:ext cx="8138160" cy="658368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520440" y="5248656"/>
            <a:ext cx="7635240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18232B"/>
                </a:solidFill>
                <a:latin typeface="Arial"/>
              </a:rPr>
              <a:t>method changes without review</a:t>
            </a:r>
          </a:p>
        </p:txBody>
      </p:sp>
    </p:spTree>
  </p:cSld>
  <p:clrMapOvr>
    <a:masterClrMapping/>
  </p:clrMapOvr>
  <p:transition spd="fast">
    <p:fade/>
  </p:transition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71600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008F83"/>
                </a:solidFill>
                <a:latin typeface="Arial"/>
              </a:rPr>
              <a:t>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8232B"/>
                </a:solidFill>
                <a:latin typeface="Arial"/>
              </a:rPr>
              <a:t>LO1 Evidence Bundle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435608"/>
            <a:ext cx="10927080" cy="16459"/>
          </a:xfrm>
          <a:prstGeom prst="rect">
            <a:avLst/>
          </a:prstGeom>
          <a:solidFill>
            <a:srgbClr val="DD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65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1700784"/>
            <a:ext cx="3508248" cy="2139696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" y="1700784"/>
            <a:ext cx="73152" cy="2139696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22960" y="1920240"/>
            <a:ext cx="411480" cy="411480"/>
          </a:xfrm>
          <a:prstGeom prst="ellipse">
            <a:avLst/>
          </a:prstGeom>
          <a:solidFill>
            <a:srgbClr val="00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35024" y="1865376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08F83"/>
                </a:solidFill>
                <a:latin typeface="Arial"/>
              </a:rPr>
              <a:t>Evidence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" y="2414016"/>
            <a:ext cx="3087624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8232B"/>
                </a:solidFill>
                <a:latin typeface="Arial"/>
              </a:rPr>
              <a:t>offer economics model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31208" y="1700784"/>
            <a:ext cx="3508248" cy="2139696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31208" y="1700784"/>
            <a:ext cx="73152" cy="2139696"/>
          </a:xfrm>
          <a:prstGeom prst="rect">
            <a:avLst/>
          </a:prstGeom>
          <a:solidFill>
            <a:srgbClr val="F06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532376" y="1920240"/>
            <a:ext cx="411480" cy="411480"/>
          </a:xfrm>
          <a:prstGeom prst="ellipse">
            <a:avLst/>
          </a:prstGeom>
          <a:solidFill>
            <a:srgbClr val="F06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32376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44440" y="1865376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0674A"/>
                </a:solidFill>
                <a:latin typeface="Arial"/>
              </a:rPr>
              <a:t>Evidence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41520" y="2414016"/>
            <a:ext cx="3087624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8232B"/>
                </a:solidFill>
                <a:latin typeface="Arial"/>
              </a:rPr>
              <a:t>dated trend evidence cards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40624" y="1700784"/>
            <a:ext cx="3508248" cy="2139696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40624" y="1700784"/>
            <a:ext cx="73152" cy="2139696"/>
          </a:xfrm>
          <a:prstGeom prst="rect">
            <a:avLst/>
          </a:prstGeom>
          <a:solidFill>
            <a:srgbClr val="EE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241792" y="1920240"/>
            <a:ext cx="411480" cy="411480"/>
          </a:xfrm>
          <a:prstGeom prst="ellipse">
            <a:avLst/>
          </a:prstGeom>
          <a:solidFill>
            <a:srgbClr val="EEA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41792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53856" y="1865376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EEA900"/>
                </a:solidFill>
                <a:latin typeface="Arial"/>
              </a:rPr>
              <a:t>Evidence 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50936" y="2414016"/>
            <a:ext cx="3087624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8232B"/>
                </a:solidFill>
                <a:latin typeface="Arial"/>
              </a:rPr>
              <a:t>source allow-list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792" y="4041648"/>
            <a:ext cx="3508248" cy="2139696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1792" y="4041648"/>
            <a:ext cx="73152" cy="2139696"/>
          </a:xfrm>
          <a:prstGeom prst="rect">
            <a:avLst/>
          </a:prstGeom>
          <a:solidFill>
            <a:srgbClr val="3543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22960" y="4261104"/>
            <a:ext cx="411480" cy="411480"/>
          </a:xfrm>
          <a:prstGeom prst="ellipse">
            <a:avLst/>
          </a:prstGeom>
          <a:solidFill>
            <a:srgbClr val="3543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4261104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35024" y="4206240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354352"/>
                </a:solidFill>
                <a:latin typeface="Arial"/>
              </a:rPr>
              <a:t>Evidence 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04" y="4754880"/>
            <a:ext cx="3087624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8232B"/>
                </a:solidFill>
                <a:latin typeface="Arial"/>
              </a:rPr>
              <a:t>custom research Skill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31208" y="4041648"/>
            <a:ext cx="3508248" cy="2139696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331208" y="4041648"/>
            <a:ext cx="73152" cy="2139696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4532376" y="4261104"/>
            <a:ext cx="411480" cy="411480"/>
          </a:xfrm>
          <a:prstGeom prst="ellipse">
            <a:avLst/>
          </a:prstGeom>
          <a:solidFill>
            <a:srgbClr val="00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32376" y="4261104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44440" y="4206240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08F83"/>
                </a:solidFill>
                <a:latin typeface="Arial"/>
              </a:rPr>
              <a:t>Evidence 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41520" y="4754880"/>
            <a:ext cx="3087624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8232B"/>
                </a:solidFill>
                <a:latin typeface="Arial"/>
              </a:rPr>
              <a:t>product update brief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040624" y="4041648"/>
            <a:ext cx="3508248" cy="2139696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040624" y="4041648"/>
            <a:ext cx="73152" cy="2139696"/>
          </a:xfrm>
          <a:prstGeom prst="rect">
            <a:avLst/>
          </a:prstGeom>
          <a:solidFill>
            <a:srgbClr val="F06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8241792" y="4261104"/>
            <a:ext cx="411480" cy="411480"/>
          </a:xfrm>
          <a:prstGeom prst="ellipse">
            <a:avLst/>
          </a:prstGeom>
          <a:solidFill>
            <a:srgbClr val="F06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41792" y="4261104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753856" y="4206240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0674A"/>
                </a:solidFill>
                <a:latin typeface="Arial"/>
              </a:rPr>
              <a:t>Evidence 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50936" y="4754880"/>
            <a:ext cx="3087624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8232B"/>
                </a:solidFill>
                <a:latin typeface="Arial"/>
              </a:rPr>
              <a:t>human approval record</a:t>
            </a:r>
          </a:p>
        </p:txBody>
      </p:sp>
    </p:spTree>
  </p:cSld>
  <p:clrMapOvr>
    <a:masterClrMapping/>
  </p:clrMapOvr>
  <p:transition spd="fast">
    <p:fade/>
  </p:transition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71600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008F83"/>
                </a:solidFill>
                <a:latin typeface="Arial"/>
              </a:rPr>
              <a:t>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8232B"/>
                </a:solidFill>
                <a:latin typeface="Arial"/>
              </a:rPr>
              <a:t>Ebook Foundation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435608"/>
            <a:ext cx="10927080" cy="16459"/>
          </a:xfrm>
          <a:prstGeom prst="rect">
            <a:avLst/>
          </a:prstGeom>
          <a:solidFill>
            <a:srgbClr val="DD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66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1700784"/>
            <a:ext cx="3508248" cy="2139696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" y="1700784"/>
            <a:ext cx="73152" cy="2139696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22960" y="1920240"/>
            <a:ext cx="411480" cy="411480"/>
          </a:xfrm>
          <a:prstGeom prst="ellipse">
            <a:avLst/>
          </a:prstGeom>
          <a:solidFill>
            <a:srgbClr val="00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35024" y="1865376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08F83"/>
                </a:solidFill>
                <a:latin typeface="Arial"/>
              </a:rPr>
              <a:t>Evidence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" y="2414016"/>
            <a:ext cx="3087624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8232B"/>
                </a:solidFill>
                <a:latin typeface="Arial"/>
              </a:rPr>
              <a:t>product and niche criteria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31208" y="1700784"/>
            <a:ext cx="3508248" cy="2139696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31208" y="1700784"/>
            <a:ext cx="73152" cy="2139696"/>
          </a:xfrm>
          <a:prstGeom prst="rect">
            <a:avLst/>
          </a:prstGeom>
          <a:solidFill>
            <a:srgbClr val="F06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532376" y="1920240"/>
            <a:ext cx="411480" cy="411480"/>
          </a:xfrm>
          <a:prstGeom prst="ellipse">
            <a:avLst/>
          </a:prstGeom>
          <a:solidFill>
            <a:srgbClr val="F06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32376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44440" y="1865376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0674A"/>
                </a:solidFill>
                <a:latin typeface="Arial"/>
              </a:rPr>
              <a:t>Evidence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41520" y="2414016"/>
            <a:ext cx="3087624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8232B"/>
                </a:solidFill>
                <a:latin typeface="Arial"/>
              </a:rPr>
              <a:t>EPC and conversion tracking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40624" y="1700784"/>
            <a:ext cx="3508248" cy="2139696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40624" y="1700784"/>
            <a:ext cx="73152" cy="2139696"/>
          </a:xfrm>
          <a:prstGeom prst="rect">
            <a:avLst/>
          </a:prstGeom>
          <a:solidFill>
            <a:srgbClr val="EE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241792" y="1920240"/>
            <a:ext cx="411480" cy="411480"/>
          </a:xfrm>
          <a:prstGeom prst="ellipse">
            <a:avLst/>
          </a:prstGeom>
          <a:solidFill>
            <a:srgbClr val="EEA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41792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53856" y="1865376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EEA900"/>
                </a:solidFill>
                <a:latin typeface="Arial"/>
              </a:rPr>
              <a:t>Evidence 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50936" y="2414016"/>
            <a:ext cx="3087624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8232B"/>
                </a:solidFill>
                <a:latin typeface="Arial"/>
              </a:rPr>
              <a:t>review-writing structure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792" y="4041648"/>
            <a:ext cx="3508248" cy="2139696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1792" y="4041648"/>
            <a:ext cx="73152" cy="2139696"/>
          </a:xfrm>
          <a:prstGeom prst="rect">
            <a:avLst/>
          </a:prstGeom>
          <a:solidFill>
            <a:srgbClr val="3543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22960" y="4261104"/>
            <a:ext cx="411480" cy="411480"/>
          </a:xfrm>
          <a:prstGeom prst="ellipse">
            <a:avLst/>
          </a:prstGeom>
          <a:solidFill>
            <a:srgbClr val="3543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4261104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35024" y="4206240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354352"/>
                </a:solidFill>
                <a:latin typeface="Arial"/>
              </a:rPr>
              <a:t>Evidence 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04" y="4754880"/>
            <a:ext cx="3087624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8232B"/>
                </a:solidFill>
                <a:latin typeface="Arial"/>
              </a:rPr>
              <a:t>SEO, email, social and video channels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31208" y="4041648"/>
            <a:ext cx="3508248" cy="2139696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331208" y="4041648"/>
            <a:ext cx="73152" cy="2139696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4532376" y="4261104"/>
            <a:ext cx="411480" cy="411480"/>
          </a:xfrm>
          <a:prstGeom prst="ellipse">
            <a:avLst/>
          </a:prstGeom>
          <a:solidFill>
            <a:srgbClr val="00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32376" y="4261104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44440" y="4206240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08F83"/>
                </a:solidFill>
                <a:latin typeface="Arial"/>
              </a:rPr>
              <a:t>Evidence 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41520" y="4754880"/>
            <a:ext cx="3087624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8232B"/>
                </a:solidFill>
                <a:latin typeface="Arial"/>
              </a:rPr>
              <a:t>branding and audience fit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040624" y="4041648"/>
            <a:ext cx="3508248" cy="2139696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040624" y="4041648"/>
            <a:ext cx="73152" cy="2139696"/>
          </a:xfrm>
          <a:prstGeom prst="rect">
            <a:avLst/>
          </a:prstGeom>
          <a:solidFill>
            <a:srgbClr val="F06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8241792" y="4261104"/>
            <a:ext cx="411480" cy="411480"/>
          </a:xfrm>
          <a:prstGeom prst="ellipse">
            <a:avLst/>
          </a:prstGeom>
          <a:solidFill>
            <a:srgbClr val="F06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41792" y="4261104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753856" y="4206240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0674A"/>
                </a:solidFill>
                <a:latin typeface="Arial"/>
              </a:rPr>
              <a:t>Evidence 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50936" y="4754880"/>
            <a:ext cx="3087624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8232B"/>
                </a:solidFill>
                <a:latin typeface="Arial"/>
              </a:rPr>
              <a:t>spam and traffic-quality mistakes</a:t>
            </a:r>
          </a:p>
        </p:txBody>
      </p:sp>
    </p:spTree>
  </p:cSld>
  <p:clrMapOvr>
    <a:masterClrMapping/>
  </p:clrMapOvr>
  <p:transition spd="fast">
    <p:fade/>
  </p:transition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874519"/>
            <a:ext cx="85953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0674A"/>
                </a:solidFill>
                <a:latin typeface="Arial"/>
              </a:rPr>
              <a:t>LAB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359152"/>
            <a:ext cx="9875520" cy="13258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8232B"/>
                </a:solidFill>
                <a:latin typeface="Arial"/>
              </a:rPr>
              <a:t>Affiliate Offer Economics and Niche Fit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6968" y="3840480"/>
            <a:ext cx="9052560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5E6872"/>
                </a:solidFill>
                <a:latin typeface="Arial"/>
              </a:rPr>
              <a:t>LO1 · 25 minutes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84080" y="731520"/>
            <a:ext cx="1828800" cy="10972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6400" b="1">
                <a:solidFill>
                  <a:srgbClr val="DDE4E8"/>
                </a:solidFill>
                <a:latin typeface="Arial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Agentic AI for Affiliate Marketing · C1319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67</a:t>
            </a:r>
          </a:p>
        </p:txBody>
      </p:sp>
    </p:spTree>
  </p:cSld>
  <p:clrMapOvr>
    <a:masterClrMapping/>
  </p:clrMapOvr>
  <p:transition spd="med">
    <p:push/>
  </p:transition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71600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008F83"/>
                </a:solidFill>
                <a:latin typeface="Arial"/>
              </a:rPr>
              <a:t>PRACTICE BRIDGE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8232B"/>
                </a:solidFill>
                <a:latin typeface="Arial"/>
              </a:rPr>
              <a:t>Lab 1 Scenario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435608"/>
            <a:ext cx="10927080" cy="16459"/>
          </a:xfrm>
          <a:prstGeom prst="rect">
            <a:avLst/>
          </a:prstGeom>
          <a:solidFill>
            <a:srgbClr val="DD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68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1700784"/>
            <a:ext cx="3508248" cy="448056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" y="1700784"/>
            <a:ext cx="73152" cy="4480560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22960" y="1920240"/>
            <a:ext cx="411480" cy="411480"/>
          </a:xfrm>
          <a:prstGeom prst="ellipse">
            <a:avLst/>
          </a:prstGeom>
          <a:solidFill>
            <a:srgbClr val="00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35024" y="1865376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08F83"/>
                </a:solidFill>
                <a:latin typeface="Arial"/>
              </a:rPr>
              <a:t>Business need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" y="2414016"/>
            <a:ext cx="3087624" cy="3611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8232B"/>
                </a:solidFill>
                <a:latin typeface="Arial"/>
              </a:rPr>
              <a:t>Evaluate three retail and hospitality offers using the ebook-derived product criteria, current evidence, EPC, conversion, reversal and break-even models.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31208" y="1700784"/>
            <a:ext cx="3508248" cy="448056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31208" y="1700784"/>
            <a:ext cx="73152" cy="4480560"/>
          </a:xfrm>
          <a:prstGeom prst="rect">
            <a:avLst/>
          </a:prstGeom>
          <a:solidFill>
            <a:srgbClr val="F06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532376" y="1920240"/>
            <a:ext cx="411480" cy="411480"/>
          </a:xfrm>
          <a:prstGeom prst="ellipse">
            <a:avLst/>
          </a:prstGeom>
          <a:solidFill>
            <a:srgbClr val="F06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32376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44440" y="1865376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0674A"/>
                </a:solidFill>
                <a:latin typeface="Arial"/>
              </a:rPr>
              <a:t>Deliverable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41520" y="2414016"/>
            <a:ext cx="3087624" cy="3611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8232B"/>
                </a:solidFill>
                <a:latin typeface="Arial"/>
              </a:rPr>
              <a:t>A source-backed offer scorecard and deterministic economics report.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40624" y="1700784"/>
            <a:ext cx="3508248" cy="448056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40624" y="1700784"/>
            <a:ext cx="73152" cy="4480560"/>
          </a:xfrm>
          <a:prstGeom prst="rect">
            <a:avLst/>
          </a:prstGeom>
          <a:solidFill>
            <a:srgbClr val="EE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241792" y="1920240"/>
            <a:ext cx="411480" cy="411480"/>
          </a:xfrm>
          <a:prstGeom prst="ellipse">
            <a:avLst/>
          </a:prstGeom>
          <a:solidFill>
            <a:srgbClr val="EEA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41792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53856" y="1865376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EEA900"/>
                </a:solidFill>
                <a:latin typeface="Arial"/>
              </a:rPr>
              <a:t>Tool boundary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50936" y="2414016"/>
            <a:ext cx="3087624" cy="3611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8232B"/>
                </a:solidFill>
                <a:latin typeface="Arial"/>
              </a:rPr>
              <a:t>Claude Cowork, spreadsheet/CSV, Python calculator, supplied product evidence</a:t>
            </a:r>
          </a:p>
        </p:txBody>
      </p:sp>
    </p:spTree>
  </p:cSld>
  <p:clrMapOvr>
    <a:masterClrMapping/>
  </p:clrMapOvr>
  <p:transition spd="fast">
    <p:fade/>
  </p:transition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71600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008F83"/>
                </a:solidFill>
                <a:latin typeface="Arial"/>
              </a:rPr>
              <a:t>HOW THE WORKFLOW RUNS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8232B"/>
                </a:solidFill>
                <a:latin typeface="Arial"/>
              </a:rPr>
              <a:t>Lab 1 Runtime Mechanism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435608"/>
            <a:ext cx="10927080" cy="16459"/>
          </a:xfrm>
          <a:prstGeom prst="rect">
            <a:avLst/>
          </a:prstGeom>
          <a:solidFill>
            <a:srgbClr val="DD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69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240280"/>
            <a:ext cx="1967788" cy="301752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322222" y="2532888"/>
            <a:ext cx="640080" cy="640080"/>
          </a:xfrm>
          <a:prstGeom prst="ellipse">
            <a:avLst/>
          </a:prstGeom>
          <a:solidFill>
            <a:srgbClr val="00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2222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18232B"/>
                </a:solidFill>
                <a:latin typeface="Arial"/>
              </a:rPr>
              <a:t>Load offer and traffic assumptions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626156" y="3749040"/>
            <a:ext cx="256032" cy="0"/>
          </a:xfrm>
          <a:prstGeom prst="line">
            <a:avLst/>
          </a:prstGeom>
          <a:ln w="31750">
            <a:solidFill>
              <a:srgbClr val="008F8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882188" y="2240280"/>
            <a:ext cx="1967788" cy="301752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46042" y="2532888"/>
            <a:ext cx="640080" cy="640080"/>
          </a:xfrm>
          <a:prstGeom prst="ellipse">
            <a:avLst/>
          </a:prstGeom>
          <a:solidFill>
            <a:srgbClr val="F06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4604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9191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18232B"/>
                </a:solidFill>
                <a:latin typeface="Arial"/>
              </a:rPr>
              <a:t>Validate denominators and dates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849976" y="3749040"/>
            <a:ext cx="256032" cy="0"/>
          </a:xfrm>
          <a:prstGeom prst="line">
            <a:avLst/>
          </a:prstGeom>
          <a:ln w="31750">
            <a:solidFill>
              <a:srgbClr val="008F8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106008" y="2240280"/>
            <a:ext cx="1967788" cy="301752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69862" y="2532888"/>
            <a:ext cx="640080" cy="640080"/>
          </a:xfrm>
          <a:prstGeom prst="ellipse">
            <a:avLst/>
          </a:prstGeom>
          <a:solidFill>
            <a:srgbClr val="EEA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986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573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18232B"/>
                </a:solidFill>
                <a:latin typeface="Arial"/>
              </a:rPr>
              <a:t>Calculate EPC, CVR and break-even CPC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73796" y="3749040"/>
            <a:ext cx="256032" cy="0"/>
          </a:xfrm>
          <a:prstGeom prst="line">
            <a:avLst/>
          </a:prstGeom>
          <a:ln w="31750">
            <a:solidFill>
              <a:srgbClr val="008F8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329828" y="2240280"/>
            <a:ext cx="1967788" cy="301752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93682" y="2532888"/>
            <a:ext cx="640080" cy="640080"/>
          </a:xfrm>
          <a:prstGeom prst="ellipse">
            <a:avLst/>
          </a:prstGeom>
          <a:solidFill>
            <a:srgbClr val="3543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9368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3955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18232B"/>
                </a:solidFill>
                <a:latin typeface="Arial"/>
              </a:rPr>
              <a:t>Apply non-compensable fit and policy gates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297616" y="3749040"/>
            <a:ext cx="256032" cy="0"/>
          </a:xfrm>
          <a:prstGeom prst="line">
            <a:avLst/>
          </a:prstGeom>
          <a:ln w="31750">
            <a:solidFill>
              <a:srgbClr val="008F8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553648" y="2240280"/>
            <a:ext cx="1967788" cy="301752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217502" y="2532888"/>
            <a:ext cx="640080" cy="640080"/>
          </a:xfrm>
          <a:prstGeom prst="ellipse">
            <a:avLst/>
          </a:prstGeom>
          <a:solidFill>
            <a:srgbClr val="00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1750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6337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18232B"/>
                </a:solidFill>
                <a:latin typeface="Arial"/>
              </a:rPr>
              <a:t>Human selects one pilot offer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3232" y="5577840"/>
            <a:ext cx="10698480" cy="4206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5E6872"/>
                </a:solidFill>
                <a:latin typeface="Arial"/>
              </a:rPr>
              <a:t>Read left to right. Each boundary has a named payload, state transition and owner.</a:t>
            </a:r>
          </a:p>
        </p:txBody>
      </p:sp>
    </p:spTree>
  </p:cSld>
  <p:clrMapOvr>
    <a:masterClrMapping/>
  </p:clrMapOvr>
  <p:transition spd="fast">
    <p:fade/>
  </p:transition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71600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008F83"/>
                </a:solidFill>
                <a:latin typeface="Arial"/>
              </a:rPr>
              <a:t>WHAT MUST REMAIN TRUE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8232B"/>
                </a:solidFill>
                <a:latin typeface="Arial"/>
              </a:rPr>
              <a:t>Lab 1 Concrete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435608"/>
            <a:ext cx="10927080" cy="16459"/>
          </a:xfrm>
          <a:prstGeom prst="rect">
            <a:avLst/>
          </a:prstGeom>
          <a:solidFill>
            <a:srgbClr val="DD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70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" y="1783080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4944" y="1783080"/>
            <a:ext cx="1755648" cy="841248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1901952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Rule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15184" y="1892808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18232B"/>
                </a:solidFill>
                <a:latin typeface="Arial"/>
              </a:rPr>
              <a:t>unique clicks are the EPC denominator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9632" y="1783080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99632" y="1783080"/>
            <a:ext cx="1755648" cy="841248"/>
          </a:xfrm>
          <a:prstGeom prst="rect">
            <a:avLst/>
          </a:prstGeom>
          <a:solidFill>
            <a:srgbClr val="F06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1901952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Rule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19872" y="1892808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18232B"/>
                </a:solidFill>
                <a:latin typeface="Arial"/>
              </a:rPr>
              <a:t>approved conversions exclude reversals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4944" y="2807208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4944" y="2807208"/>
            <a:ext cx="1755648" cy="841248"/>
          </a:xfrm>
          <a:prstGeom prst="rect">
            <a:avLst/>
          </a:prstGeom>
          <a:solidFill>
            <a:srgbClr val="EE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" y="2926080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Rule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15184" y="2916936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18232B"/>
                </a:solidFill>
                <a:latin typeface="Arial"/>
              </a:rPr>
              <a:t>commission terms are effective-dated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99632" y="2807208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99632" y="2807208"/>
            <a:ext cx="1755648" cy="841248"/>
          </a:xfrm>
          <a:prstGeom prst="rect">
            <a:avLst/>
          </a:prstGeom>
          <a:solidFill>
            <a:srgbClr val="3543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9360" y="2926080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Rule 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19872" y="2916936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18232B"/>
                </a:solidFill>
                <a:latin typeface="Arial"/>
              </a:rPr>
              <a:t>every qualitative score cites evidence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94944" y="3831336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94944" y="3831336"/>
            <a:ext cx="1755648" cy="841248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4672" y="3950208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Rule 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15184" y="3941064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18232B"/>
                </a:solidFill>
                <a:latin typeface="Arial"/>
              </a:rPr>
              <a:t>hard policy gates run before ranking</a:t>
            </a:r>
          </a:p>
        </p:txBody>
      </p:sp>
    </p:spTree>
  </p:cSld>
  <p:clrMapOvr>
    <a:masterClrMapping/>
  </p:clrMapOvr>
  <p:transition spd="fast">
    <p:fade/>
  </p:transition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71600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008F83"/>
                </a:solidFill>
                <a:latin typeface="Arial"/>
              </a:rPr>
              <a:t>WHAT TO CAPTURE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8232B"/>
                </a:solidFill>
                <a:latin typeface="Arial"/>
              </a:rPr>
              <a:t>Lab 1 Evidence Package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435608"/>
            <a:ext cx="10927080" cy="16459"/>
          </a:xfrm>
          <a:prstGeom prst="rect">
            <a:avLst/>
          </a:prstGeom>
          <a:solidFill>
            <a:srgbClr val="DD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71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1700784"/>
            <a:ext cx="3508248" cy="2139696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" y="1700784"/>
            <a:ext cx="73152" cy="2139696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22960" y="1920240"/>
            <a:ext cx="411480" cy="411480"/>
          </a:xfrm>
          <a:prstGeom prst="ellipse">
            <a:avLst/>
          </a:prstGeom>
          <a:solidFill>
            <a:srgbClr val="00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35024" y="1865376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08F83"/>
                </a:solidFill>
                <a:latin typeface="Arial"/>
              </a:rPr>
              <a:t>Evidence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" y="2414016"/>
            <a:ext cx="3087624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8232B"/>
                </a:solidFill>
                <a:latin typeface="Arial"/>
              </a:rPr>
              <a:t>completed offer-inputs.csv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31208" y="1700784"/>
            <a:ext cx="3508248" cy="2139696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31208" y="1700784"/>
            <a:ext cx="73152" cy="2139696"/>
          </a:xfrm>
          <a:prstGeom prst="rect">
            <a:avLst/>
          </a:prstGeom>
          <a:solidFill>
            <a:srgbClr val="F06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532376" y="1920240"/>
            <a:ext cx="411480" cy="411480"/>
          </a:xfrm>
          <a:prstGeom prst="ellipse">
            <a:avLst/>
          </a:prstGeom>
          <a:solidFill>
            <a:srgbClr val="F06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32376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44440" y="1865376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0674A"/>
                </a:solidFill>
                <a:latin typeface="Arial"/>
              </a:rPr>
              <a:t>Evidence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41520" y="2414016"/>
            <a:ext cx="3087624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8232B"/>
                </a:solidFill>
                <a:latin typeface="Arial"/>
              </a:rPr>
              <a:t>offer-economics-report.md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40624" y="1700784"/>
            <a:ext cx="3508248" cy="2139696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40624" y="1700784"/>
            <a:ext cx="73152" cy="2139696"/>
          </a:xfrm>
          <a:prstGeom prst="rect">
            <a:avLst/>
          </a:prstGeom>
          <a:solidFill>
            <a:srgbClr val="EE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241792" y="1920240"/>
            <a:ext cx="411480" cy="411480"/>
          </a:xfrm>
          <a:prstGeom prst="ellipse">
            <a:avLst/>
          </a:prstGeom>
          <a:solidFill>
            <a:srgbClr val="EEA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41792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53856" y="1865376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EEA900"/>
                </a:solidFill>
                <a:latin typeface="Arial"/>
              </a:rPr>
              <a:t>Evidence 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50936" y="2414016"/>
            <a:ext cx="3087624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8232B"/>
                </a:solidFill>
                <a:latin typeface="Arial"/>
              </a:rPr>
              <a:t>source notes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792" y="4041648"/>
            <a:ext cx="3508248" cy="2139696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1792" y="4041648"/>
            <a:ext cx="73152" cy="2139696"/>
          </a:xfrm>
          <a:prstGeom prst="rect">
            <a:avLst/>
          </a:prstGeom>
          <a:solidFill>
            <a:srgbClr val="3543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22960" y="4261104"/>
            <a:ext cx="411480" cy="411480"/>
          </a:xfrm>
          <a:prstGeom prst="ellipse">
            <a:avLst/>
          </a:prstGeom>
          <a:solidFill>
            <a:srgbClr val="3543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4261104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35024" y="4206240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354352"/>
                </a:solidFill>
                <a:latin typeface="Arial"/>
              </a:rPr>
              <a:t>Evidence 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04" y="4754880"/>
            <a:ext cx="3087624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8232B"/>
                </a:solidFill>
                <a:latin typeface="Arial"/>
              </a:rPr>
              <a:t>selected offer and rationale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31208" y="4041648"/>
            <a:ext cx="3508248" cy="2139696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331208" y="4041648"/>
            <a:ext cx="73152" cy="2139696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4532376" y="4261104"/>
            <a:ext cx="411480" cy="411480"/>
          </a:xfrm>
          <a:prstGeom prst="ellipse">
            <a:avLst/>
          </a:prstGeom>
          <a:solidFill>
            <a:srgbClr val="00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32376" y="4261104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44440" y="4206240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08F83"/>
                </a:solidFill>
                <a:latin typeface="Arial"/>
              </a:rPr>
              <a:t>Evidence 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41520" y="4754880"/>
            <a:ext cx="3087624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8232B"/>
                </a:solidFill>
                <a:latin typeface="Arial"/>
              </a:rPr>
              <a:t>one rejected offer with gate reason</a:t>
            </a:r>
          </a:p>
        </p:txBody>
      </p:sp>
    </p:spTree>
  </p:cSld>
  <p:clrMapOvr>
    <a:masterClrMapping/>
  </p:clrMapOvr>
  <p:transition spd="fast">
    <p:fade/>
  </p:transition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71600"/>
          </a:xfrm>
          <a:prstGeom prst="rect">
            <a:avLst/>
          </a:prstGeom>
          <a:solidFill>
            <a:srgbClr val="F06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0674A"/>
                </a:solidFill>
                <a:latin typeface="Arial"/>
              </a:rPr>
              <a:t>TEST WITHOUT CLICK PATHS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8232B"/>
                </a:solidFill>
                <a:latin typeface="Arial"/>
              </a:rPr>
              <a:t>Lab 1 Verification and Failure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435608"/>
            <a:ext cx="10927080" cy="16459"/>
          </a:xfrm>
          <a:prstGeom prst="rect">
            <a:avLst/>
          </a:prstGeom>
          <a:solidFill>
            <a:srgbClr val="DD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72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783080"/>
            <a:ext cx="5257800" cy="4315968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783080"/>
            <a:ext cx="5257800" cy="109728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2029968"/>
            <a:ext cx="470916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008F83"/>
                </a:solidFill>
                <a:latin typeface="Arial"/>
              </a:rPr>
              <a:t>Accept</a:t>
            </a:r>
          </a:p>
        </p:txBody>
      </p:sp>
      <p:sp>
        <p:nvSpPr>
          <p:cNvPr id="13" name="Oval 12"/>
          <p:cNvSpPr/>
          <p:nvPr/>
        </p:nvSpPr>
        <p:spPr>
          <a:xfrm>
            <a:off x="950976" y="2743200"/>
            <a:ext cx="365760" cy="365760"/>
          </a:xfrm>
          <a:prstGeom prst="ellipse">
            <a:avLst/>
          </a:prstGeom>
          <a:solidFill>
            <a:srgbClr val="00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0976" y="274320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1328" y="267919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18232B"/>
                </a:solidFill>
                <a:latin typeface="Arial"/>
              </a:rPr>
              <a:t>all numeric metrics recompute</a:t>
            </a:r>
          </a:p>
        </p:txBody>
      </p:sp>
      <p:sp>
        <p:nvSpPr>
          <p:cNvPr id="16" name="Oval 15"/>
          <p:cNvSpPr/>
          <p:nvPr/>
        </p:nvSpPr>
        <p:spPr>
          <a:xfrm>
            <a:off x="950976" y="3463290"/>
            <a:ext cx="365760" cy="365760"/>
          </a:xfrm>
          <a:prstGeom prst="ellipse">
            <a:avLst/>
          </a:prstGeom>
          <a:solidFill>
            <a:srgbClr val="00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0976" y="346329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1328" y="339928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18232B"/>
                </a:solidFill>
                <a:latin typeface="Arial"/>
              </a:rPr>
              <a:t>source dates recorded</a:t>
            </a:r>
          </a:p>
        </p:txBody>
      </p:sp>
      <p:sp>
        <p:nvSpPr>
          <p:cNvPr id="19" name="Oval 18"/>
          <p:cNvSpPr/>
          <p:nvPr/>
        </p:nvSpPr>
        <p:spPr>
          <a:xfrm>
            <a:off x="950976" y="4183380"/>
            <a:ext cx="365760" cy="365760"/>
          </a:xfrm>
          <a:prstGeom prst="ellipse">
            <a:avLst/>
          </a:prstGeom>
          <a:solidFill>
            <a:srgbClr val="00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976" y="418338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81328" y="411937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18232B"/>
                </a:solidFill>
                <a:latin typeface="Arial"/>
              </a:rPr>
              <a:t>hard gates applied before ranking</a:t>
            </a:r>
          </a:p>
        </p:txBody>
      </p:sp>
      <p:sp>
        <p:nvSpPr>
          <p:cNvPr id="22" name="Oval 21"/>
          <p:cNvSpPr/>
          <p:nvPr/>
        </p:nvSpPr>
        <p:spPr>
          <a:xfrm>
            <a:off x="950976" y="4903470"/>
            <a:ext cx="365760" cy="365760"/>
          </a:xfrm>
          <a:prstGeom prst="ellipse">
            <a:avLst/>
          </a:prstGeom>
          <a:solidFill>
            <a:srgbClr val="00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0976" y="490347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81328" y="483946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18232B"/>
                </a:solidFill>
                <a:latin typeface="Arial"/>
              </a:rPr>
              <a:t>pilot has CPC ceiling</a:t>
            </a:r>
          </a:p>
        </p:txBody>
      </p:sp>
      <p:sp>
        <p:nvSpPr>
          <p:cNvPr id="25" name="Oval 24"/>
          <p:cNvSpPr/>
          <p:nvPr/>
        </p:nvSpPr>
        <p:spPr>
          <a:xfrm>
            <a:off x="950976" y="5623560"/>
            <a:ext cx="365760" cy="365760"/>
          </a:xfrm>
          <a:prstGeom prst="ellipse">
            <a:avLst/>
          </a:prstGeom>
          <a:solidFill>
            <a:srgbClr val="00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50976" y="562356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81328" y="555955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18232B"/>
                </a:solidFill>
                <a:latin typeface="Arial"/>
              </a:rPr>
              <a:t>no unsupported claim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63640" y="1783080"/>
            <a:ext cx="5257800" cy="4315968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63640" y="1783080"/>
            <a:ext cx="5257800" cy="109728"/>
          </a:xfrm>
          <a:prstGeom prst="rect">
            <a:avLst/>
          </a:prstGeom>
          <a:solidFill>
            <a:srgbClr val="F06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37960" y="2029968"/>
            <a:ext cx="470916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F0674A"/>
                </a:solidFill>
                <a:latin typeface="Arial"/>
              </a:rPr>
              <a:t>Diagnose</a:t>
            </a:r>
          </a:p>
        </p:txBody>
      </p:sp>
      <p:sp>
        <p:nvSpPr>
          <p:cNvPr id="31" name="Oval 30"/>
          <p:cNvSpPr/>
          <p:nvPr/>
        </p:nvSpPr>
        <p:spPr>
          <a:xfrm>
            <a:off x="6556248" y="2743200"/>
            <a:ext cx="365760" cy="365760"/>
          </a:xfrm>
          <a:prstGeom prst="ellipse">
            <a:avLst/>
          </a:prstGeom>
          <a:solidFill>
            <a:srgbClr val="F06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56248" y="274320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86600" y="267919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8232B"/>
                </a:solidFill>
                <a:latin typeface="Arial"/>
              </a:rPr>
              <a:t>missing denominator blocks calculation</a:t>
            </a:r>
          </a:p>
        </p:txBody>
      </p:sp>
      <p:sp>
        <p:nvSpPr>
          <p:cNvPr id="34" name="Oval 33"/>
          <p:cNvSpPr/>
          <p:nvPr/>
        </p:nvSpPr>
        <p:spPr>
          <a:xfrm>
            <a:off x="6556248" y="3566160"/>
            <a:ext cx="365760" cy="365760"/>
          </a:xfrm>
          <a:prstGeom prst="ellipse">
            <a:avLst/>
          </a:prstGeom>
          <a:solidFill>
            <a:srgbClr val="F06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56248" y="356616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86600" y="350215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8232B"/>
                </a:solidFill>
                <a:latin typeface="Arial"/>
              </a:rPr>
              <a:t>stale product evidence lowers confidence</a:t>
            </a:r>
          </a:p>
        </p:txBody>
      </p:sp>
      <p:sp>
        <p:nvSpPr>
          <p:cNvPr id="37" name="Oval 36"/>
          <p:cNvSpPr/>
          <p:nvPr/>
        </p:nvSpPr>
        <p:spPr>
          <a:xfrm>
            <a:off x="6556248" y="4389120"/>
            <a:ext cx="365760" cy="365760"/>
          </a:xfrm>
          <a:prstGeom prst="ellipse">
            <a:avLst/>
          </a:prstGeom>
          <a:solidFill>
            <a:srgbClr val="F06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56248" y="438912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086600" y="432511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8232B"/>
                </a:solidFill>
                <a:latin typeface="Arial"/>
              </a:rPr>
              <a:t>high rate cannot offset poor audience fit</a:t>
            </a:r>
          </a:p>
        </p:txBody>
      </p:sp>
      <p:sp>
        <p:nvSpPr>
          <p:cNvPr id="40" name="Oval 39"/>
          <p:cNvSpPr/>
          <p:nvPr/>
        </p:nvSpPr>
        <p:spPr>
          <a:xfrm>
            <a:off x="6556248" y="5212080"/>
            <a:ext cx="365760" cy="365760"/>
          </a:xfrm>
          <a:prstGeom prst="ellipse">
            <a:avLst/>
          </a:prstGeom>
          <a:solidFill>
            <a:srgbClr val="F06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56248" y="521208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086600" y="514807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8232B"/>
                </a:solidFill>
                <a:latin typeface="Arial"/>
              </a:rPr>
              <a:t>negative margin rejects paid traffic</a:t>
            </a:r>
          </a:p>
        </p:txBody>
      </p:sp>
    </p:spTree>
  </p:cSld>
  <p:clrMapOvr>
    <a:masterClrMapping/>
  </p:clrMapOvr>
  <p:transition spd="fast">
    <p:fade/>
  </p:transition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874519"/>
            <a:ext cx="85953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0674A"/>
                </a:solidFill>
                <a:latin typeface="Arial"/>
              </a:rPr>
              <a:t>LAB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359152"/>
            <a:ext cx="9875520" cy="13258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8232B"/>
                </a:solidFill>
                <a:latin typeface="Arial"/>
              </a:rPr>
              <a:t>Trend Monitor and Product Update Skill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6968" y="3840480"/>
            <a:ext cx="9052560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5E6872"/>
                </a:solidFill>
                <a:latin typeface="Arial"/>
              </a:rPr>
              <a:t>LO1 · 55 minutes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84080" y="731520"/>
            <a:ext cx="1828800" cy="10972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6400" b="1">
                <a:solidFill>
                  <a:srgbClr val="DDE4E8"/>
                </a:solidFill>
                <a:latin typeface="Arial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Agentic AI for Affiliate Marketing · C1319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73</a:t>
            </a:r>
          </a:p>
        </p:txBody>
      </p:sp>
    </p:spTree>
  </p:cSld>
  <p:clrMapOvr>
    <a:masterClrMapping/>
  </p:clrMapOvr>
  <p:transition spd="med">
    <p:push/>
  </p:transition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71600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008F83"/>
                </a:solidFill>
                <a:latin typeface="Arial"/>
              </a:rPr>
              <a:t>PRACTICE BRIDGE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8232B"/>
                </a:solidFill>
                <a:latin typeface="Arial"/>
              </a:rPr>
              <a:t>Lab 2 Scenario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435608"/>
            <a:ext cx="10927080" cy="16459"/>
          </a:xfrm>
          <a:prstGeom prst="rect">
            <a:avLst/>
          </a:prstGeom>
          <a:solidFill>
            <a:srgbClr val="DD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74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1700784"/>
            <a:ext cx="3508248" cy="448056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" y="1700784"/>
            <a:ext cx="73152" cy="4480560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22960" y="1920240"/>
            <a:ext cx="411480" cy="411480"/>
          </a:xfrm>
          <a:prstGeom prst="ellipse">
            <a:avLst/>
          </a:prstGeom>
          <a:solidFill>
            <a:srgbClr val="00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35024" y="1865376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08F83"/>
                </a:solidFill>
                <a:latin typeface="Arial"/>
              </a:rPr>
              <a:t>Business need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" y="2414016"/>
            <a:ext cx="3087624" cy="3611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8232B"/>
                </a:solidFill>
                <a:latin typeface="Arial"/>
              </a:rPr>
              <a:t>Create a reusable Claude Skill that turns approved trend signals and product changes into evidence cards and a reviewed affiliate update.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31208" y="1700784"/>
            <a:ext cx="3508248" cy="448056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31208" y="1700784"/>
            <a:ext cx="73152" cy="4480560"/>
          </a:xfrm>
          <a:prstGeom prst="rect">
            <a:avLst/>
          </a:prstGeom>
          <a:solidFill>
            <a:srgbClr val="F06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532376" y="1920240"/>
            <a:ext cx="411480" cy="411480"/>
          </a:xfrm>
          <a:prstGeom prst="ellipse">
            <a:avLst/>
          </a:prstGeom>
          <a:solidFill>
            <a:srgbClr val="F06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32376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44440" y="1865376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0674A"/>
                </a:solidFill>
                <a:latin typeface="Arial"/>
              </a:rPr>
              <a:t>Deliverable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41520" y="2414016"/>
            <a:ext cx="3087624" cy="3611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8232B"/>
                </a:solidFill>
                <a:latin typeface="Arial"/>
              </a:rPr>
              <a:t>A packaged custom Skill, trend evidence set and versioned product-update brief.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40624" y="1700784"/>
            <a:ext cx="3508248" cy="448056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40624" y="1700784"/>
            <a:ext cx="73152" cy="4480560"/>
          </a:xfrm>
          <a:prstGeom prst="rect">
            <a:avLst/>
          </a:prstGeom>
          <a:solidFill>
            <a:srgbClr val="EE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241792" y="1920240"/>
            <a:ext cx="411480" cy="411480"/>
          </a:xfrm>
          <a:prstGeom prst="ellipse">
            <a:avLst/>
          </a:prstGeom>
          <a:solidFill>
            <a:srgbClr val="EEA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41792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53856" y="1865376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EEA900"/>
                </a:solidFill>
                <a:latin typeface="Arial"/>
              </a:rPr>
              <a:t>Tool boundary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50936" y="2414016"/>
            <a:ext cx="3087624" cy="3611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8232B"/>
                </a:solidFill>
                <a:latin typeface="Arial"/>
              </a:rPr>
              <a:t>Claude Cowork, custom Skills, approved web sources, Markdown templates</a:t>
            </a:r>
          </a:p>
        </p:txBody>
      </p:sp>
    </p:spTree>
  </p:cSld>
  <p:clrMapOvr>
    <a:masterClrMapping/>
  </p:clrMapOvr>
  <p:transition spd="fast">
    <p:fade/>
  </p:transition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71600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008F83"/>
                </a:solidFill>
                <a:latin typeface="Arial"/>
              </a:rPr>
              <a:t>HOW THE WORKFLOW RUNS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8232B"/>
                </a:solidFill>
                <a:latin typeface="Arial"/>
              </a:rPr>
              <a:t>Lab 2 Runtime Mechanism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435608"/>
            <a:ext cx="10927080" cy="16459"/>
          </a:xfrm>
          <a:prstGeom prst="rect">
            <a:avLst/>
          </a:prstGeom>
          <a:solidFill>
            <a:srgbClr val="DD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75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240280"/>
            <a:ext cx="1967788" cy="301752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322222" y="2532888"/>
            <a:ext cx="640080" cy="640080"/>
          </a:xfrm>
          <a:prstGeom prst="ellipse">
            <a:avLst/>
          </a:prstGeom>
          <a:solidFill>
            <a:srgbClr val="00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2222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18232B"/>
                </a:solidFill>
                <a:latin typeface="Arial"/>
              </a:rPr>
              <a:t>Skill receives bounded source folder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626156" y="3749040"/>
            <a:ext cx="256032" cy="0"/>
          </a:xfrm>
          <a:prstGeom prst="line">
            <a:avLst/>
          </a:prstGeom>
          <a:ln w="31750">
            <a:solidFill>
              <a:srgbClr val="008F8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882188" y="2240280"/>
            <a:ext cx="1967788" cy="301752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46042" y="2532888"/>
            <a:ext cx="640080" cy="640080"/>
          </a:xfrm>
          <a:prstGeom prst="ellipse">
            <a:avLst/>
          </a:prstGeom>
          <a:solidFill>
            <a:srgbClr val="F06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4604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9191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18232B"/>
                </a:solidFill>
                <a:latin typeface="Arial"/>
              </a:rPr>
              <a:t>Evidence cards separate observation and inference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849976" y="3749040"/>
            <a:ext cx="256032" cy="0"/>
          </a:xfrm>
          <a:prstGeom prst="line">
            <a:avLst/>
          </a:prstGeom>
          <a:ln w="31750">
            <a:solidFill>
              <a:srgbClr val="008F8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106008" y="2240280"/>
            <a:ext cx="1967788" cy="301752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69862" y="2532888"/>
            <a:ext cx="640080" cy="640080"/>
          </a:xfrm>
          <a:prstGeom prst="ellipse">
            <a:avLst/>
          </a:prstGeom>
          <a:solidFill>
            <a:srgbClr val="EEA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986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573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18232B"/>
                </a:solidFill>
                <a:latin typeface="Arial"/>
              </a:rPr>
              <a:t>Product diff identifies partner impact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73796" y="3749040"/>
            <a:ext cx="256032" cy="0"/>
          </a:xfrm>
          <a:prstGeom prst="line">
            <a:avLst/>
          </a:prstGeom>
          <a:ln w="31750">
            <a:solidFill>
              <a:srgbClr val="008F8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329828" y="2240280"/>
            <a:ext cx="1967788" cy="301752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93682" y="2532888"/>
            <a:ext cx="640080" cy="640080"/>
          </a:xfrm>
          <a:prstGeom prst="ellipse">
            <a:avLst/>
          </a:prstGeom>
          <a:solidFill>
            <a:srgbClr val="3543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9368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3955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18232B"/>
                </a:solidFill>
                <a:latin typeface="Arial"/>
              </a:rPr>
              <a:t>Validator checks source/date/disclosure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297616" y="3749040"/>
            <a:ext cx="256032" cy="0"/>
          </a:xfrm>
          <a:prstGeom prst="line">
            <a:avLst/>
          </a:prstGeom>
          <a:ln w="31750">
            <a:solidFill>
              <a:srgbClr val="008F8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553648" y="2240280"/>
            <a:ext cx="1967788" cy="301752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217502" y="2532888"/>
            <a:ext cx="640080" cy="640080"/>
          </a:xfrm>
          <a:prstGeom prst="ellipse">
            <a:avLst/>
          </a:prstGeom>
          <a:solidFill>
            <a:srgbClr val="00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1750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6337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18232B"/>
                </a:solidFill>
                <a:latin typeface="Arial"/>
              </a:rPr>
              <a:t>Human approves exact message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3232" y="5577840"/>
            <a:ext cx="10698480" cy="4206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5E6872"/>
                </a:solidFill>
                <a:latin typeface="Arial"/>
              </a:rPr>
              <a:t>Read left to right. Each boundary has a named payload, state transition and owner.</a:t>
            </a:r>
          </a:p>
        </p:txBody>
      </p:sp>
    </p:spTree>
  </p:cSld>
  <p:clrMapOvr>
    <a:masterClrMapping/>
  </p:clrMapOvr>
  <p:transition spd="fast">
    <p:fade/>
  </p:transition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71600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008F83"/>
                </a:solidFill>
                <a:latin typeface="Arial"/>
              </a:rPr>
              <a:t>WHAT MUST REMAIN TRUE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8232B"/>
                </a:solidFill>
                <a:latin typeface="Arial"/>
              </a:rPr>
              <a:t>Lab 2 Concrete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435608"/>
            <a:ext cx="10927080" cy="16459"/>
          </a:xfrm>
          <a:prstGeom prst="rect">
            <a:avLst/>
          </a:prstGeom>
          <a:solidFill>
            <a:srgbClr val="DD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76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" y="1783080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4944" y="1783080"/>
            <a:ext cx="1755648" cy="841248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1901952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Rule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15184" y="1892808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18232B"/>
                </a:solidFill>
                <a:latin typeface="Arial"/>
              </a:rPr>
              <a:t>Skill trigger is narrow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9632" y="1783080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99632" y="1783080"/>
            <a:ext cx="1755648" cy="841248"/>
          </a:xfrm>
          <a:prstGeom prst="rect">
            <a:avLst/>
          </a:prstGeom>
          <a:solidFill>
            <a:srgbClr val="F06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1901952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Rule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19872" y="1892808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18232B"/>
                </a:solidFill>
                <a:latin typeface="Arial"/>
              </a:rPr>
              <a:t>every observation has source and date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4944" y="2807208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4944" y="2807208"/>
            <a:ext cx="1755648" cy="841248"/>
          </a:xfrm>
          <a:prstGeom prst="rect">
            <a:avLst/>
          </a:prstGeom>
          <a:solidFill>
            <a:srgbClr val="EE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" y="2926080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Rule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15184" y="2916936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18232B"/>
                </a:solidFill>
                <a:latin typeface="Arial"/>
              </a:rPr>
              <a:t>product facts come from approved catalogue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99632" y="2807208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99632" y="2807208"/>
            <a:ext cx="1755648" cy="841248"/>
          </a:xfrm>
          <a:prstGeom prst="rect">
            <a:avLst/>
          </a:prstGeom>
          <a:solidFill>
            <a:srgbClr val="3543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9360" y="2926080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Rule 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19872" y="2916936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18232B"/>
                </a:solidFill>
                <a:latin typeface="Arial"/>
              </a:rPr>
              <a:t>inference is labelled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94944" y="3831336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94944" y="3831336"/>
            <a:ext cx="1755648" cy="841248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4672" y="3950208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Rule 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15184" y="3941064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18232B"/>
                </a:solidFill>
                <a:latin typeface="Arial"/>
              </a:rPr>
              <a:t>outbound update requires human approval</a:t>
            </a:r>
          </a:p>
        </p:txBody>
      </p:sp>
    </p:spTree>
  </p:cSld>
  <p:clrMapOvr>
    <a:masterClrMapping/>
  </p:clrMapOvr>
  <p:transition spd="fast">
    <p:fade/>
  </p:transition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71600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008F83"/>
                </a:solidFill>
                <a:latin typeface="Arial"/>
              </a:rPr>
              <a:t>WHAT TO CAPTURE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8232B"/>
                </a:solidFill>
                <a:latin typeface="Arial"/>
              </a:rPr>
              <a:t>Lab 2 Evidence Package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435608"/>
            <a:ext cx="10927080" cy="16459"/>
          </a:xfrm>
          <a:prstGeom prst="rect">
            <a:avLst/>
          </a:prstGeom>
          <a:solidFill>
            <a:srgbClr val="DD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77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1700784"/>
            <a:ext cx="3508248" cy="2139696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" y="1700784"/>
            <a:ext cx="73152" cy="2139696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22960" y="1920240"/>
            <a:ext cx="411480" cy="411480"/>
          </a:xfrm>
          <a:prstGeom prst="ellipse">
            <a:avLst/>
          </a:prstGeom>
          <a:solidFill>
            <a:srgbClr val="00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35024" y="1865376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08F83"/>
                </a:solidFill>
                <a:latin typeface="Arial"/>
              </a:rPr>
              <a:t>Evidence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" y="2414016"/>
            <a:ext cx="3087624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8232B"/>
                </a:solidFill>
                <a:latin typeface="Arial"/>
              </a:rPr>
              <a:t>skills/affiliate-trend-update/SKILL.md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31208" y="1700784"/>
            <a:ext cx="3508248" cy="2139696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31208" y="1700784"/>
            <a:ext cx="73152" cy="2139696"/>
          </a:xfrm>
          <a:prstGeom prst="rect">
            <a:avLst/>
          </a:prstGeom>
          <a:solidFill>
            <a:srgbClr val="F06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532376" y="1920240"/>
            <a:ext cx="411480" cy="411480"/>
          </a:xfrm>
          <a:prstGeom prst="ellipse">
            <a:avLst/>
          </a:prstGeom>
          <a:solidFill>
            <a:srgbClr val="F06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32376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44440" y="1865376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0674A"/>
                </a:solidFill>
                <a:latin typeface="Arial"/>
              </a:rPr>
              <a:t>Evidence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41520" y="2414016"/>
            <a:ext cx="3087624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8232B"/>
                </a:solidFill>
                <a:latin typeface="Arial"/>
              </a:rPr>
              <a:t>completed evidence cards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40624" y="1700784"/>
            <a:ext cx="3508248" cy="2139696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40624" y="1700784"/>
            <a:ext cx="73152" cy="2139696"/>
          </a:xfrm>
          <a:prstGeom prst="rect">
            <a:avLst/>
          </a:prstGeom>
          <a:solidFill>
            <a:srgbClr val="EE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241792" y="1920240"/>
            <a:ext cx="411480" cy="411480"/>
          </a:xfrm>
          <a:prstGeom prst="ellipse">
            <a:avLst/>
          </a:prstGeom>
          <a:solidFill>
            <a:srgbClr val="EEA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41792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53856" y="1865376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EEA900"/>
                </a:solidFill>
                <a:latin typeface="Arial"/>
              </a:rPr>
              <a:t>Evidence 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50936" y="2414016"/>
            <a:ext cx="3087624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8232B"/>
                </a:solidFill>
                <a:latin typeface="Arial"/>
              </a:rPr>
              <a:t>product diff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792" y="4041648"/>
            <a:ext cx="3508248" cy="2139696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1792" y="4041648"/>
            <a:ext cx="73152" cy="2139696"/>
          </a:xfrm>
          <a:prstGeom prst="rect">
            <a:avLst/>
          </a:prstGeom>
          <a:solidFill>
            <a:srgbClr val="3543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22960" y="4261104"/>
            <a:ext cx="411480" cy="411480"/>
          </a:xfrm>
          <a:prstGeom prst="ellipse">
            <a:avLst/>
          </a:prstGeom>
          <a:solidFill>
            <a:srgbClr val="3543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4261104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35024" y="4206240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354352"/>
                </a:solidFill>
                <a:latin typeface="Arial"/>
              </a:rPr>
              <a:t>Evidence 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04" y="4754880"/>
            <a:ext cx="3087624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8232B"/>
                </a:solidFill>
                <a:latin typeface="Arial"/>
              </a:rPr>
              <a:t>approved partner update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31208" y="4041648"/>
            <a:ext cx="3508248" cy="2139696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331208" y="4041648"/>
            <a:ext cx="73152" cy="2139696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4532376" y="4261104"/>
            <a:ext cx="411480" cy="411480"/>
          </a:xfrm>
          <a:prstGeom prst="ellipse">
            <a:avLst/>
          </a:prstGeom>
          <a:solidFill>
            <a:srgbClr val="00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32376" y="4261104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44440" y="4206240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08F83"/>
                </a:solidFill>
                <a:latin typeface="Arial"/>
              </a:rPr>
              <a:t>Evidence 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41520" y="4754880"/>
            <a:ext cx="3087624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8232B"/>
                </a:solidFill>
                <a:latin typeface="Arial"/>
              </a:rPr>
              <a:t>validator result</a:t>
            </a:r>
          </a:p>
        </p:txBody>
      </p:sp>
    </p:spTree>
  </p:cSld>
  <p:clrMapOvr>
    <a:masterClrMapping/>
  </p:clrMapOvr>
  <p:transition spd="fast">
    <p:fade/>
  </p:transition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71600"/>
          </a:xfrm>
          <a:prstGeom prst="rect">
            <a:avLst/>
          </a:prstGeom>
          <a:solidFill>
            <a:srgbClr val="F06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0674A"/>
                </a:solidFill>
                <a:latin typeface="Arial"/>
              </a:rPr>
              <a:t>TEST WITHOUT CLICK PATHS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8232B"/>
                </a:solidFill>
                <a:latin typeface="Arial"/>
              </a:rPr>
              <a:t>Lab 2 Verification and Failure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435608"/>
            <a:ext cx="10927080" cy="16459"/>
          </a:xfrm>
          <a:prstGeom prst="rect">
            <a:avLst/>
          </a:prstGeom>
          <a:solidFill>
            <a:srgbClr val="DD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78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783080"/>
            <a:ext cx="5257800" cy="4315968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783080"/>
            <a:ext cx="5257800" cy="109728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2029968"/>
            <a:ext cx="470916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008F83"/>
                </a:solidFill>
                <a:latin typeface="Arial"/>
              </a:rPr>
              <a:t>Accept</a:t>
            </a:r>
          </a:p>
        </p:txBody>
      </p:sp>
      <p:sp>
        <p:nvSpPr>
          <p:cNvPr id="13" name="Oval 12"/>
          <p:cNvSpPr/>
          <p:nvPr/>
        </p:nvSpPr>
        <p:spPr>
          <a:xfrm>
            <a:off x="950976" y="2743200"/>
            <a:ext cx="365760" cy="365760"/>
          </a:xfrm>
          <a:prstGeom prst="ellipse">
            <a:avLst/>
          </a:prstGeom>
          <a:solidFill>
            <a:srgbClr val="00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0976" y="274320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1328" y="267919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18232B"/>
                </a:solidFill>
                <a:latin typeface="Arial"/>
              </a:rPr>
              <a:t>Skill package is valid</a:t>
            </a:r>
          </a:p>
        </p:txBody>
      </p:sp>
      <p:sp>
        <p:nvSpPr>
          <p:cNvPr id="16" name="Oval 15"/>
          <p:cNvSpPr/>
          <p:nvPr/>
        </p:nvSpPr>
        <p:spPr>
          <a:xfrm>
            <a:off x="950976" y="3463290"/>
            <a:ext cx="365760" cy="365760"/>
          </a:xfrm>
          <a:prstGeom prst="ellipse">
            <a:avLst/>
          </a:prstGeom>
          <a:solidFill>
            <a:srgbClr val="00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0976" y="346329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1328" y="339928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18232B"/>
                </a:solidFill>
                <a:latin typeface="Arial"/>
              </a:rPr>
              <a:t>sources and dates present</a:t>
            </a:r>
          </a:p>
        </p:txBody>
      </p:sp>
      <p:sp>
        <p:nvSpPr>
          <p:cNvPr id="19" name="Oval 18"/>
          <p:cNvSpPr/>
          <p:nvPr/>
        </p:nvSpPr>
        <p:spPr>
          <a:xfrm>
            <a:off x="950976" y="4183380"/>
            <a:ext cx="365760" cy="365760"/>
          </a:xfrm>
          <a:prstGeom prst="ellipse">
            <a:avLst/>
          </a:prstGeom>
          <a:solidFill>
            <a:srgbClr val="00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976" y="418338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81328" y="411937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18232B"/>
                </a:solidFill>
                <a:latin typeface="Arial"/>
              </a:rPr>
              <a:t>fact and inference separated</a:t>
            </a:r>
          </a:p>
        </p:txBody>
      </p:sp>
      <p:sp>
        <p:nvSpPr>
          <p:cNvPr id="22" name="Oval 21"/>
          <p:cNvSpPr/>
          <p:nvPr/>
        </p:nvSpPr>
        <p:spPr>
          <a:xfrm>
            <a:off x="950976" y="4903470"/>
            <a:ext cx="365760" cy="365760"/>
          </a:xfrm>
          <a:prstGeom prst="ellipse">
            <a:avLst/>
          </a:prstGeom>
          <a:solidFill>
            <a:srgbClr val="00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0976" y="490347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81328" y="483946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18232B"/>
                </a:solidFill>
                <a:latin typeface="Arial"/>
              </a:rPr>
              <a:t>product impact explicit</a:t>
            </a:r>
          </a:p>
        </p:txBody>
      </p:sp>
      <p:sp>
        <p:nvSpPr>
          <p:cNvPr id="25" name="Oval 24"/>
          <p:cNvSpPr/>
          <p:nvPr/>
        </p:nvSpPr>
        <p:spPr>
          <a:xfrm>
            <a:off x="950976" y="5623560"/>
            <a:ext cx="365760" cy="365760"/>
          </a:xfrm>
          <a:prstGeom prst="ellipse">
            <a:avLst/>
          </a:prstGeom>
          <a:solidFill>
            <a:srgbClr val="00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50976" y="562356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81328" y="555955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18232B"/>
                </a:solidFill>
                <a:latin typeface="Arial"/>
              </a:rPr>
              <a:t>human approval recorded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63640" y="1783080"/>
            <a:ext cx="5257800" cy="4315968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63640" y="1783080"/>
            <a:ext cx="5257800" cy="109728"/>
          </a:xfrm>
          <a:prstGeom prst="rect">
            <a:avLst/>
          </a:prstGeom>
          <a:solidFill>
            <a:srgbClr val="F06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37960" y="2029968"/>
            <a:ext cx="470916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F0674A"/>
                </a:solidFill>
                <a:latin typeface="Arial"/>
              </a:rPr>
              <a:t>Diagnose</a:t>
            </a:r>
          </a:p>
        </p:txBody>
      </p:sp>
      <p:sp>
        <p:nvSpPr>
          <p:cNvPr id="31" name="Oval 30"/>
          <p:cNvSpPr/>
          <p:nvPr/>
        </p:nvSpPr>
        <p:spPr>
          <a:xfrm>
            <a:off x="6556248" y="2743200"/>
            <a:ext cx="365760" cy="365760"/>
          </a:xfrm>
          <a:prstGeom prst="ellipse">
            <a:avLst/>
          </a:prstGeom>
          <a:solidFill>
            <a:srgbClr val="F06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56248" y="274320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86600" y="267919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8232B"/>
                </a:solidFill>
                <a:latin typeface="Arial"/>
              </a:rPr>
              <a:t>single-source trend remains low confidence</a:t>
            </a:r>
          </a:p>
        </p:txBody>
      </p:sp>
      <p:sp>
        <p:nvSpPr>
          <p:cNvPr id="34" name="Oval 33"/>
          <p:cNvSpPr/>
          <p:nvPr/>
        </p:nvSpPr>
        <p:spPr>
          <a:xfrm>
            <a:off x="6556248" y="3566160"/>
            <a:ext cx="365760" cy="365760"/>
          </a:xfrm>
          <a:prstGeom prst="ellipse">
            <a:avLst/>
          </a:prstGeom>
          <a:solidFill>
            <a:srgbClr val="F06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56248" y="356616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86600" y="350215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8232B"/>
                </a:solidFill>
                <a:latin typeface="Arial"/>
              </a:rPr>
              <a:t>missing effective date blocks product update</a:t>
            </a:r>
          </a:p>
        </p:txBody>
      </p:sp>
      <p:sp>
        <p:nvSpPr>
          <p:cNvPr id="37" name="Oval 36"/>
          <p:cNvSpPr/>
          <p:nvPr/>
        </p:nvSpPr>
        <p:spPr>
          <a:xfrm>
            <a:off x="6556248" y="4389120"/>
            <a:ext cx="365760" cy="365760"/>
          </a:xfrm>
          <a:prstGeom prst="ellipse">
            <a:avLst/>
          </a:prstGeom>
          <a:solidFill>
            <a:srgbClr val="F06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56248" y="438912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086600" y="432511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8232B"/>
                </a:solidFill>
                <a:latin typeface="Arial"/>
              </a:rPr>
              <a:t>unsupported claim returns to research</a:t>
            </a:r>
          </a:p>
        </p:txBody>
      </p:sp>
      <p:sp>
        <p:nvSpPr>
          <p:cNvPr id="40" name="Oval 39"/>
          <p:cNvSpPr/>
          <p:nvPr/>
        </p:nvSpPr>
        <p:spPr>
          <a:xfrm>
            <a:off x="6556248" y="5212080"/>
            <a:ext cx="365760" cy="365760"/>
          </a:xfrm>
          <a:prstGeom prst="ellipse">
            <a:avLst/>
          </a:prstGeom>
          <a:solidFill>
            <a:srgbClr val="F06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56248" y="521208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086600" y="514807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8232B"/>
                </a:solidFill>
                <a:latin typeface="Arial"/>
              </a:rPr>
              <a:t>prompt injection text is treated as data</a:t>
            </a:r>
          </a:p>
        </p:txBody>
      </p:sp>
    </p:spTree>
  </p:cSld>
  <p:clrMapOvr>
    <a:masterClrMapping/>
  </p:clrMapOvr>
  <p:transition spd="fast">
    <p:fade/>
  </p:transition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874519"/>
            <a:ext cx="85953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0674A"/>
                </a:solidFill>
                <a:latin typeface="Arial"/>
              </a:rPr>
              <a:t>TOPIC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359152"/>
            <a:ext cx="9875520" cy="13258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8232B"/>
                </a:solidFill>
                <a:latin typeface="Arial"/>
              </a:rPr>
              <a:t>Affiliate Portfolio and Partner Coordination with Skills and MCP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6968" y="3840480"/>
            <a:ext cx="9052560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5E6872"/>
                </a:solidFill>
                <a:latin typeface="Arial"/>
              </a:rPr>
              <a:t>Partner discovery -&gt; due diligence -&gt; scoring -&gt; portfolio balance -&gt; coordinated communication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84080" y="731520"/>
            <a:ext cx="1828800" cy="10972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6400" b="1">
                <a:solidFill>
                  <a:srgbClr val="DDE4E8"/>
                </a:solidFill>
                <a:latin typeface="Arial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Agentic AI for Affiliate Marketing · C1319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79</a:t>
            </a:r>
          </a:p>
        </p:txBody>
      </p:sp>
    </p:spTree>
  </p:cSld>
  <p:clrMapOvr>
    <a:masterClrMapping/>
  </p:clrMapOvr>
  <p:transition spd="med">
    <p:push/>
  </p:transition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71600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008F83"/>
                </a:solidFill>
                <a:latin typeface="Arial"/>
              </a:rPr>
              <a:t>LO2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8232B"/>
                </a:solidFill>
                <a:latin typeface="Arial"/>
              </a:rPr>
              <a:t>Topic 02 Coverage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435608"/>
            <a:ext cx="10927080" cy="16459"/>
          </a:xfrm>
          <a:prstGeom prst="rect">
            <a:avLst/>
          </a:prstGeom>
          <a:solidFill>
            <a:srgbClr val="DD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80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1700784"/>
            <a:ext cx="5362956" cy="2139696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" y="1700784"/>
            <a:ext cx="73152" cy="2139696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22960" y="1920240"/>
            <a:ext cx="411480" cy="411480"/>
          </a:xfrm>
          <a:prstGeom prst="ellipse">
            <a:avLst/>
          </a:prstGeom>
          <a:solidFill>
            <a:srgbClr val="00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35024" y="1865376"/>
            <a:ext cx="4466844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08F83"/>
                </a:solidFill>
                <a:latin typeface="Arial"/>
              </a:rPr>
              <a:t>Mechanism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" y="2414016"/>
            <a:ext cx="4942332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8232B"/>
                </a:solidFill>
                <a:latin typeface="Arial"/>
              </a:rPr>
              <a:t>Define partner-fit evidence before allowing an agent to rank candidates.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85916" y="1700784"/>
            <a:ext cx="5362956" cy="2139696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85916" y="1700784"/>
            <a:ext cx="73152" cy="2139696"/>
          </a:xfrm>
          <a:prstGeom prst="rect">
            <a:avLst/>
          </a:prstGeom>
          <a:solidFill>
            <a:srgbClr val="F06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87084" y="1920240"/>
            <a:ext cx="411480" cy="411480"/>
          </a:xfrm>
          <a:prstGeom prst="ellipse">
            <a:avLst/>
          </a:prstGeom>
          <a:solidFill>
            <a:srgbClr val="F06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87084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99148" y="1865376"/>
            <a:ext cx="4466844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0674A"/>
                </a:solidFill>
                <a:latin typeface="Arial"/>
              </a:rPr>
              <a:t>Mechanism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96228" y="2414016"/>
            <a:ext cx="4942332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8232B"/>
                </a:solidFill>
                <a:latin typeface="Arial"/>
              </a:rPr>
              <a:t>Use MCP connectors as permissioned data boundaries, not invisible sources of truth.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" y="4041648"/>
            <a:ext cx="5362956" cy="2139696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1792" y="4041648"/>
            <a:ext cx="73152" cy="2139696"/>
          </a:xfrm>
          <a:prstGeom prst="rect">
            <a:avLst/>
          </a:prstGeom>
          <a:solidFill>
            <a:srgbClr val="EE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22960" y="4261104"/>
            <a:ext cx="411480" cy="411480"/>
          </a:xfrm>
          <a:prstGeom prst="ellipse">
            <a:avLst/>
          </a:prstGeom>
          <a:solidFill>
            <a:srgbClr val="EEA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4261104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35024" y="4206240"/>
            <a:ext cx="4466844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EEA900"/>
                </a:solidFill>
                <a:latin typeface="Arial"/>
              </a:rPr>
              <a:t>Mechanism 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" y="4754880"/>
            <a:ext cx="4942332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8232B"/>
                </a:solidFill>
                <a:latin typeface="Arial"/>
              </a:rPr>
              <a:t>Build a portfolio that balances reach, relevance, conversion quality and concentration risk.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85916" y="4041648"/>
            <a:ext cx="5362956" cy="2139696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85916" y="4041648"/>
            <a:ext cx="73152" cy="2139696"/>
          </a:xfrm>
          <a:prstGeom prst="rect">
            <a:avLst/>
          </a:prstGeom>
          <a:solidFill>
            <a:srgbClr val="3543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387084" y="4261104"/>
            <a:ext cx="411480" cy="411480"/>
          </a:xfrm>
          <a:prstGeom prst="ellipse">
            <a:avLst/>
          </a:prstGeom>
          <a:solidFill>
            <a:srgbClr val="3543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87084" y="4261104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99148" y="4206240"/>
            <a:ext cx="4466844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354352"/>
                </a:solidFill>
                <a:latin typeface="Arial"/>
              </a:rPr>
              <a:t>Mechanism 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96228" y="4754880"/>
            <a:ext cx="4942332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8232B"/>
                </a:solidFill>
                <a:latin typeface="Arial"/>
              </a:rPr>
              <a:t>Coordinate partners through versioned briefs, service levels, escalation and audit evidence.</a:t>
            </a:r>
          </a:p>
        </p:txBody>
      </p:sp>
    </p:spTree>
  </p:cSld>
  <p:clrMapOvr>
    <a:masterClrMapping/>
  </p:clrMapOvr>
  <p:transition spd="fast">
    <p:fade/>
  </p:transition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71600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008F83"/>
                </a:solidFill>
                <a:latin typeface="Arial"/>
              </a:rPr>
              <a:t>VISUAL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8232B"/>
                </a:solidFill>
                <a:latin typeface="Arial"/>
              </a:rPr>
              <a:t>Partner Research Becomes a Governed Portfolio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435608"/>
            <a:ext cx="10927080" cy="16459"/>
          </a:xfrm>
          <a:prstGeom prst="rect">
            <a:avLst/>
          </a:prstGeom>
          <a:solidFill>
            <a:srgbClr val="DD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81</a:t>
            </a:r>
          </a:p>
        </p:txBody>
      </p:sp>
      <p:pic>
        <p:nvPicPr>
          <p:cNvPr id="10" name="Picture 9" descr="affiliate-research-agents-v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755648"/>
            <a:ext cx="8001000" cy="4443984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8887968" y="1783080"/>
            <a:ext cx="2523744" cy="758952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887968" y="1783080"/>
            <a:ext cx="64008" cy="758952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89136" y="1856232"/>
            <a:ext cx="210312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150" b="1">
                <a:solidFill>
                  <a:srgbClr val="008F83"/>
                </a:solidFill>
                <a:latin typeface="Arial"/>
              </a:rPr>
              <a:t>Discover</a:t>
            </a:r>
          </a:p>
          <a:p>
            <a:pPr algn="l">
              <a:spcAft>
                <a:spcPts val="100"/>
              </a:spcAft>
            </a:pPr>
            <a:r>
              <a:rPr sz="1050" b="0">
                <a:solidFill>
                  <a:srgbClr val="18232B"/>
                </a:solidFill>
                <a:latin typeface="Arial"/>
              </a:rPr>
              <a:t>bounded candidate universe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87968" y="2633472"/>
            <a:ext cx="2523744" cy="758952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887968" y="2633472"/>
            <a:ext cx="64008" cy="758952"/>
          </a:xfrm>
          <a:prstGeom prst="rect">
            <a:avLst/>
          </a:prstGeom>
          <a:solidFill>
            <a:srgbClr val="F06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89136" y="2706624"/>
            <a:ext cx="210312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150" b="1">
                <a:solidFill>
                  <a:srgbClr val="F0674A"/>
                </a:solidFill>
                <a:latin typeface="Arial"/>
              </a:rPr>
              <a:t>Verify</a:t>
            </a:r>
          </a:p>
          <a:p>
            <a:pPr algn="l">
              <a:spcAft>
                <a:spcPts val="100"/>
              </a:spcAft>
            </a:pPr>
            <a:r>
              <a:rPr sz="1050" b="0">
                <a:solidFill>
                  <a:srgbClr val="18232B"/>
                </a:solidFill>
                <a:latin typeface="Arial"/>
              </a:rPr>
              <a:t>identity and audience evidence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887968" y="3483864"/>
            <a:ext cx="2523744" cy="758952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887968" y="3483864"/>
            <a:ext cx="64008" cy="758952"/>
          </a:xfrm>
          <a:prstGeom prst="rect">
            <a:avLst/>
          </a:prstGeom>
          <a:solidFill>
            <a:srgbClr val="EE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89136" y="3557016"/>
            <a:ext cx="210312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150" b="1">
                <a:solidFill>
                  <a:srgbClr val="EEA900"/>
                </a:solidFill>
                <a:latin typeface="Arial"/>
              </a:rPr>
              <a:t>Score</a:t>
            </a:r>
          </a:p>
          <a:p>
            <a:pPr algn="l">
              <a:spcAft>
                <a:spcPts val="100"/>
              </a:spcAft>
            </a:pPr>
            <a:r>
              <a:rPr sz="1050" b="0">
                <a:solidFill>
                  <a:srgbClr val="18232B"/>
                </a:solidFill>
                <a:latin typeface="Arial"/>
              </a:rPr>
              <a:t>transparent criteria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887968" y="4334256"/>
            <a:ext cx="2523744" cy="758952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887968" y="4334256"/>
            <a:ext cx="64008" cy="758952"/>
          </a:xfrm>
          <a:prstGeom prst="rect">
            <a:avLst/>
          </a:prstGeom>
          <a:solidFill>
            <a:srgbClr val="3543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89136" y="4407408"/>
            <a:ext cx="210312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150" b="1">
                <a:solidFill>
                  <a:srgbClr val="354352"/>
                </a:solidFill>
                <a:latin typeface="Arial"/>
              </a:rPr>
              <a:t>Balance</a:t>
            </a:r>
          </a:p>
          <a:p>
            <a:pPr algn="l">
              <a:spcAft>
                <a:spcPts val="100"/>
              </a:spcAft>
            </a:pPr>
            <a:r>
              <a:rPr sz="1050" b="0">
                <a:solidFill>
                  <a:srgbClr val="18232B"/>
                </a:solidFill>
                <a:latin typeface="Arial"/>
              </a:rPr>
              <a:t>reach and concentration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887968" y="5184648"/>
            <a:ext cx="2523744" cy="758952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887968" y="5184648"/>
            <a:ext cx="64008" cy="758952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89136" y="5257800"/>
            <a:ext cx="210312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150" b="1">
                <a:solidFill>
                  <a:srgbClr val="008F83"/>
                </a:solidFill>
                <a:latin typeface="Arial"/>
              </a:rPr>
              <a:t>Coordinate</a:t>
            </a:r>
          </a:p>
          <a:p>
            <a:pPr algn="l">
              <a:spcAft>
                <a:spcPts val="100"/>
              </a:spcAft>
            </a:pPr>
            <a:r>
              <a:rPr sz="1050" b="0">
                <a:solidFill>
                  <a:srgbClr val="18232B"/>
                </a:solidFill>
                <a:latin typeface="Arial"/>
              </a:rPr>
              <a:t>briefs, cadence and escalation</a:t>
            </a:r>
          </a:p>
        </p:txBody>
      </p:sp>
    </p:spTree>
  </p:cSld>
  <p:clrMapOvr>
    <a:masterClrMapping/>
  </p:clrMapOvr>
  <p:transition spd="fast">
    <p:fade/>
  </p:transition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71600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008F83"/>
                </a:solidFill>
                <a:latin typeface="Arial"/>
              </a:rPr>
              <a:t>RUNTIME TRACE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8232B"/>
                </a:solidFill>
                <a:latin typeface="Arial"/>
              </a:rPr>
              <a:t>Partner Discovery Runtime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435608"/>
            <a:ext cx="10927080" cy="16459"/>
          </a:xfrm>
          <a:prstGeom prst="rect">
            <a:avLst/>
          </a:prstGeom>
          <a:solidFill>
            <a:srgbClr val="DD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82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240280"/>
            <a:ext cx="1967788" cy="301752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322222" y="2532888"/>
            <a:ext cx="640080" cy="640080"/>
          </a:xfrm>
          <a:prstGeom prst="ellipse">
            <a:avLst/>
          </a:prstGeom>
          <a:solidFill>
            <a:srgbClr val="00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2222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18232B"/>
                </a:solidFill>
                <a:latin typeface="Arial"/>
              </a:rPr>
              <a:t>Define partner archetype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626156" y="3749040"/>
            <a:ext cx="256032" cy="0"/>
          </a:xfrm>
          <a:prstGeom prst="line">
            <a:avLst/>
          </a:prstGeom>
          <a:ln w="31750">
            <a:solidFill>
              <a:srgbClr val="008F8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882188" y="2240280"/>
            <a:ext cx="1967788" cy="301752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46042" y="2532888"/>
            <a:ext cx="640080" cy="640080"/>
          </a:xfrm>
          <a:prstGeom prst="ellipse">
            <a:avLst/>
          </a:prstGeom>
          <a:solidFill>
            <a:srgbClr val="F06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4604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9191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18232B"/>
                </a:solidFill>
                <a:latin typeface="Arial"/>
              </a:rPr>
              <a:t>Search approved sources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849976" y="3749040"/>
            <a:ext cx="256032" cy="0"/>
          </a:xfrm>
          <a:prstGeom prst="line">
            <a:avLst/>
          </a:prstGeom>
          <a:ln w="31750">
            <a:solidFill>
              <a:srgbClr val="008F8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106008" y="2240280"/>
            <a:ext cx="1967788" cy="301752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69862" y="2532888"/>
            <a:ext cx="640080" cy="640080"/>
          </a:xfrm>
          <a:prstGeom prst="ellipse">
            <a:avLst/>
          </a:prstGeom>
          <a:solidFill>
            <a:srgbClr val="EEA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986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573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18232B"/>
                </a:solidFill>
                <a:latin typeface="Arial"/>
              </a:rPr>
              <a:t>Capture candidate facts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73796" y="3749040"/>
            <a:ext cx="256032" cy="0"/>
          </a:xfrm>
          <a:prstGeom prst="line">
            <a:avLst/>
          </a:prstGeom>
          <a:ln w="31750">
            <a:solidFill>
              <a:srgbClr val="008F8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329828" y="2240280"/>
            <a:ext cx="1967788" cy="301752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93682" y="2532888"/>
            <a:ext cx="640080" cy="640080"/>
          </a:xfrm>
          <a:prstGeom prst="ellipse">
            <a:avLst/>
          </a:prstGeom>
          <a:solidFill>
            <a:srgbClr val="3543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9368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3955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18232B"/>
                </a:solidFill>
                <a:latin typeface="Arial"/>
              </a:rPr>
              <a:t>Verify identity and audience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297616" y="3749040"/>
            <a:ext cx="256032" cy="0"/>
          </a:xfrm>
          <a:prstGeom prst="line">
            <a:avLst/>
          </a:prstGeom>
          <a:ln w="31750">
            <a:solidFill>
              <a:srgbClr val="008F8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553648" y="2240280"/>
            <a:ext cx="1967788" cy="301752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217502" y="2532888"/>
            <a:ext cx="640080" cy="640080"/>
          </a:xfrm>
          <a:prstGeom prst="ellipse">
            <a:avLst/>
          </a:prstGeom>
          <a:solidFill>
            <a:srgbClr val="00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1750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6337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18232B"/>
                </a:solidFill>
                <a:latin typeface="Arial"/>
              </a:rPr>
              <a:t>Queue for review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3232" y="5577840"/>
            <a:ext cx="10698480" cy="4206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5E6872"/>
                </a:solidFill>
                <a:latin typeface="Arial"/>
              </a:rPr>
              <a:t>Read left to right. Each boundary has a named payload, state transition and owner.</a:t>
            </a:r>
          </a:p>
        </p:txBody>
      </p:sp>
    </p:spTree>
  </p:cSld>
  <p:clrMapOvr>
    <a:masterClrMapping/>
  </p:clrMapOvr>
  <p:transition spd="fast">
    <p:fade/>
  </p:transition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71600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008F83"/>
                </a:solidFill>
                <a:latin typeface="Arial"/>
              </a:rPr>
              <a:t>RUNTIME TRACE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8232B"/>
                </a:solidFill>
                <a:latin typeface="Arial"/>
              </a:rPr>
              <a:t>Due-Diligence Workflow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435608"/>
            <a:ext cx="10927080" cy="16459"/>
          </a:xfrm>
          <a:prstGeom prst="rect">
            <a:avLst/>
          </a:prstGeom>
          <a:solidFill>
            <a:srgbClr val="DD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83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240280"/>
            <a:ext cx="1967788" cy="301752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322222" y="2532888"/>
            <a:ext cx="640080" cy="640080"/>
          </a:xfrm>
          <a:prstGeom prst="ellipse">
            <a:avLst/>
          </a:prstGeom>
          <a:solidFill>
            <a:srgbClr val="00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2222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18232B"/>
                </a:solidFill>
                <a:latin typeface="Arial"/>
              </a:rPr>
              <a:t>Identity check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626156" y="3749040"/>
            <a:ext cx="256032" cy="0"/>
          </a:xfrm>
          <a:prstGeom prst="line">
            <a:avLst/>
          </a:prstGeom>
          <a:ln w="31750">
            <a:solidFill>
              <a:srgbClr val="008F8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882188" y="2240280"/>
            <a:ext cx="1967788" cy="301752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46042" y="2532888"/>
            <a:ext cx="640080" cy="640080"/>
          </a:xfrm>
          <a:prstGeom prst="ellipse">
            <a:avLst/>
          </a:prstGeom>
          <a:solidFill>
            <a:srgbClr val="F06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4604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9191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18232B"/>
                </a:solidFill>
                <a:latin typeface="Arial"/>
              </a:rPr>
              <a:t>Content and audience review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849976" y="3749040"/>
            <a:ext cx="256032" cy="0"/>
          </a:xfrm>
          <a:prstGeom prst="line">
            <a:avLst/>
          </a:prstGeom>
          <a:ln w="31750">
            <a:solidFill>
              <a:srgbClr val="008F8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106008" y="2240280"/>
            <a:ext cx="1967788" cy="301752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69862" y="2532888"/>
            <a:ext cx="640080" cy="640080"/>
          </a:xfrm>
          <a:prstGeom prst="ellipse">
            <a:avLst/>
          </a:prstGeom>
          <a:solidFill>
            <a:srgbClr val="EEA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986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573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18232B"/>
                </a:solidFill>
                <a:latin typeface="Arial"/>
              </a:rPr>
              <a:t>Engagement quality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73796" y="3749040"/>
            <a:ext cx="256032" cy="0"/>
          </a:xfrm>
          <a:prstGeom prst="line">
            <a:avLst/>
          </a:prstGeom>
          <a:ln w="31750">
            <a:solidFill>
              <a:srgbClr val="008F8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329828" y="2240280"/>
            <a:ext cx="1967788" cy="301752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93682" y="2532888"/>
            <a:ext cx="640080" cy="640080"/>
          </a:xfrm>
          <a:prstGeom prst="ellipse">
            <a:avLst/>
          </a:prstGeom>
          <a:solidFill>
            <a:srgbClr val="3543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9368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3955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18232B"/>
                </a:solidFill>
                <a:latin typeface="Arial"/>
              </a:rPr>
              <a:t>Policy and reputation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297616" y="3749040"/>
            <a:ext cx="256032" cy="0"/>
          </a:xfrm>
          <a:prstGeom prst="line">
            <a:avLst/>
          </a:prstGeom>
          <a:ln w="31750">
            <a:solidFill>
              <a:srgbClr val="008F8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553648" y="2240280"/>
            <a:ext cx="1967788" cy="301752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217502" y="2532888"/>
            <a:ext cx="640080" cy="640080"/>
          </a:xfrm>
          <a:prstGeom prst="ellipse">
            <a:avLst/>
          </a:prstGeom>
          <a:solidFill>
            <a:srgbClr val="00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1750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6337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18232B"/>
                </a:solidFill>
                <a:latin typeface="Arial"/>
              </a:rPr>
              <a:t>Commercial references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3232" y="5577840"/>
            <a:ext cx="10698480" cy="4206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5E6872"/>
                </a:solidFill>
                <a:latin typeface="Arial"/>
              </a:rPr>
              <a:t>Read left to right. Each boundary has a named payload, state transition and owner.</a:t>
            </a:r>
          </a:p>
        </p:txBody>
      </p:sp>
    </p:spTree>
  </p:cSld>
  <p:clrMapOvr>
    <a:masterClrMapping/>
  </p:clrMapOvr>
  <p:transition spd="fast">
    <p:fade/>
  </p:transition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71600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008F83"/>
                </a:solidFill>
                <a:latin typeface="Arial"/>
              </a:rPr>
              <a:t>RUNTIME TRACE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8232B"/>
                </a:solidFill>
                <a:latin typeface="Arial"/>
              </a:rPr>
              <a:t>MCP Connector Boundary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435608"/>
            <a:ext cx="10927080" cy="16459"/>
          </a:xfrm>
          <a:prstGeom prst="rect">
            <a:avLst/>
          </a:prstGeom>
          <a:solidFill>
            <a:srgbClr val="DD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84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240280"/>
            <a:ext cx="1967788" cy="301752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322222" y="2532888"/>
            <a:ext cx="640080" cy="640080"/>
          </a:xfrm>
          <a:prstGeom prst="ellipse">
            <a:avLst/>
          </a:prstGeom>
          <a:solidFill>
            <a:srgbClr val="00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2222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18232B"/>
                </a:solidFill>
                <a:latin typeface="Arial"/>
              </a:rPr>
              <a:t>User grants permission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626156" y="3749040"/>
            <a:ext cx="256032" cy="0"/>
          </a:xfrm>
          <a:prstGeom prst="line">
            <a:avLst/>
          </a:prstGeom>
          <a:ln w="31750">
            <a:solidFill>
              <a:srgbClr val="008F8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882188" y="2240280"/>
            <a:ext cx="1967788" cy="301752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46042" y="2532888"/>
            <a:ext cx="640080" cy="640080"/>
          </a:xfrm>
          <a:prstGeom prst="ellipse">
            <a:avLst/>
          </a:prstGeom>
          <a:solidFill>
            <a:srgbClr val="F06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4604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9191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18232B"/>
                </a:solidFill>
                <a:latin typeface="Arial"/>
              </a:rPr>
              <a:t>Client calls named tool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849976" y="3749040"/>
            <a:ext cx="256032" cy="0"/>
          </a:xfrm>
          <a:prstGeom prst="line">
            <a:avLst/>
          </a:prstGeom>
          <a:ln w="31750">
            <a:solidFill>
              <a:srgbClr val="008F8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106008" y="2240280"/>
            <a:ext cx="1967788" cy="301752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69862" y="2532888"/>
            <a:ext cx="640080" cy="640080"/>
          </a:xfrm>
          <a:prstGeom prst="ellipse">
            <a:avLst/>
          </a:prstGeom>
          <a:solidFill>
            <a:srgbClr val="EEA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986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573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18232B"/>
                </a:solidFill>
                <a:latin typeface="Arial"/>
              </a:rPr>
              <a:t>Server reads approved system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73796" y="3749040"/>
            <a:ext cx="256032" cy="0"/>
          </a:xfrm>
          <a:prstGeom prst="line">
            <a:avLst/>
          </a:prstGeom>
          <a:ln w="31750">
            <a:solidFill>
              <a:srgbClr val="008F8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329828" y="2240280"/>
            <a:ext cx="1967788" cy="301752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93682" y="2532888"/>
            <a:ext cx="640080" cy="640080"/>
          </a:xfrm>
          <a:prstGeom prst="ellipse">
            <a:avLst/>
          </a:prstGeom>
          <a:solidFill>
            <a:srgbClr val="3543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9368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3955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18232B"/>
                </a:solidFill>
                <a:latin typeface="Arial"/>
              </a:rPr>
              <a:t>Result returns with provenance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297616" y="3749040"/>
            <a:ext cx="256032" cy="0"/>
          </a:xfrm>
          <a:prstGeom prst="line">
            <a:avLst/>
          </a:prstGeom>
          <a:ln w="31750">
            <a:solidFill>
              <a:srgbClr val="008F8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553648" y="2240280"/>
            <a:ext cx="1967788" cy="301752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217502" y="2532888"/>
            <a:ext cx="640080" cy="640080"/>
          </a:xfrm>
          <a:prstGeom prst="ellipse">
            <a:avLst/>
          </a:prstGeom>
          <a:solidFill>
            <a:srgbClr val="00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1750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6337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18232B"/>
                </a:solidFill>
                <a:latin typeface="Arial"/>
              </a:rPr>
              <a:t>Agent cannot exceed scope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3232" y="5577840"/>
            <a:ext cx="10698480" cy="4206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5E6872"/>
                </a:solidFill>
                <a:latin typeface="Arial"/>
              </a:rPr>
              <a:t>Read left to right. Each boundary has a named payload, state transition and owner.</a:t>
            </a:r>
          </a:p>
        </p:txBody>
      </p:sp>
    </p:spTree>
  </p:cSld>
  <p:clrMapOvr>
    <a:masterClrMapping/>
  </p:clrMapOvr>
  <p:transition spd="fast">
    <p:fade/>
  </p:transition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71600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008F83"/>
                </a:solidFill>
                <a:latin typeface="Arial"/>
              </a:rPr>
              <a:t>RUNTIME TRACE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8232B"/>
                </a:solidFill>
                <a:latin typeface="Arial"/>
              </a:rPr>
              <a:t>Candidate Scoring Pipeline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435608"/>
            <a:ext cx="10927080" cy="16459"/>
          </a:xfrm>
          <a:prstGeom prst="rect">
            <a:avLst/>
          </a:prstGeom>
          <a:solidFill>
            <a:srgbClr val="DD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85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240280"/>
            <a:ext cx="1967788" cy="301752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322222" y="2532888"/>
            <a:ext cx="640080" cy="640080"/>
          </a:xfrm>
          <a:prstGeom prst="ellipse">
            <a:avLst/>
          </a:prstGeom>
          <a:solidFill>
            <a:srgbClr val="00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2222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18232B"/>
                </a:solidFill>
                <a:latin typeface="Arial"/>
              </a:rPr>
              <a:t>Validate evidence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626156" y="3749040"/>
            <a:ext cx="256032" cy="0"/>
          </a:xfrm>
          <a:prstGeom prst="line">
            <a:avLst/>
          </a:prstGeom>
          <a:ln w="31750">
            <a:solidFill>
              <a:srgbClr val="008F8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882188" y="2240280"/>
            <a:ext cx="1967788" cy="301752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46042" y="2532888"/>
            <a:ext cx="640080" cy="640080"/>
          </a:xfrm>
          <a:prstGeom prst="ellipse">
            <a:avLst/>
          </a:prstGeom>
          <a:solidFill>
            <a:srgbClr val="F06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4604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9191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18232B"/>
                </a:solidFill>
                <a:latin typeface="Arial"/>
              </a:rPr>
              <a:t>Normalise metrics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849976" y="3749040"/>
            <a:ext cx="256032" cy="0"/>
          </a:xfrm>
          <a:prstGeom prst="line">
            <a:avLst/>
          </a:prstGeom>
          <a:ln w="31750">
            <a:solidFill>
              <a:srgbClr val="008F8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106008" y="2240280"/>
            <a:ext cx="1967788" cy="301752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69862" y="2532888"/>
            <a:ext cx="640080" cy="640080"/>
          </a:xfrm>
          <a:prstGeom prst="ellipse">
            <a:avLst/>
          </a:prstGeom>
          <a:solidFill>
            <a:srgbClr val="EEA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986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573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18232B"/>
                </a:solidFill>
                <a:latin typeface="Arial"/>
              </a:rPr>
              <a:t>Apply weighted criteria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73796" y="3749040"/>
            <a:ext cx="256032" cy="0"/>
          </a:xfrm>
          <a:prstGeom prst="line">
            <a:avLst/>
          </a:prstGeom>
          <a:ln w="31750">
            <a:solidFill>
              <a:srgbClr val="008F8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329828" y="2240280"/>
            <a:ext cx="1967788" cy="301752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93682" y="2532888"/>
            <a:ext cx="640080" cy="640080"/>
          </a:xfrm>
          <a:prstGeom prst="ellipse">
            <a:avLst/>
          </a:prstGeom>
          <a:solidFill>
            <a:srgbClr val="3543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9368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3955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18232B"/>
                </a:solidFill>
                <a:latin typeface="Arial"/>
              </a:rPr>
              <a:t>Enforce hard gates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297616" y="3749040"/>
            <a:ext cx="256032" cy="0"/>
          </a:xfrm>
          <a:prstGeom prst="line">
            <a:avLst/>
          </a:prstGeom>
          <a:ln w="31750">
            <a:solidFill>
              <a:srgbClr val="008F8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553648" y="2240280"/>
            <a:ext cx="1967788" cy="301752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217502" y="2532888"/>
            <a:ext cx="640080" cy="640080"/>
          </a:xfrm>
          <a:prstGeom prst="ellipse">
            <a:avLst/>
          </a:prstGeom>
          <a:solidFill>
            <a:srgbClr val="00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1750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6337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18232B"/>
                </a:solidFill>
                <a:latin typeface="Arial"/>
              </a:rPr>
              <a:t>Human approves shortlist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3232" y="5577840"/>
            <a:ext cx="10698480" cy="4206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5E6872"/>
                </a:solidFill>
                <a:latin typeface="Arial"/>
              </a:rPr>
              <a:t>Read left to right. Each boundary has a named payload, state transition and owner.</a:t>
            </a:r>
          </a:p>
        </p:txBody>
      </p:sp>
    </p:spTree>
  </p:cSld>
  <p:clrMapOvr>
    <a:masterClrMapping/>
  </p:clrMapOvr>
  <p:transition spd="fast">
    <p:fade/>
  </p:transition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71600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008F83"/>
                </a:solidFill>
                <a:latin typeface="Arial"/>
              </a:rPr>
              <a:t>RUNTIME TRACE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8232B"/>
                </a:solidFill>
                <a:latin typeface="Arial"/>
              </a:rPr>
              <a:t>Portfolio Construction Cycle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435608"/>
            <a:ext cx="10927080" cy="16459"/>
          </a:xfrm>
          <a:prstGeom prst="rect">
            <a:avLst/>
          </a:prstGeom>
          <a:solidFill>
            <a:srgbClr val="DD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86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240280"/>
            <a:ext cx="1967788" cy="301752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322222" y="2532888"/>
            <a:ext cx="640080" cy="640080"/>
          </a:xfrm>
          <a:prstGeom prst="ellipse">
            <a:avLst/>
          </a:prstGeom>
          <a:solidFill>
            <a:srgbClr val="00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2222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18232B"/>
                </a:solidFill>
                <a:latin typeface="Arial"/>
              </a:rPr>
              <a:t>Set strategic roles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626156" y="3749040"/>
            <a:ext cx="256032" cy="0"/>
          </a:xfrm>
          <a:prstGeom prst="line">
            <a:avLst/>
          </a:prstGeom>
          <a:ln w="31750">
            <a:solidFill>
              <a:srgbClr val="008F8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882188" y="2240280"/>
            <a:ext cx="1967788" cy="301752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46042" y="2532888"/>
            <a:ext cx="640080" cy="640080"/>
          </a:xfrm>
          <a:prstGeom prst="ellipse">
            <a:avLst/>
          </a:prstGeom>
          <a:solidFill>
            <a:srgbClr val="F06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4604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9191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18232B"/>
                </a:solidFill>
                <a:latin typeface="Arial"/>
              </a:rPr>
              <a:t>Allocate target mix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849976" y="3749040"/>
            <a:ext cx="256032" cy="0"/>
          </a:xfrm>
          <a:prstGeom prst="line">
            <a:avLst/>
          </a:prstGeom>
          <a:ln w="31750">
            <a:solidFill>
              <a:srgbClr val="008F8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106008" y="2240280"/>
            <a:ext cx="1967788" cy="301752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69862" y="2532888"/>
            <a:ext cx="640080" cy="640080"/>
          </a:xfrm>
          <a:prstGeom prst="ellipse">
            <a:avLst/>
          </a:prstGeom>
          <a:solidFill>
            <a:srgbClr val="EEA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986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573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18232B"/>
                </a:solidFill>
                <a:latin typeface="Arial"/>
              </a:rPr>
              <a:t>Recruit candidates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73796" y="3749040"/>
            <a:ext cx="256032" cy="0"/>
          </a:xfrm>
          <a:prstGeom prst="line">
            <a:avLst/>
          </a:prstGeom>
          <a:ln w="31750">
            <a:solidFill>
              <a:srgbClr val="008F8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329828" y="2240280"/>
            <a:ext cx="1967788" cy="301752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93682" y="2532888"/>
            <a:ext cx="640080" cy="640080"/>
          </a:xfrm>
          <a:prstGeom prst="ellipse">
            <a:avLst/>
          </a:prstGeom>
          <a:solidFill>
            <a:srgbClr val="3543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9368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3955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18232B"/>
                </a:solidFill>
                <a:latin typeface="Arial"/>
              </a:rPr>
              <a:t>Measure contribution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297616" y="3749040"/>
            <a:ext cx="256032" cy="0"/>
          </a:xfrm>
          <a:prstGeom prst="line">
            <a:avLst/>
          </a:prstGeom>
          <a:ln w="31750">
            <a:solidFill>
              <a:srgbClr val="008F8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553648" y="2240280"/>
            <a:ext cx="1967788" cy="301752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217502" y="2532888"/>
            <a:ext cx="640080" cy="640080"/>
          </a:xfrm>
          <a:prstGeom prst="ellipse">
            <a:avLst/>
          </a:prstGeom>
          <a:solidFill>
            <a:srgbClr val="00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1750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6337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18232B"/>
                </a:solidFill>
                <a:latin typeface="Arial"/>
              </a:rPr>
              <a:t>Rebalance intentionally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3232" y="5577840"/>
            <a:ext cx="10698480" cy="4206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5E6872"/>
                </a:solidFill>
                <a:latin typeface="Arial"/>
              </a:rPr>
              <a:t>Read left to right. Each boundary has a named payload, state transition and owner.</a:t>
            </a:r>
          </a:p>
        </p:txBody>
      </p:sp>
    </p:spTree>
  </p:cSld>
  <p:clrMapOvr>
    <a:masterClrMapping/>
  </p:clrMapOvr>
  <p:transition spd="fast">
    <p:fade/>
  </p:transition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71600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008F83"/>
                </a:solidFill>
                <a:latin typeface="Arial"/>
              </a:rPr>
              <a:t>RUNTIME TRACE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8232B"/>
                </a:solidFill>
                <a:latin typeface="Arial"/>
              </a:rPr>
              <a:t>Partner Onboarding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435608"/>
            <a:ext cx="10927080" cy="16459"/>
          </a:xfrm>
          <a:prstGeom prst="rect">
            <a:avLst/>
          </a:prstGeom>
          <a:solidFill>
            <a:srgbClr val="DD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87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240280"/>
            <a:ext cx="1967788" cy="301752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322222" y="2532888"/>
            <a:ext cx="640080" cy="640080"/>
          </a:xfrm>
          <a:prstGeom prst="ellipse">
            <a:avLst/>
          </a:prstGeom>
          <a:solidFill>
            <a:srgbClr val="00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2222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18232B"/>
                </a:solidFill>
                <a:latin typeface="Arial"/>
              </a:rPr>
              <a:t>Approve terms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626156" y="3749040"/>
            <a:ext cx="256032" cy="0"/>
          </a:xfrm>
          <a:prstGeom prst="line">
            <a:avLst/>
          </a:prstGeom>
          <a:ln w="31750">
            <a:solidFill>
              <a:srgbClr val="008F8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882188" y="2240280"/>
            <a:ext cx="1967788" cy="301752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46042" y="2532888"/>
            <a:ext cx="640080" cy="640080"/>
          </a:xfrm>
          <a:prstGeom prst="ellipse">
            <a:avLst/>
          </a:prstGeom>
          <a:solidFill>
            <a:srgbClr val="F06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4604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9191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18232B"/>
                </a:solidFill>
                <a:latin typeface="Arial"/>
              </a:rPr>
              <a:t>Issue partner ID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849976" y="3749040"/>
            <a:ext cx="256032" cy="0"/>
          </a:xfrm>
          <a:prstGeom prst="line">
            <a:avLst/>
          </a:prstGeom>
          <a:ln w="31750">
            <a:solidFill>
              <a:srgbClr val="008F8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106008" y="2240280"/>
            <a:ext cx="1967788" cy="301752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69862" y="2532888"/>
            <a:ext cx="640080" cy="640080"/>
          </a:xfrm>
          <a:prstGeom prst="ellipse">
            <a:avLst/>
          </a:prstGeom>
          <a:solidFill>
            <a:srgbClr val="EEA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986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573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18232B"/>
                </a:solidFill>
                <a:latin typeface="Arial"/>
              </a:rPr>
              <a:t>Deliver versioned kit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73796" y="3749040"/>
            <a:ext cx="256032" cy="0"/>
          </a:xfrm>
          <a:prstGeom prst="line">
            <a:avLst/>
          </a:prstGeom>
          <a:ln w="31750">
            <a:solidFill>
              <a:srgbClr val="008F8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329828" y="2240280"/>
            <a:ext cx="1967788" cy="301752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93682" y="2532888"/>
            <a:ext cx="640080" cy="640080"/>
          </a:xfrm>
          <a:prstGeom prst="ellipse">
            <a:avLst/>
          </a:prstGeom>
          <a:solidFill>
            <a:srgbClr val="3543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9368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3955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18232B"/>
                </a:solidFill>
                <a:latin typeface="Arial"/>
              </a:rPr>
              <a:t>Confirm disclosure and tracking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297616" y="3749040"/>
            <a:ext cx="256032" cy="0"/>
          </a:xfrm>
          <a:prstGeom prst="line">
            <a:avLst/>
          </a:prstGeom>
          <a:ln w="31750">
            <a:solidFill>
              <a:srgbClr val="008F8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553648" y="2240280"/>
            <a:ext cx="1967788" cy="301752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217502" y="2532888"/>
            <a:ext cx="640080" cy="640080"/>
          </a:xfrm>
          <a:prstGeom prst="ellipse">
            <a:avLst/>
          </a:prstGeom>
          <a:solidFill>
            <a:srgbClr val="00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1750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6337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18232B"/>
                </a:solidFill>
                <a:latin typeface="Arial"/>
              </a:rPr>
              <a:t>Activate after test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3232" y="5577840"/>
            <a:ext cx="10698480" cy="4206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5E6872"/>
                </a:solidFill>
                <a:latin typeface="Arial"/>
              </a:rPr>
              <a:t>Read left to right. Each boundary has a named payload, state transition and owner.</a:t>
            </a:r>
          </a:p>
        </p:txBody>
      </p:sp>
    </p:spTree>
  </p:cSld>
  <p:clrMapOvr>
    <a:masterClrMapping/>
  </p:clrMapOvr>
  <p:transition spd="fast">
    <p:fade/>
  </p:transition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71600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008F83"/>
                </a:solidFill>
                <a:latin typeface="Arial"/>
              </a:rPr>
              <a:t>RUNTIME TRACE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8232B"/>
                </a:solidFill>
                <a:latin typeface="Arial"/>
              </a:rPr>
              <a:t>Communication Control Loop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435608"/>
            <a:ext cx="10927080" cy="16459"/>
          </a:xfrm>
          <a:prstGeom prst="rect">
            <a:avLst/>
          </a:prstGeom>
          <a:solidFill>
            <a:srgbClr val="DD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88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240280"/>
            <a:ext cx="1967788" cy="301752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322222" y="2532888"/>
            <a:ext cx="640080" cy="640080"/>
          </a:xfrm>
          <a:prstGeom prst="ellipse">
            <a:avLst/>
          </a:prstGeom>
          <a:solidFill>
            <a:srgbClr val="00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2222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18232B"/>
                </a:solidFill>
                <a:latin typeface="Arial"/>
              </a:rPr>
              <a:t>Segment partner tier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626156" y="3749040"/>
            <a:ext cx="256032" cy="0"/>
          </a:xfrm>
          <a:prstGeom prst="line">
            <a:avLst/>
          </a:prstGeom>
          <a:ln w="31750">
            <a:solidFill>
              <a:srgbClr val="008F8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882188" y="2240280"/>
            <a:ext cx="1967788" cy="301752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46042" y="2532888"/>
            <a:ext cx="640080" cy="640080"/>
          </a:xfrm>
          <a:prstGeom prst="ellipse">
            <a:avLst/>
          </a:prstGeom>
          <a:solidFill>
            <a:srgbClr val="F06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4604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9191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18232B"/>
                </a:solidFill>
                <a:latin typeface="Arial"/>
              </a:rPr>
              <a:t>Set cadence and SLA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849976" y="3749040"/>
            <a:ext cx="256032" cy="0"/>
          </a:xfrm>
          <a:prstGeom prst="line">
            <a:avLst/>
          </a:prstGeom>
          <a:ln w="31750">
            <a:solidFill>
              <a:srgbClr val="008F8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106008" y="2240280"/>
            <a:ext cx="1967788" cy="301752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69862" y="2532888"/>
            <a:ext cx="640080" cy="640080"/>
          </a:xfrm>
          <a:prstGeom prst="ellipse">
            <a:avLst/>
          </a:prstGeom>
          <a:solidFill>
            <a:srgbClr val="EEA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986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573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18232B"/>
                </a:solidFill>
                <a:latin typeface="Arial"/>
              </a:rPr>
              <a:t>Send approved brief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73796" y="3749040"/>
            <a:ext cx="256032" cy="0"/>
          </a:xfrm>
          <a:prstGeom prst="line">
            <a:avLst/>
          </a:prstGeom>
          <a:ln w="31750">
            <a:solidFill>
              <a:srgbClr val="008F8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329828" y="2240280"/>
            <a:ext cx="1967788" cy="301752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93682" y="2532888"/>
            <a:ext cx="640080" cy="640080"/>
          </a:xfrm>
          <a:prstGeom prst="ellipse">
            <a:avLst/>
          </a:prstGeom>
          <a:solidFill>
            <a:srgbClr val="3543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9368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3955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18232B"/>
                </a:solidFill>
                <a:latin typeface="Arial"/>
              </a:rPr>
              <a:t>Capture response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297616" y="3749040"/>
            <a:ext cx="256032" cy="0"/>
          </a:xfrm>
          <a:prstGeom prst="line">
            <a:avLst/>
          </a:prstGeom>
          <a:ln w="31750">
            <a:solidFill>
              <a:srgbClr val="008F8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553648" y="2240280"/>
            <a:ext cx="1967788" cy="301752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217502" y="2532888"/>
            <a:ext cx="640080" cy="640080"/>
          </a:xfrm>
          <a:prstGeom prst="ellipse">
            <a:avLst/>
          </a:prstGeom>
          <a:solidFill>
            <a:srgbClr val="00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1750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6337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18232B"/>
                </a:solidFill>
                <a:latin typeface="Arial"/>
              </a:rPr>
              <a:t>Escalate and close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3232" y="5577840"/>
            <a:ext cx="10698480" cy="4206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5E6872"/>
                </a:solidFill>
                <a:latin typeface="Arial"/>
              </a:rPr>
              <a:t>Read left to right. Each boundary has a named payload, state transition and owner.</a:t>
            </a:r>
          </a:p>
        </p:txBody>
      </p:sp>
    </p:spTree>
  </p:cSld>
  <p:clrMapOvr>
    <a:masterClrMapping/>
  </p:clrMapOvr>
  <p:transition spd="fast">
    <p:fade/>
  </p:transition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71600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008F83"/>
                </a:solidFill>
                <a:latin typeface="Arial"/>
              </a:rPr>
              <a:t>CONCRETE CONTRACT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8232B"/>
                </a:solidFill>
                <a:latin typeface="Arial"/>
              </a:rPr>
              <a:t>Affiliate Candidate Record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435608"/>
            <a:ext cx="10927080" cy="16459"/>
          </a:xfrm>
          <a:prstGeom prst="rect">
            <a:avLst/>
          </a:prstGeom>
          <a:solidFill>
            <a:srgbClr val="DD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89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" y="1783080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4944" y="1783080"/>
            <a:ext cx="1755648" cy="841248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1901952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partner_id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15184" y="1892808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18232B"/>
                </a:solidFill>
                <a:latin typeface="Arial"/>
              </a:rPr>
              <a:t>stable internal key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9632" y="1783080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99632" y="1783080"/>
            <a:ext cx="1755648" cy="841248"/>
          </a:xfrm>
          <a:prstGeom prst="rect">
            <a:avLst/>
          </a:prstGeom>
          <a:solidFill>
            <a:srgbClr val="F06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1901952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identity_urls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19872" y="1892808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18232B"/>
                </a:solidFill>
                <a:latin typeface="Arial"/>
              </a:rPr>
              <a:t>verified public identities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4944" y="2807208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4944" y="2807208"/>
            <a:ext cx="1755648" cy="841248"/>
          </a:xfrm>
          <a:prstGeom prst="rect">
            <a:avLst/>
          </a:prstGeom>
          <a:solidFill>
            <a:srgbClr val="EE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" y="2926080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audience_profile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15184" y="2916936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18232B"/>
                </a:solidFill>
                <a:latin typeface="Arial"/>
              </a:rPr>
              <a:t>region, need and channel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99632" y="2807208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99632" y="2807208"/>
            <a:ext cx="1755648" cy="841248"/>
          </a:xfrm>
          <a:prstGeom prst="rect">
            <a:avLst/>
          </a:prstGeom>
          <a:solidFill>
            <a:srgbClr val="3543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9360" y="2926080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engagement_evidence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19872" y="2916936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18232B"/>
                </a:solidFill>
                <a:latin typeface="Arial"/>
              </a:rPr>
              <a:t>dated sample and denominator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94944" y="3831336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94944" y="3831336"/>
            <a:ext cx="1755648" cy="841248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4672" y="3950208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policy_flags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15184" y="3941064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18232B"/>
                </a:solidFill>
                <a:latin typeface="Arial"/>
              </a:rPr>
              <a:t>disclosure and brand risks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99632" y="3831336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99632" y="3831336"/>
            <a:ext cx="1755648" cy="841248"/>
          </a:xfrm>
          <a:prstGeom prst="rect">
            <a:avLst/>
          </a:prstGeom>
          <a:solidFill>
            <a:srgbClr val="F06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09360" y="3950208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source_ids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19872" y="3941064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18232B"/>
                </a:solidFill>
                <a:latin typeface="Arial"/>
              </a:rPr>
              <a:t>traceable background evidence</a:t>
            </a:r>
          </a:p>
        </p:txBody>
      </p:sp>
    </p:spTree>
  </p:cSld>
  <p:clrMapOvr>
    <a:masterClrMapping/>
  </p:clrMapOvr>
  <p:transition spd="fast">
    <p:fade/>
  </p:transition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71600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008F83"/>
                </a:solidFill>
                <a:latin typeface="Arial"/>
              </a:rPr>
              <a:t>CONCRETE CONTRACT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8232B"/>
                </a:solidFill>
                <a:latin typeface="Arial"/>
              </a:rPr>
              <a:t>Partner Scorecard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435608"/>
            <a:ext cx="10927080" cy="16459"/>
          </a:xfrm>
          <a:prstGeom prst="rect">
            <a:avLst/>
          </a:prstGeom>
          <a:solidFill>
            <a:srgbClr val="DD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90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" y="1783080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4944" y="1783080"/>
            <a:ext cx="1755648" cy="841248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1901952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criterion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15184" y="1892808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18232B"/>
                </a:solidFill>
                <a:latin typeface="Arial"/>
              </a:rPr>
              <a:t>named decision dimension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9632" y="1783080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99632" y="1783080"/>
            <a:ext cx="1755648" cy="841248"/>
          </a:xfrm>
          <a:prstGeom prst="rect">
            <a:avLst/>
          </a:prstGeom>
          <a:solidFill>
            <a:srgbClr val="F06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1901952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weight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19872" y="1892808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18232B"/>
                </a:solidFill>
                <a:latin typeface="Arial"/>
              </a:rPr>
              <a:t>sums to 100%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4944" y="2807208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4944" y="2807208"/>
            <a:ext cx="1755648" cy="841248"/>
          </a:xfrm>
          <a:prstGeom prst="rect">
            <a:avLst/>
          </a:prstGeom>
          <a:solidFill>
            <a:srgbClr val="EE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" y="2926080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raw_evidence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15184" y="2916936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18232B"/>
                </a:solidFill>
                <a:latin typeface="Arial"/>
              </a:rPr>
              <a:t>source-backed input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99632" y="2807208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99632" y="2807208"/>
            <a:ext cx="1755648" cy="841248"/>
          </a:xfrm>
          <a:prstGeom prst="rect">
            <a:avLst/>
          </a:prstGeom>
          <a:solidFill>
            <a:srgbClr val="3543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9360" y="2926080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normalised_score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19872" y="2916936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18232B"/>
                </a:solidFill>
                <a:latin typeface="Arial"/>
              </a:rPr>
              <a:t>0-100 scale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94944" y="3831336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94944" y="3831336"/>
            <a:ext cx="1755648" cy="841248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4672" y="3950208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hard_gate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15184" y="3941064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18232B"/>
                </a:solidFill>
                <a:latin typeface="Arial"/>
              </a:rPr>
              <a:t>non-compensable threshold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99632" y="3831336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99632" y="3831336"/>
            <a:ext cx="1755648" cy="841248"/>
          </a:xfrm>
          <a:prstGeom prst="rect">
            <a:avLst/>
          </a:prstGeom>
          <a:solidFill>
            <a:srgbClr val="F06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09360" y="3950208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reviewer_note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19872" y="3941064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18232B"/>
                </a:solidFill>
                <a:latin typeface="Arial"/>
              </a:rPr>
              <a:t>human rationale</a:t>
            </a:r>
          </a:p>
        </p:txBody>
      </p:sp>
    </p:spTree>
  </p:cSld>
  <p:clrMapOvr>
    <a:masterClrMapping/>
  </p:clrMapOvr>
  <p:transition spd="fast">
    <p:fade/>
  </p:transition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71600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008F83"/>
                </a:solidFill>
                <a:latin typeface="Arial"/>
              </a:rPr>
              <a:t>CONCRETE CONTRACT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8232B"/>
                </a:solidFill>
                <a:latin typeface="Arial"/>
              </a:rPr>
              <a:t>Portfolio Role Taxonomy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435608"/>
            <a:ext cx="10927080" cy="16459"/>
          </a:xfrm>
          <a:prstGeom prst="rect">
            <a:avLst/>
          </a:prstGeom>
          <a:solidFill>
            <a:srgbClr val="DD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91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" y="1783080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4944" y="1783080"/>
            <a:ext cx="1755648" cy="841248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1901952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role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15184" y="1892808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18232B"/>
                </a:solidFill>
                <a:latin typeface="Arial"/>
              </a:rPr>
              <a:t>reach | authority | conversion | retention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9632" y="1783080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99632" y="1783080"/>
            <a:ext cx="1755648" cy="841248"/>
          </a:xfrm>
          <a:prstGeom prst="rect">
            <a:avLst/>
          </a:prstGeom>
          <a:solidFill>
            <a:srgbClr val="F06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1901952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channel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19872" y="1892808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18232B"/>
                </a:solidFill>
                <a:latin typeface="Arial"/>
              </a:rPr>
              <a:t>site, email, social, video or community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4944" y="2807208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4944" y="2807208"/>
            <a:ext cx="1755648" cy="841248"/>
          </a:xfrm>
          <a:prstGeom prst="rect">
            <a:avLst/>
          </a:prstGeom>
          <a:solidFill>
            <a:srgbClr val="EE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" y="2926080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audience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15184" y="2916936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18232B"/>
                </a:solidFill>
                <a:latin typeface="Arial"/>
              </a:rPr>
              <a:t>priority segment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99632" y="2807208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99632" y="2807208"/>
            <a:ext cx="1755648" cy="841248"/>
          </a:xfrm>
          <a:prstGeom prst="rect">
            <a:avLst/>
          </a:prstGeom>
          <a:solidFill>
            <a:srgbClr val="3543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9360" y="2926080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offer_fit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19872" y="2916936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18232B"/>
                </a:solidFill>
                <a:latin typeface="Arial"/>
              </a:rPr>
              <a:t>approved product family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94944" y="3831336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94944" y="3831336"/>
            <a:ext cx="1755648" cy="841248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4672" y="3950208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risk_tier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15184" y="3941064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18232B"/>
                </a:solidFill>
                <a:latin typeface="Arial"/>
              </a:rPr>
              <a:t>monitoring depth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99632" y="3831336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99632" y="3831336"/>
            <a:ext cx="1755648" cy="841248"/>
          </a:xfrm>
          <a:prstGeom prst="rect">
            <a:avLst/>
          </a:prstGeom>
          <a:solidFill>
            <a:srgbClr val="F06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09360" y="3950208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capacity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19872" y="3941064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18232B"/>
                </a:solidFill>
                <a:latin typeface="Arial"/>
              </a:rPr>
              <a:t>campaign and content limit</a:t>
            </a:r>
          </a:p>
        </p:txBody>
      </p:sp>
    </p:spTree>
  </p:cSld>
  <p:clrMapOvr>
    <a:masterClrMapping/>
  </p:clrMapOvr>
  <p:transition spd="fast">
    <p:fade/>
  </p:transition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71600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008F83"/>
                </a:solidFill>
                <a:latin typeface="Arial"/>
              </a:rPr>
              <a:t>CONCRETE CONTRACT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8232B"/>
                </a:solidFill>
                <a:latin typeface="Arial"/>
              </a:rPr>
              <a:t>Partner Brief Schema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435608"/>
            <a:ext cx="10927080" cy="16459"/>
          </a:xfrm>
          <a:prstGeom prst="rect">
            <a:avLst/>
          </a:prstGeom>
          <a:solidFill>
            <a:srgbClr val="DD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92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" y="1783080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4944" y="1783080"/>
            <a:ext cx="1755648" cy="841248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1901952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campaign_id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15184" y="1892808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18232B"/>
                </a:solidFill>
                <a:latin typeface="Arial"/>
              </a:rPr>
              <a:t>links work to strategy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9632" y="1783080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99632" y="1783080"/>
            <a:ext cx="1755648" cy="841248"/>
          </a:xfrm>
          <a:prstGeom prst="rect">
            <a:avLst/>
          </a:prstGeom>
          <a:solidFill>
            <a:srgbClr val="F06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1901952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partner_id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19872" y="1892808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18232B"/>
                </a:solidFill>
                <a:latin typeface="Arial"/>
              </a:rPr>
              <a:t>intended recipient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4944" y="2807208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4944" y="2807208"/>
            <a:ext cx="1755648" cy="841248"/>
          </a:xfrm>
          <a:prstGeom prst="rect">
            <a:avLst/>
          </a:prstGeom>
          <a:solidFill>
            <a:srgbClr val="EE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" y="2926080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product_version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15184" y="2916936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18232B"/>
                </a:solidFill>
                <a:latin typeface="Arial"/>
              </a:rPr>
              <a:t>approved offer facts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99632" y="2807208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99632" y="2807208"/>
            <a:ext cx="1755648" cy="841248"/>
          </a:xfrm>
          <a:prstGeom prst="rect">
            <a:avLst/>
          </a:prstGeom>
          <a:solidFill>
            <a:srgbClr val="3543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9360" y="2926080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mandatory_claims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19872" y="2916936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18232B"/>
                </a:solidFill>
                <a:latin typeface="Arial"/>
              </a:rPr>
              <a:t>must-use verified statements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94944" y="3831336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94944" y="3831336"/>
            <a:ext cx="1755648" cy="841248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4672" y="3950208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prohibited_claims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15184" y="3941064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18232B"/>
                </a:solidFill>
                <a:latin typeface="Arial"/>
              </a:rPr>
              <a:t>cannot publish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99632" y="3831336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99632" y="3831336"/>
            <a:ext cx="1755648" cy="841248"/>
          </a:xfrm>
          <a:prstGeom prst="rect">
            <a:avLst/>
          </a:prstGeom>
          <a:solidFill>
            <a:srgbClr val="F06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09360" y="3950208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tracking_url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19872" y="3941064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18232B"/>
                </a:solidFill>
                <a:latin typeface="Arial"/>
              </a:rPr>
              <a:t>unique attribution key</a:t>
            </a:r>
          </a:p>
        </p:txBody>
      </p:sp>
    </p:spTree>
  </p:cSld>
  <p:clrMapOvr>
    <a:masterClrMapping/>
  </p:clrMapOvr>
  <p:transition spd="fast">
    <p:fade/>
  </p:transition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71600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008F83"/>
                </a:solidFill>
                <a:latin typeface="Arial"/>
              </a:rPr>
              <a:t>CONCRETE CONTRACT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8232B"/>
                </a:solidFill>
                <a:latin typeface="Arial"/>
              </a:rPr>
              <a:t>Communication SLA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435608"/>
            <a:ext cx="10927080" cy="16459"/>
          </a:xfrm>
          <a:prstGeom prst="rect">
            <a:avLst/>
          </a:prstGeom>
          <a:solidFill>
            <a:srgbClr val="DD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93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" y="1783080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4944" y="1783080"/>
            <a:ext cx="1755648" cy="841248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1901952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tier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15184" y="1892808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18232B"/>
                </a:solidFill>
                <a:latin typeface="Arial"/>
              </a:rPr>
              <a:t>strategic | growth | standard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9632" y="1783080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99632" y="1783080"/>
            <a:ext cx="1755648" cy="841248"/>
          </a:xfrm>
          <a:prstGeom prst="rect">
            <a:avLst/>
          </a:prstGeom>
          <a:solidFill>
            <a:srgbClr val="F06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1901952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routine_cadence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19872" y="1892808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18232B"/>
                </a:solidFill>
                <a:latin typeface="Arial"/>
              </a:rPr>
              <a:t>planned update frequency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4944" y="2807208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4944" y="2807208"/>
            <a:ext cx="1755648" cy="841248"/>
          </a:xfrm>
          <a:prstGeom prst="rect">
            <a:avLst/>
          </a:prstGeom>
          <a:solidFill>
            <a:srgbClr val="EE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" y="2926080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response_target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15184" y="2916936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18232B"/>
                </a:solidFill>
                <a:latin typeface="Arial"/>
              </a:rPr>
              <a:t>business-hour commitment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99632" y="2807208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99632" y="2807208"/>
            <a:ext cx="1755648" cy="841248"/>
          </a:xfrm>
          <a:prstGeom prst="rect">
            <a:avLst/>
          </a:prstGeom>
          <a:solidFill>
            <a:srgbClr val="3543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9360" y="2926080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escalation_owner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19872" y="2916936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18232B"/>
                </a:solidFill>
                <a:latin typeface="Arial"/>
              </a:rPr>
              <a:t>named accountable person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94944" y="3831336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94944" y="3831336"/>
            <a:ext cx="1755648" cy="841248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4672" y="3950208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channel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15184" y="3941064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18232B"/>
                </a:solidFill>
                <a:latin typeface="Arial"/>
              </a:rPr>
              <a:t>approved contact route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99632" y="3831336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99632" y="3831336"/>
            <a:ext cx="1755648" cy="841248"/>
          </a:xfrm>
          <a:prstGeom prst="rect">
            <a:avLst/>
          </a:prstGeom>
          <a:solidFill>
            <a:srgbClr val="F06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09360" y="3950208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19872" y="3941064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18232B"/>
                </a:solidFill>
                <a:latin typeface="Arial"/>
              </a:rPr>
              <a:t>message and outcome record</a:t>
            </a:r>
          </a:p>
        </p:txBody>
      </p:sp>
    </p:spTree>
  </p:cSld>
  <p:clrMapOvr>
    <a:masterClrMapping/>
  </p:clrMapOvr>
  <p:transition spd="fast">
    <p:fade/>
  </p:transition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71600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008F83"/>
                </a:solidFill>
                <a:latin typeface="Arial"/>
              </a:rPr>
              <a:t>CONCRETE CONTRACT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8232B"/>
                </a:solidFill>
                <a:latin typeface="Arial"/>
              </a:rPr>
              <a:t>Partner Update Event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435608"/>
            <a:ext cx="10927080" cy="16459"/>
          </a:xfrm>
          <a:prstGeom prst="rect">
            <a:avLst/>
          </a:prstGeom>
          <a:solidFill>
            <a:srgbClr val="DD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94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" y="1783080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4944" y="1783080"/>
            <a:ext cx="1755648" cy="841248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1901952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event_id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15184" y="1892808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18232B"/>
                </a:solidFill>
                <a:latin typeface="Arial"/>
              </a:rPr>
              <a:t>deduplication key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9632" y="1783080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99632" y="1783080"/>
            <a:ext cx="1755648" cy="841248"/>
          </a:xfrm>
          <a:prstGeom prst="rect">
            <a:avLst/>
          </a:prstGeom>
          <a:solidFill>
            <a:srgbClr val="F06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1901952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partner_id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19872" y="1892808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18232B"/>
                </a:solidFill>
                <a:latin typeface="Arial"/>
              </a:rPr>
              <a:t>recipient identity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4944" y="2807208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4944" y="2807208"/>
            <a:ext cx="1755648" cy="841248"/>
          </a:xfrm>
          <a:prstGeom prst="rect">
            <a:avLst/>
          </a:prstGeom>
          <a:solidFill>
            <a:srgbClr val="EE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" y="2926080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message_version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15184" y="2916936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18232B"/>
                </a:solidFill>
                <a:latin typeface="Arial"/>
              </a:rPr>
              <a:t>exact approved content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99632" y="2807208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99632" y="2807208"/>
            <a:ext cx="1755648" cy="841248"/>
          </a:xfrm>
          <a:prstGeom prst="rect">
            <a:avLst/>
          </a:prstGeom>
          <a:solidFill>
            <a:srgbClr val="3543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9360" y="2926080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sent_at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19872" y="2916936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18232B"/>
                </a:solidFill>
                <a:latin typeface="Arial"/>
              </a:rPr>
              <a:t>timestamp and timezone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94944" y="3831336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94944" y="3831336"/>
            <a:ext cx="1755648" cy="841248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4672" y="3950208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acknowledged_at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15184" y="3941064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18232B"/>
                </a:solidFill>
                <a:latin typeface="Arial"/>
              </a:rPr>
              <a:t>nullable response time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99632" y="3831336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99632" y="3831336"/>
            <a:ext cx="1755648" cy="841248"/>
          </a:xfrm>
          <a:prstGeom prst="rect">
            <a:avLst/>
          </a:prstGeom>
          <a:solidFill>
            <a:srgbClr val="F06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09360" y="3950208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next_action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19872" y="3941064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18232B"/>
                </a:solidFill>
                <a:latin typeface="Arial"/>
              </a:rPr>
              <a:t>owner and due date</a:t>
            </a:r>
          </a:p>
        </p:txBody>
      </p:sp>
    </p:spTree>
  </p:cSld>
  <p:clrMapOvr>
    <a:masterClrMapping/>
  </p:clrMapOvr>
  <p:transition spd="fast">
    <p:fade/>
  </p:transition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71600"/>
          </a:xfrm>
          <a:prstGeom prst="rect">
            <a:avLst/>
          </a:prstGeom>
          <a:solidFill>
            <a:srgbClr val="EE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EEA900"/>
                </a:solidFill>
                <a:latin typeface="Arial"/>
              </a:rPr>
              <a:t>WORKED CALCULATION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8232B"/>
                </a:solidFill>
                <a:latin typeface="Arial"/>
              </a:rPr>
              <a:t>Weighted Partner Score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435608"/>
            <a:ext cx="10927080" cy="16459"/>
          </a:xfrm>
          <a:prstGeom prst="rect">
            <a:avLst/>
          </a:prstGeom>
          <a:solidFill>
            <a:srgbClr val="DD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95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28800"/>
            <a:ext cx="10744200" cy="114300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029968"/>
            <a:ext cx="10241280" cy="7315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18232B"/>
                </a:solidFill>
                <a:latin typeface="Arial"/>
              </a:rPr>
              <a:t>Score = sum(weight x criterion score)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3246120"/>
            <a:ext cx="672084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493008"/>
            <a:ext cx="621792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008F83"/>
                </a:solidFill>
                <a:latin typeface="Arial"/>
              </a:rPr>
              <a:t>REALISTIC INPUTS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977639"/>
            <a:ext cx="6217920" cy="8686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8232B"/>
                </a:solidFill>
                <a:latin typeface="Arial"/>
              </a:rPr>
              <a:t>0.30x88 + 0.25x76 + 0.20x92 + 0.15x80 + 0.10x70 = 82.8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99248" y="3246120"/>
            <a:ext cx="3758184" cy="1920240"/>
          </a:xfrm>
          <a:prstGeom prst="roundRect">
            <a:avLst/>
          </a:prstGeom>
          <a:solidFill>
            <a:srgbClr val="FFF6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73568" y="3502152"/>
            <a:ext cx="324612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EEA900"/>
                </a:solidFill>
                <a:latin typeface="Arial"/>
              </a:rPr>
              <a:t>DECISION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73568" y="3913632"/>
            <a:ext cx="3246120" cy="9601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1">
                <a:solidFill>
                  <a:srgbClr val="18232B"/>
                </a:solidFill>
                <a:latin typeface="Arial"/>
              </a:rPr>
              <a:t>Apply hard gates before ranking; a policy failure must not be averaged away.</a:t>
            </a:r>
          </a:p>
        </p:txBody>
      </p:sp>
    </p:spTree>
  </p:cSld>
  <p:clrMapOvr>
    <a:masterClrMapping/>
  </p:clrMapOvr>
  <p:transition spd="fast">
    <p:fade/>
  </p:transition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71600"/>
          </a:xfrm>
          <a:prstGeom prst="rect">
            <a:avLst/>
          </a:prstGeom>
          <a:solidFill>
            <a:srgbClr val="EE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EEA900"/>
                </a:solidFill>
                <a:latin typeface="Arial"/>
              </a:rPr>
              <a:t>WORKED CALCULATION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8232B"/>
                </a:solidFill>
                <a:latin typeface="Arial"/>
              </a:rPr>
              <a:t>Engagement Rate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435608"/>
            <a:ext cx="10927080" cy="16459"/>
          </a:xfrm>
          <a:prstGeom prst="rect">
            <a:avLst/>
          </a:prstGeom>
          <a:solidFill>
            <a:srgbClr val="DD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96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28800"/>
            <a:ext cx="10744200" cy="114300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029968"/>
            <a:ext cx="10241280" cy="7315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18232B"/>
                </a:solidFill>
                <a:latin typeface="Arial"/>
              </a:rPr>
              <a:t>Engagement rate = meaningful interactions / reachable audience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3246120"/>
            <a:ext cx="672084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493008"/>
            <a:ext cx="621792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008F83"/>
                </a:solidFill>
                <a:latin typeface="Arial"/>
              </a:rPr>
              <a:t>REALISTIC INPUTS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977639"/>
            <a:ext cx="6217920" cy="8686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8232B"/>
                </a:solidFill>
                <a:latin typeface="Arial"/>
              </a:rPr>
              <a:t>1,260 interactions / 42,000 reachable followers = 3.0%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99248" y="3246120"/>
            <a:ext cx="3758184" cy="1920240"/>
          </a:xfrm>
          <a:prstGeom prst="roundRect">
            <a:avLst/>
          </a:prstGeom>
          <a:solidFill>
            <a:srgbClr val="FFF6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73568" y="3502152"/>
            <a:ext cx="324612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EEA900"/>
                </a:solidFill>
                <a:latin typeface="Arial"/>
              </a:rPr>
              <a:t>DECISION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73568" y="3913632"/>
            <a:ext cx="3246120" cy="9601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1">
                <a:solidFill>
                  <a:srgbClr val="18232B"/>
                </a:solidFill>
                <a:latin typeface="Arial"/>
              </a:rPr>
              <a:t>Define meaningful interaction and use a recent sample, not lifetime vanity totals.</a:t>
            </a:r>
          </a:p>
        </p:txBody>
      </p:sp>
    </p:spTree>
  </p:cSld>
  <p:clrMapOvr>
    <a:masterClrMapping/>
  </p:clrMapOvr>
  <p:transition spd="fast">
    <p:fade/>
  </p:transition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71600"/>
          </a:xfrm>
          <a:prstGeom prst="rect">
            <a:avLst/>
          </a:prstGeom>
          <a:solidFill>
            <a:srgbClr val="EE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EEA900"/>
                </a:solidFill>
                <a:latin typeface="Arial"/>
              </a:rPr>
              <a:t>WORKED CALCULATION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8232B"/>
                </a:solidFill>
                <a:latin typeface="Arial"/>
              </a:rPr>
              <a:t>Portfolio Concentration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435608"/>
            <a:ext cx="10927080" cy="16459"/>
          </a:xfrm>
          <a:prstGeom prst="rect">
            <a:avLst/>
          </a:prstGeom>
          <a:solidFill>
            <a:srgbClr val="DD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97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28800"/>
            <a:ext cx="10744200" cy="114300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029968"/>
            <a:ext cx="10241280" cy="7315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18232B"/>
                </a:solidFill>
                <a:latin typeface="Arial"/>
              </a:rPr>
              <a:t>Top-3 share = revenue from top 3 partners / total affiliate revenue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3246120"/>
            <a:ext cx="672084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493008"/>
            <a:ext cx="621792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008F83"/>
                </a:solidFill>
                <a:latin typeface="Arial"/>
              </a:rPr>
              <a:t>REALISTIC INPUTS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977639"/>
            <a:ext cx="6217920" cy="8686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8232B"/>
                </a:solidFill>
                <a:latin typeface="Arial"/>
              </a:rPr>
              <a:t>$42,000 / $60,000 = 70%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99248" y="3246120"/>
            <a:ext cx="3758184" cy="1920240"/>
          </a:xfrm>
          <a:prstGeom prst="roundRect">
            <a:avLst/>
          </a:prstGeom>
          <a:solidFill>
            <a:srgbClr val="FFF6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73568" y="3502152"/>
            <a:ext cx="324612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EEA900"/>
                </a:solidFill>
                <a:latin typeface="Arial"/>
              </a:rPr>
              <a:t>DECISION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73568" y="3913632"/>
            <a:ext cx="3246120" cy="9601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1">
                <a:solidFill>
                  <a:srgbClr val="18232B"/>
                </a:solidFill>
                <a:latin typeface="Arial"/>
              </a:rPr>
              <a:t>A high top-3 share increases outage and negotiation risk even when current ROI is strong.</a:t>
            </a:r>
          </a:p>
        </p:txBody>
      </p:sp>
    </p:spTree>
  </p:cSld>
  <p:clrMapOvr>
    <a:masterClrMapping/>
  </p:clrMapOvr>
  <p:transition spd="fast">
    <p:fade/>
  </p:transition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71600"/>
          </a:xfrm>
          <a:prstGeom prst="rect">
            <a:avLst/>
          </a:prstGeom>
          <a:solidFill>
            <a:srgbClr val="EE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EEA900"/>
                </a:solidFill>
                <a:latin typeface="Arial"/>
              </a:rPr>
              <a:t>WORKED CALCULATION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8232B"/>
                </a:solidFill>
                <a:latin typeface="Arial"/>
              </a:rPr>
              <a:t>Response SLA Attainment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435608"/>
            <a:ext cx="10927080" cy="16459"/>
          </a:xfrm>
          <a:prstGeom prst="rect">
            <a:avLst/>
          </a:prstGeom>
          <a:solidFill>
            <a:srgbClr val="DD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98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28800"/>
            <a:ext cx="10744200" cy="114300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029968"/>
            <a:ext cx="10241280" cy="7315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18232B"/>
                </a:solidFill>
                <a:latin typeface="Arial"/>
              </a:rPr>
              <a:t>SLA attainment = responses within target / support requests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3246120"/>
            <a:ext cx="672084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493008"/>
            <a:ext cx="621792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008F83"/>
                </a:solidFill>
                <a:latin typeface="Arial"/>
              </a:rPr>
              <a:t>REALISTIC INPUTS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977639"/>
            <a:ext cx="6217920" cy="8686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8232B"/>
                </a:solidFill>
                <a:latin typeface="Arial"/>
              </a:rPr>
              <a:t>87 / 100 = 87%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99248" y="3246120"/>
            <a:ext cx="3758184" cy="1920240"/>
          </a:xfrm>
          <a:prstGeom prst="roundRect">
            <a:avLst/>
          </a:prstGeom>
          <a:solidFill>
            <a:srgbClr val="FFF6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73568" y="3502152"/>
            <a:ext cx="324612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EEA900"/>
                </a:solidFill>
                <a:latin typeface="Arial"/>
              </a:rPr>
              <a:t>DECISION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73568" y="3913632"/>
            <a:ext cx="3246120" cy="9601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1">
                <a:solidFill>
                  <a:srgbClr val="18232B"/>
                </a:solidFill>
                <a:latin typeface="Arial"/>
              </a:rPr>
              <a:t>Segment by partner tier; a blended result can hide failure for strategic partners.</a:t>
            </a:r>
          </a:p>
        </p:txBody>
      </p:sp>
    </p:spTree>
  </p:cSld>
  <p:clrMapOvr>
    <a:masterClrMapping/>
  </p:clrMapOvr>
  <p:transition spd="fast">
    <p:fade/>
  </p:transition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71600"/>
          </a:xfrm>
          <a:prstGeom prst="rect">
            <a:avLst/>
          </a:prstGeom>
          <a:solidFill>
            <a:srgbClr val="EE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EEA900"/>
                </a:solidFill>
                <a:latin typeface="Arial"/>
              </a:rPr>
              <a:t>WORKED CALCULATION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8232B"/>
                </a:solidFill>
                <a:latin typeface="Arial"/>
              </a:rPr>
              <a:t>Partner Retention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435608"/>
            <a:ext cx="10927080" cy="16459"/>
          </a:xfrm>
          <a:prstGeom prst="rect">
            <a:avLst/>
          </a:prstGeom>
          <a:solidFill>
            <a:srgbClr val="DD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99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28800"/>
            <a:ext cx="10744200" cy="114300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029968"/>
            <a:ext cx="10241280" cy="7315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18232B"/>
                </a:solidFill>
                <a:latin typeface="Arial"/>
              </a:rPr>
              <a:t>Retention = active partners at end who were active at start / active partners at start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3246120"/>
            <a:ext cx="672084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493008"/>
            <a:ext cx="621792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008F83"/>
                </a:solidFill>
                <a:latin typeface="Arial"/>
              </a:rPr>
              <a:t>REALISTIC INPUTS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977639"/>
            <a:ext cx="6217920" cy="8686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8232B"/>
                </a:solidFill>
                <a:latin typeface="Arial"/>
              </a:rPr>
              <a:t>42 / 50 = 84%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99248" y="3246120"/>
            <a:ext cx="3758184" cy="1920240"/>
          </a:xfrm>
          <a:prstGeom prst="roundRect">
            <a:avLst/>
          </a:prstGeom>
          <a:solidFill>
            <a:srgbClr val="FFF6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73568" y="3502152"/>
            <a:ext cx="324612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EEA900"/>
                </a:solidFill>
                <a:latin typeface="Arial"/>
              </a:rPr>
              <a:t>DECISION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73568" y="3913632"/>
            <a:ext cx="3246120" cy="9601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1">
                <a:solidFill>
                  <a:srgbClr val="18232B"/>
                </a:solidFill>
                <a:latin typeface="Arial"/>
              </a:rPr>
              <a:t>Exclude newly recruited partners from the retention numerator and denominator.</a:t>
            </a:r>
          </a:p>
        </p:txBody>
      </p:sp>
    </p:spTree>
  </p:cSld>
  <p:clrMapOvr>
    <a:masterClrMapping/>
  </p:clrMapOvr>
  <p:transition spd="fast">
    <p:fade/>
  </p:transition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71600"/>
          </a:xfrm>
          <a:prstGeom prst="rect">
            <a:avLst/>
          </a:prstGeom>
          <a:solidFill>
            <a:srgbClr val="F06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0674A"/>
                </a:solidFill>
                <a:latin typeface="Arial"/>
              </a:rPr>
              <a:t>COMPARE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8232B"/>
                </a:solidFill>
                <a:latin typeface="Arial"/>
              </a:rPr>
              <a:t>Reach vs Relevance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435608"/>
            <a:ext cx="10927080" cy="16459"/>
          </a:xfrm>
          <a:prstGeom prst="rect">
            <a:avLst/>
          </a:prstGeom>
          <a:solidFill>
            <a:srgbClr val="DD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100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783080"/>
            <a:ext cx="5257800" cy="4315968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783080"/>
            <a:ext cx="5257800" cy="109728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2029968"/>
            <a:ext cx="470916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008F83"/>
                </a:solidFill>
                <a:latin typeface="Arial"/>
              </a:rPr>
              <a:t>Reach</a:t>
            </a:r>
          </a:p>
        </p:txBody>
      </p:sp>
      <p:sp>
        <p:nvSpPr>
          <p:cNvPr id="13" name="Oval 12"/>
          <p:cNvSpPr/>
          <p:nvPr/>
        </p:nvSpPr>
        <p:spPr>
          <a:xfrm>
            <a:off x="950976" y="2743200"/>
            <a:ext cx="365760" cy="365760"/>
          </a:xfrm>
          <a:prstGeom prst="ellipse">
            <a:avLst/>
          </a:prstGeom>
          <a:solidFill>
            <a:srgbClr val="00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0976" y="274320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1328" y="267919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8232B"/>
                </a:solidFill>
                <a:latin typeface="Arial"/>
              </a:rPr>
              <a:t>Large potential audience</a:t>
            </a:r>
          </a:p>
        </p:txBody>
      </p:sp>
      <p:sp>
        <p:nvSpPr>
          <p:cNvPr id="16" name="Oval 15"/>
          <p:cNvSpPr/>
          <p:nvPr/>
        </p:nvSpPr>
        <p:spPr>
          <a:xfrm>
            <a:off x="950976" y="3566160"/>
            <a:ext cx="365760" cy="365760"/>
          </a:xfrm>
          <a:prstGeom prst="ellipse">
            <a:avLst/>
          </a:prstGeom>
          <a:solidFill>
            <a:srgbClr val="00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0976" y="356616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1328" y="350215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8232B"/>
                </a:solidFill>
                <a:latin typeface="Arial"/>
              </a:rPr>
              <a:t>Useful for awareness</a:t>
            </a:r>
          </a:p>
        </p:txBody>
      </p:sp>
      <p:sp>
        <p:nvSpPr>
          <p:cNvPr id="19" name="Oval 18"/>
          <p:cNvSpPr/>
          <p:nvPr/>
        </p:nvSpPr>
        <p:spPr>
          <a:xfrm>
            <a:off x="950976" y="4389120"/>
            <a:ext cx="365760" cy="365760"/>
          </a:xfrm>
          <a:prstGeom prst="ellipse">
            <a:avLst/>
          </a:prstGeom>
          <a:solidFill>
            <a:srgbClr val="00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976" y="438912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81328" y="432511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8232B"/>
                </a:solidFill>
                <a:latin typeface="Arial"/>
              </a:rPr>
              <a:t>May dilute intent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1783080"/>
            <a:ext cx="5257800" cy="4315968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63640" y="1783080"/>
            <a:ext cx="5257800" cy="109728"/>
          </a:xfrm>
          <a:prstGeom prst="rect">
            <a:avLst/>
          </a:prstGeom>
          <a:solidFill>
            <a:srgbClr val="F06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37960" y="2029968"/>
            <a:ext cx="470916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F0674A"/>
                </a:solidFill>
                <a:latin typeface="Arial"/>
              </a:rPr>
              <a:t>Relevance</a:t>
            </a:r>
          </a:p>
        </p:txBody>
      </p:sp>
      <p:sp>
        <p:nvSpPr>
          <p:cNvPr id="25" name="Oval 24"/>
          <p:cNvSpPr/>
          <p:nvPr/>
        </p:nvSpPr>
        <p:spPr>
          <a:xfrm>
            <a:off x="6556248" y="2743200"/>
            <a:ext cx="365760" cy="365760"/>
          </a:xfrm>
          <a:prstGeom prst="ellipse">
            <a:avLst/>
          </a:prstGeom>
          <a:solidFill>
            <a:srgbClr val="F06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56248" y="274320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86600" y="267919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8232B"/>
                </a:solidFill>
                <a:latin typeface="Arial"/>
              </a:rPr>
              <a:t>Strong problem-offer fit</a:t>
            </a:r>
          </a:p>
        </p:txBody>
      </p:sp>
      <p:sp>
        <p:nvSpPr>
          <p:cNvPr id="28" name="Oval 27"/>
          <p:cNvSpPr/>
          <p:nvPr/>
        </p:nvSpPr>
        <p:spPr>
          <a:xfrm>
            <a:off x="6556248" y="3566160"/>
            <a:ext cx="365760" cy="365760"/>
          </a:xfrm>
          <a:prstGeom prst="ellipse">
            <a:avLst/>
          </a:prstGeom>
          <a:solidFill>
            <a:srgbClr val="F06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56248" y="356616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86600" y="350215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8232B"/>
                </a:solidFill>
                <a:latin typeface="Arial"/>
              </a:rPr>
              <a:t>Smaller but qualified audience</a:t>
            </a:r>
          </a:p>
        </p:txBody>
      </p:sp>
      <p:sp>
        <p:nvSpPr>
          <p:cNvPr id="31" name="Oval 30"/>
          <p:cNvSpPr/>
          <p:nvPr/>
        </p:nvSpPr>
        <p:spPr>
          <a:xfrm>
            <a:off x="6556248" y="4389120"/>
            <a:ext cx="365760" cy="365760"/>
          </a:xfrm>
          <a:prstGeom prst="ellipse">
            <a:avLst/>
          </a:prstGeom>
          <a:solidFill>
            <a:srgbClr val="F06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56248" y="438912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86600" y="432511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8232B"/>
                </a:solidFill>
                <a:latin typeface="Arial"/>
              </a:rPr>
              <a:t>Often better conversion quality</a:t>
            </a:r>
          </a:p>
        </p:txBody>
      </p:sp>
    </p:spTree>
  </p:cSld>
  <p:clrMapOvr>
    <a:masterClrMapping/>
  </p:clrMapOvr>
  <p:transition spd="fast">
    <p:fade/>
  </p:transition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71600"/>
          </a:xfrm>
          <a:prstGeom prst="rect">
            <a:avLst/>
          </a:prstGeom>
          <a:solidFill>
            <a:srgbClr val="F06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0674A"/>
                </a:solidFill>
                <a:latin typeface="Arial"/>
              </a:rPr>
              <a:t>COMPARE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8232B"/>
                </a:solidFill>
                <a:latin typeface="Arial"/>
              </a:rPr>
              <a:t>Follower Count vs Engagement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435608"/>
            <a:ext cx="10927080" cy="16459"/>
          </a:xfrm>
          <a:prstGeom prst="rect">
            <a:avLst/>
          </a:prstGeom>
          <a:solidFill>
            <a:srgbClr val="DD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101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783080"/>
            <a:ext cx="5257800" cy="4315968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783080"/>
            <a:ext cx="5257800" cy="109728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2029968"/>
            <a:ext cx="470916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008F83"/>
                </a:solidFill>
                <a:latin typeface="Arial"/>
              </a:rPr>
              <a:t>Follower count</a:t>
            </a:r>
          </a:p>
        </p:txBody>
      </p:sp>
      <p:sp>
        <p:nvSpPr>
          <p:cNvPr id="13" name="Oval 12"/>
          <p:cNvSpPr/>
          <p:nvPr/>
        </p:nvSpPr>
        <p:spPr>
          <a:xfrm>
            <a:off x="950976" y="2743200"/>
            <a:ext cx="365760" cy="365760"/>
          </a:xfrm>
          <a:prstGeom prst="ellipse">
            <a:avLst/>
          </a:prstGeom>
          <a:solidFill>
            <a:srgbClr val="00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0976" y="274320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1328" y="267919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8232B"/>
                </a:solidFill>
                <a:latin typeface="Arial"/>
              </a:rPr>
              <a:t>Easy to collect</a:t>
            </a:r>
          </a:p>
        </p:txBody>
      </p:sp>
      <p:sp>
        <p:nvSpPr>
          <p:cNvPr id="16" name="Oval 15"/>
          <p:cNvSpPr/>
          <p:nvPr/>
        </p:nvSpPr>
        <p:spPr>
          <a:xfrm>
            <a:off x="950976" y="3566160"/>
            <a:ext cx="365760" cy="365760"/>
          </a:xfrm>
          <a:prstGeom prst="ellipse">
            <a:avLst/>
          </a:prstGeom>
          <a:solidFill>
            <a:srgbClr val="00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0976" y="356616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1328" y="350215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8232B"/>
                </a:solidFill>
                <a:latin typeface="Arial"/>
              </a:rPr>
              <a:t>May include inactive or bought accounts</a:t>
            </a:r>
          </a:p>
        </p:txBody>
      </p:sp>
      <p:sp>
        <p:nvSpPr>
          <p:cNvPr id="19" name="Oval 18"/>
          <p:cNvSpPr/>
          <p:nvPr/>
        </p:nvSpPr>
        <p:spPr>
          <a:xfrm>
            <a:off x="950976" y="4389120"/>
            <a:ext cx="365760" cy="365760"/>
          </a:xfrm>
          <a:prstGeom prst="ellipse">
            <a:avLst/>
          </a:prstGeom>
          <a:solidFill>
            <a:srgbClr val="00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976" y="438912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81328" y="432511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8232B"/>
                </a:solidFill>
                <a:latin typeface="Arial"/>
              </a:rPr>
              <a:t>Weak behavioural proof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1783080"/>
            <a:ext cx="5257800" cy="4315968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63640" y="1783080"/>
            <a:ext cx="5257800" cy="109728"/>
          </a:xfrm>
          <a:prstGeom prst="rect">
            <a:avLst/>
          </a:prstGeom>
          <a:solidFill>
            <a:srgbClr val="F06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37960" y="2029968"/>
            <a:ext cx="470916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F0674A"/>
                </a:solidFill>
                <a:latin typeface="Arial"/>
              </a:rPr>
              <a:t>Engagement evidence</a:t>
            </a:r>
          </a:p>
        </p:txBody>
      </p:sp>
      <p:sp>
        <p:nvSpPr>
          <p:cNvPr id="25" name="Oval 24"/>
          <p:cNvSpPr/>
          <p:nvPr/>
        </p:nvSpPr>
        <p:spPr>
          <a:xfrm>
            <a:off x="6556248" y="2743200"/>
            <a:ext cx="365760" cy="365760"/>
          </a:xfrm>
          <a:prstGeom prst="ellipse">
            <a:avLst/>
          </a:prstGeom>
          <a:solidFill>
            <a:srgbClr val="F06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56248" y="274320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86600" y="267919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8232B"/>
                </a:solidFill>
                <a:latin typeface="Arial"/>
              </a:rPr>
              <a:t>Sampled denominator</a:t>
            </a:r>
          </a:p>
        </p:txBody>
      </p:sp>
      <p:sp>
        <p:nvSpPr>
          <p:cNvPr id="28" name="Oval 27"/>
          <p:cNvSpPr/>
          <p:nvPr/>
        </p:nvSpPr>
        <p:spPr>
          <a:xfrm>
            <a:off x="6556248" y="3566160"/>
            <a:ext cx="365760" cy="365760"/>
          </a:xfrm>
          <a:prstGeom prst="ellipse">
            <a:avLst/>
          </a:prstGeom>
          <a:solidFill>
            <a:srgbClr val="F06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56248" y="356616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86600" y="350215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8232B"/>
                </a:solidFill>
                <a:latin typeface="Arial"/>
              </a:rPr>
              <a:t>Comment and click quality</a:t>
            </a:r>
          </a:p>
        </p:txBody>
      </p:sp>
      <p:sp>
        <p:nvSpPr>
          <p:cNvPr id="31" name="Oval 30"/>
          <p:cNvSpPr/>
          <p:nvPr/>
        </p:nvSpPr>
        <p:spPr>
          <a:xfrm>
            <a:off x="6556248" y="4389120"/>
            <a:ext cx="365760" cy="365760"/>
          </a:xfrm>
          <a:prstGeom prst="ellipse">
            <a:avLst/>
          </a:prstGeom>
          <a:solidFill>
            <a:srgbClr val="F06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56248" y="438912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86600" y="432511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8232B"/>
                </a:solidFill>
                <a:latin typeface="Arial"/>
              </a:rPr>
              <a:t>More predictive when current</a:t>
            </a:r>
          </a:p>
        </p:txBody>
      </p:sp>
    </p:spTree>
  </p:cSld>
  <p:clrMapOvr>
    <a:masterClrMapping/>
  </p:clrMapOvr>
  <p:transition spd="fast">
    <p:fade/>
  </p:transition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71600"/>
          </a:xfrm>
          <a:prstGeom prst="rect">
            <a:avLst/>
          </a:prstGeom>
          <a:solidFill>
            <a:srgbClr val="F06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0674A"/>
                </a:solidFill>
                <a:latin typeface="Arial"/>
              </a:rPr>
              <a:t>COMPARE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8232B"/>
                </a:solidFill>
                <a:latin typeface="Arial"/>
              </a:rPr>
              <a:t>Single-Star vs Portfolio Model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435608"/>
            <a:ext cx="10927080" cy="16459"/>
          </a:xfrm>
          <a:prstGeom prst="rect">
            <a:avLst/>
          </a:prstGeom>
          <a:solidFill>
            <a:srgbClr val="DD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102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783080"/>
            <a:ext cx="5257800" cy="4315968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783080"/>
            <a:ext cx="5257800" cy="109728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2029968"/>
            <a:ext cx="470916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008F83"/>
                </a:solidFill>
                <a:latin typeface="Arial"/>
              </a:rPr>
              <a:t>Single star</a:t>
            </a:r>
          </a:p>
        </p:txBody>
      </p:sp>
      <p:sp>
        <p:nvSpPr>
          <p:cNvPr id="13" name="Oval 12"/>
          <p:cNvSpPr/>
          <p:nvPr/>
        </p:nvSpPr>
        <p:spPr>
          <a:xfrm>
            <a:off x="950976" y="2743200"/>
            <a:ext cx="365760" cy="365760"/>
          </a:xfrm>
          <a:prstGeom prst="ellipse">
            <a:avLst/>
          </a:prstGeom>
          <a:solidFill>
            <a:srgbClr val="00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0976" y="274320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1328" y="267919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8232B"/>
                </a:solidFill>
                <a:latin typeface="Arial"/>
              </a:rPr>
              <a:t>Fast coordination</a:t>
            </a:r>
          </a:p>
        </p:txBody>
      </p:sp>
      <p:sp>
        <p:nvSpPr>
          <p:cNvPr id="16" name="Oval 15"/>
          <p:cNvSpPr/>
          <p:nvPr/>
        </p:nvSpPr>
        <p:spPr>
          <a:xfrm>
            <a:off x="950976" y="3566160"/>
            <a:ext cx="365760" cy="365760"/>
          </a:xfrm>
          <a:prstGeom prst="ellipse">
            <a:avLst/>
          </a:prstGeom>
          <a:solidFill>
            <a:srgbClr val="00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0976" y="356616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1328" y="350215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8232B"/>
                </a:solidFill>
                <a:latin typeface="Arial"/>
              </a:rPr>
              <a:t>High concentration risk</a:t>
            </a:r>
          </a:p>
        </p:txBody>
      </p:sp>
      <p:sp>
        <p:nvSpPr>
          <p:cNvPr id="19" name="Oval 18"/>
          <p:cNvSpPr/>
          <p:nvPr/>
        </p:nvSpPr>
        <p:spPr>
          <a:xfrm>
            <a:off x="950976" y="4389120"/>
            <a:ext cx="365760" cy="365760"/>
          </a:xfrm>
          <a:prstGeom prst="ellipse">
            <a:avLst/>
          </a:prstGeom>
          <a:solidFill>
            <a:srgbClr val="00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976" y="438912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81328" y="432511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8232B"/>
                </a:solidFill>
                <a:latin typeface="Arial"/>
              </a:rPr>
              <a:t>One voice and channel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1783080"/>
            <a:ext cx="5257800" cy="4315968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63640" y="1783080"/>
            <a:ext cx="5257800" cy="109728"/>
          </a:xfrm>
          <a:prstGeom prst="rect">
            <a:avLst/>
          </a:prstGeom>
          <a:solidFill>
            <a:srgbClr val="F06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37960" y="2029968"/>
            <a:ext cx="470916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F0674A"/>
                </a:solidFill>
                <a:latin typeface="Arial"/>
              </a:rPr>
              <a:t>Portfolio</a:t>
            </a:r>
          </a:p>
        </p:txBody>
      </p:sp>
      <p:sp>
        <p:nvSpPr>
          <p:cNvPr id="25" name="Oval 24"/>
          <p:cNvSpPr/>
          <p:nvPr/>
        </p:nvSpPr>
        <p:spPr>
          <a:xfrm>
            <a:off x="6556248" y="2743200"/>
            <a:ext cx="365760" cy="365760"/>
          </a:xfrm>
          <a:prstGeom prst="ellipse">
            <a:avLst/>
          </a:prstGeom>
          <a:solidFill>
            <a:srgbClr val="F06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56248" y="274320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86600" y="267919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8232B"/>
                </a:solidFill>
                <a:latin typeface="Arial"/>
              </a:rPr>
              <a:t>Diversified audience and channel</a:t>
            </a:r>
          </a:p>
        </p:txBody>
      </p:sp>
      <p:sp>
        <p:nvSpPr>
          <p:cNvPr id="28" name="Oval 27"/>
          <p:cNvSpPr/>
          <p:nvPr/>
        </p:nvSpPr>
        <p:spPr>
          <a:xfrm>
            <a:off x="6556248" y="3566160"/>
            <a:ext cx="365760" cy="365760"/>
          </a:xfrm>
          <a:prstGeom prst="ellipse">
            <a:avLst/>
          </a:prstGeom>
          <a:solidFill>
            <a:srgbClr val="F06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56248" y="356616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86600" y="350215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8232B"/>
                </a:solidFill>
                <a:latin typeface="Arial"/>
              </a:rPr>
              <a:t>Higher operating complexity</a:t>
            </a:r>
          </a:p>
        </p:txBody>
      </p:sp>
      <p:sp>
        <p:nvSpPr>
          <p:cNvPr id="31" name="Oval 30"/>
          <p:cNvSpPr/>
          <p:nvPr/>
        </p:nvSpPr>
        <p:spPr>
          <a:xfrm>
            <a:off x="6556248" y="4389120"/>
            <a:ext cx="365760" cy="365760"/>
          </a:xfrm>
          <a:prstGeom prst="ellipse">
            <a:avLst/>
          </a:prstGeom>
          <a:solidFill>
            <a:srgbClr val="F06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56248" y="438912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86600" y="432511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8232B"/>
                </a:solidFill>
                <a:latin typeface="Arial"/>
              </a:rPr>
              <a:t>Needs role and capacity design</a:t>
            </a:r>
          </a:p>
        </p:txBody>
      </p:sp>
    </p:spTree>
  </p:cSld>
  <p:clrMapOvr>
    <a:masterClrMapping/>
  </p:clrMapOvr>
  <p:transition spd="fast">
    <p:fade/>
  </p:transition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71600"/>
          </a:xfrm>
          <a:prstGeom prst="rect">
            <a:avLst/>
          </a:prstGeom>
          <a:solidFill>
            <a:srgbClr val="F06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0674A"/>
                </a:solidFill>
                <a:latin typeface="Arial"/>
              </a:rPr>
              <a:t>COMPARE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8232B"/>
                </a:solidFill>
                <a:latin typeface="Arial"/>
              </a:rPr>
              <a:t>Direct Outreach vs Network Recruitment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435608"/>
            <a:ext cx="10927080" cy="16459"/>
          </a:xfrm>
          <a:prstGeom prst="rect">
            <a:avLst/>
          </a:prstGeom>
          <a:solidFill>
            <a:srgbClr val="DD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103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783080"/>
            <a:ext cx="5257800" cy="4315968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783080"/>
            <a:ext cx="5257800" cy="109728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2029968"/>
            <a:ext cx="470916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008F83"/>
                </a:solidFill>
                <a:latin typeface="Arial"/>
              </a:rPr>
              <a:t>Direct</a:t>
            </a:r>
          </a:p>
        </p:txBody>
      </p:sp>
      <p:sp>
        <p:nvSpPr>
          <p:cNvPr id="13" name="Oval 12"/>
          <p:cNvSpPr/>
          <p:nvPr/>
        </p:nvSpPr>
        <p:spPr>
          <a:xfrm>
            <a:off x="950976" y="2743200"/>
            <a:ext cx="365760" cy="365760"/>
          </a:xfrm>
          <a:prstGeom prst="ellipse">
            <a:avLst/>
          </a:prstGeom>
          <a:solidFill>
            <a:srgbClr val="00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0976" y="274320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1328" y="267919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8232B"/>
                </a:solidFill>
                <a:latin typeface="Arial"/>
              </a:rPr>
              <a:t>Custom terms and relationship</a:t>
            </a:r>
          </a:p>
        </p:txBody>
      </p:sp>
      <p:sp>
        <p:nvSpPr>
          <p:cNvPr id="16" name="Oval 15"/>
          <p:cNvSpPr/>
          <p:nvPr/>
        </p:nvSpPr>
        <p:spPr>
          <a:xfrm>
            <a:off x="950976" y="3566160"/>
            <a:ext cx="365760" cy="365760"/>
          </a:xfrm>
          <a:prstGeom prst="ellipse">
            <a:avLst/>
          </a:prstGeom>
          <a:solidFill>
            <a:srgbClr val="00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0976" y="356616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1328" y="350215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8232B"/>
                </a:solidFill>
                <a:latin typeface="Arial"/>
              </a:rPr>
              <a:t>Higher research effort</a:t>
            </a:r>
          </a:p>
        </p:txBody>
      </p:sp>
      <p:sp>
        <p:nvSpPr>
          <p:cNvPr id="19" name="Oval 18"/>
          <p:cNvSpPr/>
          <p:nvPr/>
        </p:nvSpPr>
        <p:spPr>
          <a:xfrm>
            <a:off x="950976" y="4389120"/>
            <a:ext cx="365760" cy="365760"/>
          </a:xfrm>
          <a:prstGeom prst="ellipse">
            <a:avLst/>
          </a:prstGeom>
          <a:solidFill>
            <a:srgbClr val="00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976" y="438912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81328" y="432511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8232B"/>
                </a:solidFill>
                <a:latin typeface="Arial"/>
              </a:rPr>
              <a:t>Rich strategic fit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1783080"/>
            <a:ext cx="5257800" cy="4315968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63640" y="1783080"/>
            <a:ext cx="5257800" cy="109728"/>
          </a:xfrm>
          <a:prstGeom prst="rect">
            <a:avLst/>
          </a:prstGeom>
          <a:solidFill>
            <a:srgbClr val="F06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37960" y="2029968"/>
            <a:ext cx="470916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F0674A"/>
                </a:solidFill>
                <a:latin typeface="Arial"/>
              </a:rPr>
              <a:t>Network</a:t>
            </a:r>
          </a:p>
        </p:txBody>
      </p:sp>
      <p:sp>
        <p:nvSpPr>
          <p:cNvPr id="25" name="Oval 24"/>
          <p:cNvSpPr/>
          <p:nvPr/>
        </p:nvSpPr>
        <p:spPr>
          <a:xfrm>
            <a:off x="6556248" y="2743200"/>
            <a:ext cx="365760" cy="365760"/>
          </a:xfrm>
          <a:prstGeom prst="ellipse">
            <a:avLst/>
          </a:prstGeom>
          <a:solidFill>
            <a:srgbClr val="F06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56248" y="274320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86600" y="267919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8232B"/>
                </a:solidFill>
                <a:latin typeface="Arial"/>
              </a:rPr>
              <a:t>Faster candidate access</a:t>
            </a:r>
          </a:p>
        </p:txBody>
      </p:sp>
      <p:sp>
        <p:nvSpPr>
          <p:cNvPr id="28" name="Oval 27"/>
          <p:cNvSpPr/>
          <p:nvPr/>
        </p:nvSpPr>
        <p:spPr>
          <a:xfrm>
            <a:off x="6556248" y="3566160"/>
            <a:ext cx="365760" cy="365760"/>
          </a:xfrm>
          <a:prstGeom prst="ellipse">
            <a:avLst/>
          </a:prstGeom>
          <a:solidFill>
            <a:srgbClr val="F06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56248" y="356616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86600" y="350215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8232B"/>
                </a:solidFill>
                <a:latin typeface="Arial"/>
              </a:rPr>
              <a:t>Standardised tracking and payout</a:t>
            </a:r>
          </a:p>
        </p:txBody>
      </p:sp>
      <p:sp>
        <p:nvSpPr>
          <p:cNvPr id="31" name="Oval 30"/>
          <p:cNvSpPr/>
          <p:nvPr/>
        </p:nvSpPr>
        <p:spPr>
          <a:xfrm>
            <a:off x="6556248" y="4389120"/>
            <a:ext cx="365760" cy="365760"/>
          </a:xfrm>
          <a:prstGeom prst="ellipse">
            <a:avLst/>
          </a:prstGeom>
          <a:solidFill>
            <a:srgbClr val="F06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56248" y="438912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86600" y="432511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8232B"/>
                </a:solidFill>
                <a:latin typeface="Arial"/>
              </a:rPr>
              <a:t>Less direct ownership</a:t>
            </a:r>
          </a:p>
        </p:txBody>
      </p:sp>
    </p:spTree>
  </p:cSld>
  <p:clrMapOvr>
    <a:masterClrMapping/>
  </p:clrMapOvr>
  <p:transition spd="fast">
    <p:fade/>
  </p:transition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71600"/>
          </a:xfrm>
          <a:prstGeom prst="rect">
            <a:avLst/>
          </a:prstGeom>
          <a:solidFill>
            <a:srgbClr val="F06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0674A"/>
                </a:solidFill>
                <a:latin typeface="Arial"/>
              </a:rPr>
              <a:t>COMPARE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8232B"/>
                </a:solidFill>
                <a:latin typeface="Arial"/>
              </a:rPr>
              <a:t>Strategic vs Standard Partner Service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435608"/>
            <a:ext cx="10927080" cy="16459"/>
          </a:xfrm>
          <a:prstGeom prst="rect">
            <a:avLst/>
          </a:prstGeom>
          <a:solidFill>
            <a:srgbClr val="DD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104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783080"/>
            <a:ext cx="5257800" cy="4315968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783080"/>
            <a:ext cx="5257800" cy="109728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2029968"/>
            <a:ext cx="470916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008F83"/>
                </a:solidFill>
                <a:latin typeface="Arial"/>
              </a:rPr>
              <a:t>Strategic</a:t>
            </a:r>
          </a:p>
        </p:txBody>
      </p:sp>
      <p:sp>
        <p:nvSpPr>
          <p:cNvPr id="13" name="Oval 12"/>
          <p:cNvSpPr/>
          <p:nvPr/>
        </p:nvSpPr>
        <p:spPr>
          <a:xfrm>
            <a:off x="950976" y="2743200"/>
            <a:ext cx="365760" cy="365760"/>
          </a:xfrm>
          <a:prstGeom prst="ellipse">
            <a:avLst/>
          </a:prstGeom>
          <a:solidFill>
            <a:srgbClr val="00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0976" y="274320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1328" y="267919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8232B"/>
                </a:solidFill>
                <a:latin typeface="Arial"/>
              </a:rPr>
              <a:t>Joint plan and frequent review</a:t>
            </a:r>
          </a:p>
        </p:txBody>
      </p:sp>
      <p:sp>
        <p:nvSpPr>
          <p:cNvPr id="16" name="Oval 15"/>
          <p:cNvSpPr/>
          <p:nvPr/>
        </p:nvSpPr>
        <p:spPr>
          <a:xfrm>
            <a:off x="950976" y="3566160"/>
            <a:ext cx="365760" cy="365760"/>
          </a:xfrm>
          <a:prstGeom prst="ellipse">
            <a:avLst/>
          </a:prstGeom>
          <a:solidFill>
            <a:srgbClr val="00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0976" y="356616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1328" y="350215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8232B"/>
                </a:solidFill>
                <a:latin typeface="Arial"/>
              </a:rPr>
              <a:t>Custom assets and escalation</a:t>
            </a:r>
          </a:p>
        </p:txBody>
      </p:sp>
      <p:sp>
        <p:nvSpPr>
          <p:cNvPr id="19" name="Oval 18"/>
          <p:cNvSpPr/>
          <p:nvPr/>
        </p:nvSpPr>
        <p:spPr>
          <a:xfrm>
            <a:off x="950976" y="4389120"/>
            <a:ext cx="365760" cy="365760"/>
          </a:xfrm>
          <a:prstGeom prst="ellipse">
            <a:avLst/>
          </a:prstGeom>
          <a:solidFill>
            <a:srgbClr val="00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976" y="438912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81328" y="432511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8232B"/>
                </a:solidFill>
                <a:latin typeface="Arial"/>
              </a:rPr>
              <a:t>High expected contribution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1783080"/>
            <a:ext cx="5257800" cy="4315968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63640" y="1783080"/>
            <a:ext cx="5257800" cy="109728"/>
          </a:xfrm>
          <a:prstGeom prst="rect">
            <a:avLst/>
          </a:prstGeom>
          <a:solidFill>
            <a:srgbClr val="F06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37960" y="2029968"/>
            <a:ext cx="470916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F0674A"/>
                </a:solidFill>
                <a:latin typeface="Arial"/>
              </a:rPr>
              <a:t>Standard</a:t>
            </a:r>
          </a:p>
        </p:txBody>
      </p:sp>
      <p:sp>
        <p:nvSpPr>
          <p:cNvPr id="25" name="Oval 24"/>
          <p:cNvSpPr/>
          <p:nvPr/>
        </p:nvSpPr>
        <p:spPr>
          <a:xfrm>
            <a:off x="6556248" y="2743200"/>
            <a:ext cx="365760" cy="365760"/>
          </a:xfrm>
          <a:prstGeom prst="ellipse">
            <a:avLst/>
          </a:prstGeom>
          <a:solidFill>
            <a:srgbClr val="F06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56248" y="274320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86600" y="267919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8232B"/>
                </a:solidFill>
                <a:latin typeface="Arial"/>
              </a:rPr>
              <a:t>Scalable portal and templates</a:t>
            </a:r>
          </a:p>
        </p:txBody>
      </p:sp>
      <p:sp>
        <p:nvSpPr>
          <p:cNvPr id="28" name="Oval 27"/>
          <p:cNvSpPr/>
          <p:nvPr/>
        </p:nvSpPr>
        <p:spPr>
          <a:xfrm>
            <a:off x="6556248" y="3566160"/>
            <a:ext cx="365760" cy="365760"/>
          </a:xfrm>
          <a:prstGeom prst="ellipse">
            <a:avLst/>
          </a:prstGeom>
          <a:solidFill>
            <a:srgbClr val="F06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56248" y="356616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86600" y="350215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8232B"/>
                </a:solidFill>
                <a:latin typeface="Arial"/>
              </a:rPr>
              <a:t>Defined response SLA</a:t>
            </a:r>
          </a:p>
        </p:txBody>
      </p:sp>
      <p:sp>
        <p:nvSpPr>
          <p:cNvPr id="31" name="Oval 30"/>
          <p:cNvSpPr/>
          <p:nvPr/>
        </p:nvSpPr>
        <p:spPr>
          <a:xfrm>
            <a:off x="6556248" y="4389120"/>
            <a:ext cx="365760" cy="365760"/>
          </a:xfrm>
          <a:prstGeom prst="ellipse">
            <a:avLst/>
          </a:prstGeom>
          <a:solidFill>
            <a:srgbClr val="F06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56248" y="438912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86600" y="432511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8232B"/>
                </a:solidFill>
                <a:latin typeface="Arial"/>
              </a:rPr>
              <a:t>Lower account-management cost</a:t>
            </a:r>
          </a:p>
        </p:txBody>
      </p:sp>
    </p:spTree>
  </p:cSld>
  <p:clrMapOvr>
    <a:masterClrMapping/>
  </p:clrMapOvr>
  <p:transition spd="fast">
    <p:fade/>
  </p:transition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71600"/>
          </a:xfrm>
          <a:prstGeom prst="rect">
            <a:avLst/>
          </a:prstGeom>
          <a:solidFill>
            <a:srgbClr val="F06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0674A"/>
                </a:solidFill>
                <a:latin typeface="Arial"/>
              </a:rPr>
              <a:t>COMPARE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8232B"/>
                </a:solidFill>
                <a:latin typeface="Arial"/>
              </a:rPr>
              <a:t>Read-Only vs Write-Capable Connector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435608"/>
            <a:ext cx="10927080" cy="16459"/>
          </a:xfrm>
          <a:prstGeom prst="rect">
            <a:avLst/>
          </a:prstGeom>
          <a:solidFill>
            <a:srgbClr val="DD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105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783080"/>
            <a:ext cx="5257800" cy="4315968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783080"/>
            <a:ext cx="5257800" cy="109728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2029968"/>
            <a:ext cx="470916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008F83"/>
                </a:solidFill>
                <a:latin typeface="Arial"/>
              </a:rPr>
              <a:t>Read-only</a:t>
            </a:r>
          </a:p>
        </p:txBody>
      </p:sp>
      <p:sp>
        <p:nvSpPr>
          <p:cNvPr id="13" name="Oval 12"/>
          <p:cNvSpPr/>
          <p:nvPr/>
        </p:nvSpPr>
        <p:spPr>
          <a:xfrm>
            <a:off x="950976" y="2743200"/>
            <a:ext cx="365760" cy="365760"/>
          </a:xfrm>
          <a:prstGeom prst="ellipse">
            <a:avLst/>
          </a:prstGeom>
          <a:solidFill>
            <a:srgbClr val="00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0976" y="274320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1328" y="267919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8232B"/>
                </a:solidFill>
                <a:latin typeface="Arial"/>
              </a:rPr>
              <a:t>Research and retrieval</a:t>
            </a:r>
          </a:p>
        </p:txBody>
      </p:sp>
      <p:sp>
        <p:nvSpPr>
          <p:cNvPr id="16" name="Oval 15"/>
          <p:cNvSpPr/>
          <p:nvPr/>
        </p:nvSpPr>
        <p:spPr>
          <a:xfrm>
            <a:off x="950976" y="3566160"/>
            <a:ext cx="365760" cy="365760"/>
          </a:xfrm>
          <a:prstGeom prst="ellipse">
            <a:avLst/>
          </a:prstGeom>
          <a:solidFill>
            <a:srgbClr val="00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0976" y="356616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1328" y="350215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8232B"/>
                </a:solidFill>
                <a:latin typeface="Arial"/>
              </a:rPr>
              <a:t>Lower blast radius</a:t>
            </a:r>
          </a:p>
        </p:txBody>
      </p:sp>
      <p:sp>
        <p:nvSpPr>
          <p:cNvPr id="19" name="Oval 18"/>
          <p:cNvSpPr/>
          <p:nvPr/>
        </p:nvSpPr>
        <p:spPr>
          <a:xfrm>
            <a:off x="950976" y="4389120"/>
            <a:ext cx="365760" cy="365760"/>
          </a:xfrm>
          <a:prstGeom prst="ellipse">
            <a:avLst/>
          </a:prstGeom>
          <a:solidFill>
            <a:srgbClr val="00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976" y="438912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81328" y="432511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8232B"/>
                </a:solidFill>
                <a:latin typeface="Arial"/>
              </a:rPr>
              <a:t>Default for discovery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1783080"/>
            <a:ext cx="5257800" cy="4315968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63640" y="1783080"/>
            <a:ext cx="5257800" cy="109728"/>
          </a:xfrm>
          <a:prstGeom prst="rect">
            <a:avLst/>
          </a:prstGeom>
          <a:solidFill>
            <a:srgbClr val="F06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37960" y="2029968"/>
            <a:ext cx="470916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F0674A"/>
                </a:solidFill>
                <a:latin typeface="Arial"/>
              </a:rPr>
              <a:t>Write-capable</a:t>
            </a:r>
          </a:p>
        </p:txBody>
      </p:sp>
      <p:sp>
        <p:nvSpPr>
          <p:cNvPr id="25" name="Oval 24"/>
          <p:cNvSpPr/>
          <p:nvPr/>
        </p:nvSpPr>
        <p:spPr>
          <a:xfrm>
            <a:off x="6556248" y="2743200"/>
            <a:ext cx="365760" cy="365760"/>
          </a:xfrm>
          <a:prstGeom prst="ellipse">
            <a:avLst/>
          </a:prstGeom>
          <a:solidFill>
            <a:srgbClr val="F06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56248" y="274320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86600" y="267919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8232B"/>
                </a:solidFill>
                <a:latin typeface="Arial"/>
              </a:rPr>
              <a:t>Messages or record updates</a:t>
            </a:r>
          </a:p>
        </p:txBody>
      </p:sp>
      <p:sp>
        <p:nvSpPr>
          <p:cNvPr id="28" name="Oval 27"/>
          <p:cNvSpPr/>
          <p:nvPr/>
        </p:nvSpPr>
        <p:spPr>
          <a:xfrm>
            <a:off x="6556248" y="3566160"/>
            <a:ext cx="365760" cy="365760"/>
          </a:xfrm>
          <a:prstGeom prst="ellipse">
            <a:avLst/>
          </a:prstGeom>
          <a:solidFill>
            <a:srgbClr val="F06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56248" y="356616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86600" y="350215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8232B"/>
                </a:solidFill>
                <a:latin typeface="Arial"/>
              </a:rPr>
              <a:t>Requires preview and approval</a:t>
            </a:r>
          </a:p>
        </p:txBody>
      </p:sp>
      <p:sp>
        <p:nvSpPr>
          <p:cNvPr id="31" name="Oval 30"/>
          <p:cNvSpPr/>
          <p:nvPr/>
        </p:nvSpPr>
        <p:spPr>
          <a:xfrm>
            <a:off x="6556248" y="4389120"/>
            <a:ext cx="365760" cy="365760"/>
          </a:xfrm>
          <a:prstGeom prst="ellipse">
            <a:avLst/>
          </a:prstGeom>
          <a:solidFill>
            <a:srgbClr val="F06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56248" y="438912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86600" y="432511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8232B"/>
                </a:solidFill>
                <a:latin typeface="Arial"/>
              </a:rPr>
              <a:t>Narrow fields and allow-lists</a:t>
            </a:r>
          </a:p>
        </p:txBody>
      </p:sp>
    </p:spTree>
  </p:cSld>
  <p:clrMapOvr>
    <a:masterClrMapping/>
  </p:clrMapOvr>
  <p:transition spd="fast">
    <p:fade/>
  </p:transition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71600"/>
          </a:xfrm>
          <a:prstGeom prst="rect">
            <a:avLst/>
          </a:prstGeom>
          <a:solidFill>
            <a:srgbClr val="F06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0674A"/>
                </a:solidFill>
                <a:latin typeface="Arial"/>
              </a:rPr>
              <a:t>COMPARE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8232B"/>
                </a:solidFill>
                <a:latin typeface="Arial"/>
              </a:rPr>
              <a:t>Agent Recommendation vs Human Decision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435608"/>
            <a:ext cx="10927080" cy="16459"/>
          </a:xfrm>
          <a:prstGeom prst="rect">
            <a:avLst/>
          </a:prstGeom>
          <a:solidFill>
            <a:srgbClr val="DD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106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783080"/>
            <a:ext cx="5257800" cy="4315968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783080"/>
            <a:ext cx="5257800" cy="109728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2029968"/>
            <a:ext cx="470916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008F83"/>
                </a:solidFill>
                <a:latin typeface="Arial"/>
              </a:rPr>
              <a:t>Agent</a:t>
            </a:r>
          </a:p>
        </p:txBody>
      </p:sp>
      <p:sp>
        <p:nvSpPr>
          <p:cNvPr id="13" name="Oval 12"/>
          <p:cNvSpPr/>
          <p:nvPr/>
        </p:nvSpPr>
        <p:spPr>
          <a:xfrm>
            <a:off x="950976" y="2743200"/>
            <a:ext cx="365760" cy="365760"/>
          </a:xfrm>
          <a:prstGeom prst="ellipse">
            <a:avLst/>
          </a:prstGeom>
          <a:solidFill>
            <a:srgbClr val="00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0976" y="274320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1328" y="267919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8232B"/>
                </a:solidFill>
                <a:latin typeface="Arial"/>
              </a:rPr>
              <a:t>Synthesises evidence</a:t>
            </a:r>
          </a:p>
        </p:txBody>
      </p:sp>
      <p:sp>
        <p:nvSpPr>
          <p:cNvPr id="16" name="Oval 15"/>
          <p:cNvSpPr/>
          <p:nvPr/>
        </p:nvSpPr>
        <p:spPr>
          <a:xfrm>
            <a:off x="950976" y="3566160"/>
            <a:ext cx="365760" cy="365760"/>
          </a:xfrm>
          <a:prstGeom prst="ellipse">
            <a:avLst/>
          </a:prstGeom>
          <a:solidFill>
            <a:srgbClr val="00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0976" y="356616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1328" y="350215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8232B"/>
                </a:solidFill>
                <a:latin typeface="Arial"/>
              </a:rPr>
              <a:t>Applies transparent score</a:t>
            </a:r>
          </a:p>
        </p:txBody>
      </p:sp>
      <p:sp>
        <p:nvSpPr>
          <p:cNvPr id="19" name="Oval 18"/>
          <p:cNvSpPr/>
          <p:nvPr/>
        </p:nvSpPr>
        <p:spPr>
          <a:xfrm>
            <a:off x="950976" y="4389120"/>
            <a:ext cx="365760" cy="365760"/>
          </a:xfrm>
          <a:prstGeom prst="ellipse">
            <a:avLst/>
          </a:prstGeom>
          <a:solidFill>
            <a:srgbClr val="00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976" y="438912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81328" y="432511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8232B"/>
                </a:solidFill>
                <a:latin typeface="Arial"/>
              </a:rPr>
              <a:t>Surfaces uncertainty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1783080"/>
            <a:ext cx="5257800" cy="4315968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63640" y="1783080"/>
            <a:ext cx="5257800" cy="109728"/>
          </a:xfrm>
          <a:prstGeom prst="rect">
            <a:avLst/>
          </a:prstGeom>
          <a:solidFill>
            <a:srgbClr val="F06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37960" y="2029968"/>
            <a:ext cx="470916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F0674A"/>
                </a:solidFill>
                <a:latin typeface="Arial"/>
              </a:rPr>
              <a:t>Human owner</a:t>
            </a:r>
          </a:p>
        </p:txBody>
      </p:sp>
      <p:sp>
        <p:nvSpPr>
          <p:cNvPr id="25" name="Oval 24"/>
          <p:cNvSpPr/>
          <p:nvPr/>
        </p:nvSpPr>
        <p:spPr>
          <a:xfrm>
            <a:off x="6556248" y="2743200"/>
            <a:ext cx="365760" cy="365760"/>
          </a:xfrm>
          <a:prstGeom prst="ellipse">
            <a:avLst/>
          </a:prstGeom>
          <a:solidFill>
            <a:srgbClr val="F06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56248" y="274320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86600" y="267919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8232B"/>
                </a:solidFill>
                <a:latin typeface="Arial"/>
              </a:rPr>
              <a:t>Judges brand and relationship context</a:t>
            </a:r>
          </a:p>
        </p:txBody>
      </p:sp>
      <p:sp>
        <p:nvSpPr>
          <p:cNvPr id="28" name="Oval 27"/>
          <p:cNvSpPr/>
          <p:nvPr/>
        </p:nvSpPr>
        <p:spPr>
          <a:xfrm>
            <a:off x="6556248" y="3566160"/>
            <a:ext cx="365760" cy="365760"/>
          </a:xfrm>
          <a:prstGeom prst="ellipse">
            <a:avLst/>
          </a:prstGeom>
          <a:solidFill>
            <a:srgbClr val="F06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56248" y="356616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86600" y="350215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8232B"/>
                </a:solidFill>
                <a:latin typeface="Arial"/>
              </a:rPr>
              <a:t>Accepts trade-offs</a:t>
            </a:r>
          </a:p>
        </p:txBody>
      </p:sp>
      <p:sp>
        <p:nvSpPr>
          <p:cNvPr id="31" name="Oval 30"/>
          <p:cNvSpPr/>
          <p:nvPr/>
        </p:nvSpPr>
        <p:spPr>
          <a:xfrm>
            <a:off x="6556248" y="4389120"/>
            <a:ext cx="365760" cy="365760"/>
          </a:xfrm>
          <a:prstGeom prst="ellipse">
            <a:avLst/>
          </a:prstGeom>
          <a:solidFill>
            <a:srgbClr val="F06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56248" y="438912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86600" y="432511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8232B"/>
                </a:solidFill>
                <a:latin typeface="Arial"/>
              </a:rPr>
              <a:t>Owns invitation and terms</a:t>
            </a:r>
          </a:p>
        </p:txBody>
      </p:sp>
    </p:spTree>
  </p:cSld>
  <p:clrMapOvr>
    <a:masterClrMapping/>
  </p:clrMapOvr>
  <p:transition spd="fast">
    <p:fade/>
  </p:transition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71600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008F83"/>
                </a:solidFill>
                <a:latin typeface="Arial"/>
              </a:rPr>
              <a:t>NATIVE PPT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8232B"/>
                </a:solidFill>
                <a:latin typeface="Arial"/>
              </a:rPr>
              <a:t>Candidate Fit Score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435608"/>
            <a:ext cx="10927080" cy="16459"/>
          </a:xfrm>
          <a:prstGeom prst="rect">
            <a:avLst/>
          </a:prstGeom>
          <a:solidFill>
            <a:srgbClr val="DD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107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749808" y="1737360"/>
          <a:ext cx="7818120" cy="422452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8823960" y="2148840"/>
            <a:ext cx="2496312" cy="3035808"/>
          </a:xfrm>
          <a:prstGeom prst="roundRect">
            <a:avLst/>
          </a:prstGeom>
          <a:solidFill>
            <a:srgbClr val="EB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98280" y="2450592"/>
            <a:ext cx="196596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008F83"/>
                </a:solidFill>
                <a:latin typeface="Arial"/>
              </a:rPr>
              <a:t>WHAT THE DATA SHOWS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98280" y="2971800"/>
            <a:ext cx="1965960" cy="17373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8232B"/>
                </a:solidFill>
                <a:latin typeface="Arial"/>
              </a:rPr>
              <a:t>Community C leads on fit; the next step is due diligence, not automatic recruitment.</a:t>
            </a:r>
          </a:p>
        </p:txBody>
      </p:sp>
    </p:spTree>
  </p:cSld>
  <p:clrMapOvr>
    <a:masterClrMapping/>
  </p:clrMapOvr>
  <p:transition spd="fast">
    <p:fade/>
  </p:transition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71600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008F83"/>
                </a:solidFill>
                <a:latin typeface="Arial"/>
              </a:rPr>
              <a:t>NATIVE PPT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8232B"/>
                </a:solidFill>
                <a:latin typeface="Arial"/>
              </a:rPr>
              <a:t>Portfolio Mix by Role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435608"/>
            <a:ext cx="10927080" cy="16459"/>
          </a:xfrm>
          <a:prstGeom prst="rect">
            <a:avLst/>
          </a:prstGeom>
          <a:solidFill>
            <a:srgbClr val="DD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108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749808" y="1737360"/>
          <a:ext cx="7818120" cy="422452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8823960" y="2148840"/>
            <a:ext cx="2496312" cy="3035808"/>
          </a:xfrm>
          <a:prstGeom prst="roundRect">
            <a:avLst/>
          </a:prstGeom>
          <a:solidFill>
            <a:srgbClr val="EB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98280" y="2450592"/>
            <a:ext cx="196596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008F83"/>
                </a:solidFill>
                <a:latin typeface="Arial"/>
              </a:rPr>
              <a:t>WHAT THE DATA SHOWS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98280" y="2971800"/>
            <a:ext cx="1965960" cy="17373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8232B"/>
                </a:solidFill>
                <a:latin typeface="Arial"/>
              </a:rPr>
              <a:t>The current portfolio overweights reach and underinvests in retention partners.</a:t>
            </a:r>
          </a:p>
        </p:txBody>
      </p:sp>
    </p:spTree>
  </p:cSld>
  <p:clrMapOvr>
    <a:masterClrMapping/>
  </p:clrMapOvr>
  <p:transition spd="fast">
    <p:fade/>
  </p:transition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71600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008F83"/>
                </a:solidFill>
                <a:latin typeface="Arial"/>
              </a:rPr>
              <a:t>NATIVE PPT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8232B"/>
                </a:solidFill>
                <a:latin typeface="Arial"/>
              </a:rPr>
              <a:t>Revenue Concentration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435608"/>
            <a:ext cx="10927080" cy="16459"/>
          </a:xfrm>
          <a:prstGeom prst="rect">
            <a:avLst/>
          </a:prstGeom>
          <a:solidFill>
            <a:srgbClr val="DD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109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749808" y="1737360"/>
          <a:ext cx="7818120" cy="422452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8823960" y="2148840"/>
            <a:ext cx="2496312" cy="3035808"/>
          </a:xfrm>
          <a:prstGeom prst="roundRect">
            <a:avLst/>
          </a:prstGeom>
          <a:solidFill>
            <a:srgbClr val="EB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98280" y="2450592"/>
            <a:ext cx="196596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008F83"/>
                </a:solidFill>
                <a:latin typeface="Arial"/>
              </a:rPr>
              <a:t>WHAT THE DATA SHOWS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98280" y="2971800"/>
            <a:ext cx="1965960" cy="17373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8232B"/>
                </a:solidFill>
                <a:latin typeface="Arial"/>
              </a:rPr>
              <a:t>Seventy percent from three partners warrants continuity planning and controlled diversification.</a:t>
            </a:r>
          </a:p>
        </p:txBody>
      </p:sp>
    </p:spTree>
  </p:cSld>
  <p:clrMapOvr>
    <a:masterClrMapping/>
  </p:clrMapOvr>
  <p:transition spd="fast">
    <p:fade/>
  </p:transition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71600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008F83"/>
                </a:solidFill>
                <a:latin typeface="Arial"/>
              </a:rPr>
              <a:t>NATIVE PPT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8232B"/>
                </a:solidFill>
                <a:latin typeface="Arial"/>
              </a:rPr>
              <a:t>Communication SLA by Tier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435608"/>
            <a:ext cx="10927080" cy="16459"/>
          </a:xfrm>
          <a:prstGeom prst="rect">
            <a:avLst/>
          </a:prstGeom>
          <a:solidFill>
            <a:srgbClr val="DD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110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749808" y="1737360"/>
          <a:ext cx="7818120" cy="422452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8823960" y="2148840"/>
            <a:ext cx="2496312" cy="3035808"/>
          </a:xfrm>
          <a:prstGeom prst="roundRect">
            <a:avLst/>
          </a:prstGeom>
          <a:solidFill>
            <a:srgbClr val="EB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98280" y="2450592"/>
            <a:ext cx="196596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008F83"/>
                </a:solidFill>
                <a:latin typeface="Arial"/>
              </a:rPr>
              <a:t>WHAT THE DATA SHOWS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98280" y="2971800"/>
            <a:ext cx="1965960" cy="17373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8232B"/>
                </a:solidFill>
                <a:latin typeface="Arial"/>
              </a:rPr>
              <a:t>The scalable standard tier needs better self-service material or routing.</a:t>
            </a:r>
          </a:p>
        </p:txBody>
      </p:sp>
    </p:spTree>
  </p:cSld>
  <p:clrMapOvr>
    <a:masterClrMapping/>
  </p:clrMapOvr>
  <p:transition spd="fast">
    <p:fade/>
  </p:transition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71600"/>
          </a:xfrm>
          <a:prstGeom prst="rect">
            <a:avLst/>
          </a:prstGeom>
          <a:solidFill>
            <a:srgbClr val="F06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0674A"/>
                </a:solidFill>
                <a:latin typeface="Arial"/>
              </a:rPr>
              <a:t>DECISION RULE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8232B"/>
                </a:solidFill>
                <a:latin typeface="Arial"/>
              </a:rPr>
              <a:t>Shortlist a Candidate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435608"/>
            <a:ext cx="10927080" cy="16459"/>
          </a:xfrm>
          <a:prstGeom prst="rect">
            <a:avLst/>
          </a:prstGeom>
          <a:solidFill>
            <a:srgbClr val="DD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111</a:t>
            </a:r>
          </a:p>
        </p:txBody>
      </p:sp>
      <p:sp>
        <p:nvSpPr>
          <p:cNvPr id="10" name="Diamond 9"/>
          <p:cNvSpPr/>
          <p:nvPr/>
        </p:nvSpPr>
        <p:spPr>
          <a:xfrm>
            <a:off x="4434840" y="1874519"/>
            <a:ext cx="3246120" cy="2148840"/>
          </a:xfrm>
          <a:prstGeom prst="diamond">
            <a:avLst/>
          </a:prstGeom>
          <a:solidFill>
            <a:srgbClr val="FFF1ED"/>
          </a:solidFill>
          <a:ln w="25400">
            <a:solidFill>
              <a:srgbClr val="F067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00600" y="2212848"/>
            <a:ext cx="2514600" cy="12801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8232B"/>
                </a:solidFill>
                <a:latin typeface="Arial"/>
              </a:rPr>
              <a:t>Are identity, audience, engagement, policy and commercial evidence complete and above hard gates?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4343400"/>
            <a:ext cx="4983480" cy="1097280"/>
          </a:xfrm>
          <a:prstGeom prst="roundRect">
            <a:avLst/>
          </a:prstGeom>
          <a:solidFill>
            <a:srgbClr val="E9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480560"/>
            <a:ext cx="4480560" cy="7772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208A59"/>
                </a:solidFill>
                <a:latin typeface="Arial"/>
              </a:rPr>
              <a:t>YES · </a:t>
            </a:r>
            <a:r>
              <a:rPr sz="1350" b="0">
                <a:solidFill>
                  <a:srgbClr val="18232B"/>
                </a:solidFill>
                <a:latin typeface="Arial"/>
              </a:rPr>
              <a:t>Add to human review with score and source bundle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10528" y="4343400"/>
            <a:ext cx="4983480" cy="1097280"/>
          </a:xfrm>
          <a:prstGeom prst="roundRect">
            <a:avLst/>
          </a:prstGeom>
          <a:solidFill>
            <a:srgbClr val="FD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57416" y="4480560"/>
            <a:ext cx="4480560" cy="7772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C73D37"/>
                </a:solidFill>
                <a:latin typeface="Arial"/>
              </a:rPr>
              <a:t>NO · </a:t>
            </a:r>
            <a:r>
              <a:rPr sz="1350" b="0">
                <a:solidFill>
                  <a:srgbClr val="18232B"/>
                </a:solidFill>
                <a:latin typeface="Arial"/>
              </a:rPr>
              <a:t>Reject or hold; never invent missing background</a:t>
            </a:r>
          </a:p>
        </p:txBody>
      </p:sp>
      <p:cxnSp>
        <p:nvCxnSpPr>
          <p:cNvPr id="16" name="Connector 15"/>
          <p:cNvCxnSpPr/>
          <p:nvPr/>
        </p:nvCxnSpPr>
        <p:spPr>
          <a:xfrm flipH="1">
            <a:off x="3200400" y="3749039"/>
            <a:ext cx="1828800" cy="594361"/>
          </a:xfrm>
          <a:prstGeom prst="bentConnector3">
            <a:avLst/>
          </a:prstGeom>
          <a:ln w="25400">
            <a:solidFill>
              <a:srgbClr val="208A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178040" y="3749039"/>
            <a:ext cx="1783080" cy="594361"/>
          </a:xfrm>
          <a:prstGeom prst="bentConnector3">
            <a:avLst/>
          </a:prstGeom>
          <a:ln w="25400">
            <a:solidFill>
              <a:srgbClr val="C73D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fast">
    <p:fade/>
  </p:transition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71600"/>
          </a:xfrm>
          <a:prstGeom prst="rect">
            <a:avLst/>
          </a:prstGeom>
          <a:solidFill>
            <a:srgbClr val="F06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0674A"/>
                </a:solidFill>
                <a:latin typeface="Arial"/>
              </a:rPr>
              <a:t>DECISION RULE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8232B"/>
                </a:solidFill>
                <a:latin typeface="Arial"/>
              </a:rPr>
              <a:t>Add a Portfolio Partner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435608"/>
            <a:ext cx="10927080" cy="16459"/>
          </a:xfrm>
          <a:prstGeom prst="rect">
            <a:avLst/>
          </a:prstGeom>
          <a:solidFill>
            <a:srgbClr val="DD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112</a:t>
            </a:r>
          </a:p>
        </p:txBody>
      </p:sp>
      <p:sp>
        <p:nvSpPr>
          <p:cNvPr id="10" name="Diamond 9"/>
          <p:cNvSpPr/>
          <p:nvPr/>
        </p:nvSpPr>
        <p:spPr>
          <a:xfrm>
            <a:off x="4434840" y="1874519"/>
            <a:ext cx="3246120" cy="2148840"/>
          </a:xfrm>
          <a:prstGeom prst="diamond">
            <a:avLst/>
          </a:prstGeom>
          <a:solidFill>
            <a:srgbClr val="FFF1ED"/>
          </a:solidFill>
          <a:ln w="25400">
            <a:solidFill>
              <a:srgbClr val="F067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00600" y="2212848"/>
            <a:ext cx="2514600" cy="12801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8232B"/>
                </a:solidFill>
                <a:latin typeface="Arial"/>
              </a:rPr>
              <a:t>Does the candidate fill a strategic role without breaching concentration or capacity limits?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4343400"/>
            <a:ext cx="4983480" cy="1097280"/>
          </a:xfrm>
          <a:prstGeom prst="roundRect">
            <a:avLst/>
          </a:prstGeom>
          <a:solidFill>
            <a:srgbClr val="E9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480560"/>
            <a:ext cx="4480560" cy="7772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208A59"/>
                </a:solidFill>
                <a:latin typeface="Arial"/>
              </a:rPr>
              <a:t>YES · </a:t>
            </a:r>
            <a:r>
              <a:rPr sz="1350" b="0">
                <a:solidFill>
                  <a:srgbClr val="18232B"/>
                </a:solidFill>
                <a:latin typeface="Arial"/>
              </a:rPr>
              <a:t>Approve a bounded onboarding pilot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10528" y="4343400"/>
            <a:ext cx="4983480" cy="1097280"/>
          </a:xfrm>
          <a:prstGeom prst="roundRect">
            <a:avLst/>
          </a:prstGeom>
          <a:solidFill>
            <a:srgbClr val="FD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57416" y="4480560"/>
            <a:ext cx="4480560" cy="7772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C73D37"/>
                </a:solidFill>
                <a:latin typeface="Arial"/>
              </a:rPr>
              <a:t>NO · </a:t>
            </a:r>
            <a:r>
              <a:rPr sz="1350" b="0">
                <a:solidFill>
                  <a:srgbClr val="18232B"/>
                </a:solidFill>
                <a:latin typeface="Arial"/>
              </a:rPr>
              <a:t>Keep in reserve or recruit for a missing role</a:t>
            </a:r>
          </a:p>
        </p:txBody>
      </p:sp>
      <p:cxnSp>
        <p:nvCxnSpPr>
          <p:cNvPr id="16" name="Connector 15"/>
          <p:cNvCxnSpPr/>
          <p:nvPr/>
        </p:nvCxnSpPr>
        <p:spPr>
          <a:xfrm flipH="1">
            <a:off x="3200400" y="3749039"/>
            <a:ext cx="1828800" cy="594361"/>
          </a:xfrm>
          <a:prstGeom prst="bentConnector3">
            <a:avLst/>
          </a:prstGeom>
          <a:ln w="25400">
            <a:solidFill>
              <a:srgbClr val="208A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178040" y="3749039"/>
            <a:ext cx="1783080" cy="594361"/>
          </a:xfrm>
          <a:prstGeom prst="bentConnector3">
            <a:avLst/>
          </a:prstGeom>
          <a:ln w="25400">
            <a:solidFill>
              <a:srgbClr val="C73D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fast">
    <p:fade/>
  </p:transition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71600"/>
          </a:xfrm>
          <a:prstGeom prst="rect">
            <a:avLst/>
          </a:prstGeom>
          <a:solidFill>
            <a:srgbClr val="F06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0674A"/>
                </a:solidFill>
                <a:latin typeface="Arial"/>
              </a:rPr>
              <a:t>DECISION RULE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8232B"/>
                </a:solidFill>
                <a:latin typeface="Arial"/>
              </a:rPr>
              <a:t>Send a Partner Message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435608"/>
            <a:ext cx="10927080" cy="16459"/>
          </a:xfrm>
          <a:prstGeom prst="rect">
            <a:avLst/>
          </a:prstGeom>
          <a:solidFill>
            <a:srgbClr val="DD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113</a:t>
            </a:r>
          </a:p>
        </p:txBody>
      </p:sp>
      <p:sp>
        <p:nvSpPr>
          <p:cNvPr id="10" name="Diamond 9"/>
          <p:cNvSpPr/>
          <p:nvPr/>
        </p:nvSpPr>
        <p:spPr>
          <a:xfrm>
            <a:off x="4434840" y="1874519"/>
            <a:ext cx="3246120" cy="2148840"/>
          </a:xfrm>
          <a:prstGeom prst="diamond">
            <a:avLst/>
          </a:prstGeom>
          <a:solidFill>
            <a:srgbClr val="FFF1ED"/>
          </a:solidFill>
          <a:ln w="25400">
            <a:solidFill>
              <a:srgbClr val="F067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00600" y="2212848"/>
            <a:ext cx="2514600" cy="12801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8232B"/>
                </a:solidFill>
                <a:latin typeface="Arial"/>
              </a:rPr>
              <a:t>Does the message match the approved brief, product version, disclosure and recipient tier?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4343400"/>
            <a:ext cx="4983480" cy="1097280"/>
          </a:xfrm>
          <a:prstGeom prst="roundRect">
            <a:avLst/>
          </a:prstGeom>
          <a:solidFill>
            <a:srgbClr val="E9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480560"/>
            <a:ext cx="4480560" cy="7772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208A59"/>
                </a:solidFill>
                <a:latin typeface="Arial"/>
              </a:rPr>
              <a:t>YES · </a:t>
            </a:r>
            <a:r>
              <a:rPr sz="1350" b="0">
                <a:solidFill>
                  <a:srgbClr val="18232B"/>
                </a:solidFill>
                <a:latin typeface="Arial"/>
              </a:rPr>
              <a:t>Release through the authorised channel and log the event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10528" y="4343400"/>
            <a:ext cx="4983480" cy="1097280"/>
          </a:xfrm>
          <a:prstGeom prst="roundRect">
            <a:avLst/>
          </a:prstGeom>
          <a:solidFill>
            <a:srgbClr val="FD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57416" y="4480560"/>
            <a:ext cx="4480560" cy="7772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C73D37"/>
                </a:solidFill>
                <a:latin typeface="Arial"/>
              </a:rPr>
              <a:t>NO · </a:t>
            </a:r>
            <a:r>
              <a:rPr sz="1350" b="0">
                <a:solidFill>
                  <a:srgbClr val="18232B"/>
                </a:solidFill>
                <a:latin typeface="Arial"/>
              </a:rPr>
              <a:t>Block and return to the owner with exact differences</a:t>
            </a:r>
          </a:p>
        </p:txBody>
      </p:sp>
      <p:cxnSp>
        <p:nvCxnSpPr>
          <p:cNvPr id="16" name="Connector 15"/>
          <p:cNvCxnSpPr/>
          <p:nvPr/>
        </p:nvCxnSpPr>
        <p:spPr>
          <a:xfrm flipH="1">
            <a:off x="3200400" y="3749039"/>
            <a:ext cx="1828800" cy="594361"/>
          </a:xfrm>
          <a:prstGeom prst="bentConnector3">
            <a:avLst/>
          </a:prstGeom>
          <a:ln w="25400">
            <a:solidFill>
              <a:srgbClr val="208A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178040" y="3749039"/>
            <a:ext cx="1783080" cy="594361"/>
          </a:xfrm>
          <a:prstGeom prst="bentConnector3">
            <a:avLst/>
          </a:prstGeom>
          <a:ln w="25400">
            <a:solidFill>
              <a:srgbClr val="C73D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fast">
    <p:fade/>
  </p:transition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71600"/>
          </a:xfrm>
          <a:prstGeom prst="rect">
            <a:avLst/>
          </a:prstGeom>
          <a:solidFill>
            <a:srgbClr val="F06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0674A"/>
                </a:solidFill>
                <a:latin typeface="Arial"/>
              </a:rPr>
              <a:t>DECISION RULE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8232B"/>
                </a:solidFill>
                <a:latin typeface="Arial"/>
              </a:rPr>
              <a:t>Escalate a Partner Issue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435608"/>
            <a:ext cx="10927080" cy="16459"/>
          </a:xfrm>
          <a:prstGeom prst="rect">
            <a:avLst/>
          </a:prstGeom>
          <a:solidFill>
            <a:srgbClr val="DD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114</a:t>
            </a:r>
          </a:p>
        </p:txBody>
      </p:sp>
      <p:sp>
        <p:nvSpPr>
          <p:cNvPr id="10" name="Diamond 9"/>
          <p:cNvSpPr/>
          <p:nvPr/>
        </p:nvSpPr>
        <p:spPr>
          <a:xfrm>
            <a:off x="4434840" y="1874519"/>
            <a:ext cx="3246120" cy="2148840"/>
          </a:xfrm>
          <a:prstGeom prst="diamond">
            <a:avLst/>
          </a:prstGeom>
          <a:solidFill>
            <a:srgbClr val="FFF1ED"/>
          </a:solidFill>
          <a:ln w="25400">
            <a:solidFill>
              <a:srgbClr val="F067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00600" y="2212848"/>
            <a:ext cx="2514600" cy="12801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8232B"/>
                </a:solidFill>
                <a:latin typeface="Arial"/>
              </a:rPr>
              <a:t>Does the issue exceed SLA, policy or commercial-risk thresholds?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4343400"/>
            <a:ext cx="4983480" cy="1097280"/>
          </a:xfrm>
          <a:prstGeom prst="roundRect">
            <a:avLst/>
          </a:prstGeom>
          <a:solidFill>
            <a:srgbClr val="E9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480560"/>
            <a:ext cx="4480560" cy="7772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208A59"/>
                </a:solidFill>
                <a:latin typeface="Arial"/>
              </a:rPr>
              <a:t>YES · </a:t>
            </a:r>
            <a:r>
              <a:rPr sz="1350" b="0">
                <a:solidFill>
                  <a:srgbClr val="18232B"/>
                </a:solidFill>
                <a:latin typeface="Arial"/>
              </a:rPr>
              <a:t>Route to the named owner with evidence and due time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10528" y="4343400"/>
            <a:ext cx="4983480" cy="1097280"/>
          </a:xfrm>
          <a:prstGeom prst="roundRect">
            <a:avLst/>
          </a:prstGeom>
          <a:solidFill>
            <a:srgbClr val="FD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57416" y="4480560"/>
            <a:ext cx="4480560" cy="7772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C73D37"/>
                </a:solidFill>
                <a:latin typeface="Arial"/>
              </a:rPr>
              <a:t>NO · </a:t>
            </a:r>
            <a:r>
              <a:rPr sz="1350" b="0">
                <a:solidFill>
                  <a:srgbClr val="18232B"/>
                </a:solidFill>
                <a:latin typeface="Arial"/>
              </a:rPr>
              <a:t>Resolve through the standard support path</a:t>
            </a:r>
          </a:p>
        </p:txBody>
      </p:sp>
      <p:cxnSp>
        <p:nvCxnSpPr>
          <p:cNvPr id="16" name="Connector 15"/>
          <p:cNvCxnSpPr/>
          <p:nvPr/>
        </p:nvCxnSpPr>
        <p:spPr>
          <a:xfrm flipH="1">
            <a:off x="3200400" y="3749039"/>
            <a:ext cx="1828800" cy="594361"/>
          </a:xfrm>
          <a:prstGeom prst="bentConnector3">
            <a:avLst/>
          </a:prstGeom>
          <a:ln w="25400">
            <a:solidFill>
              <a:srgbClr val="208A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178040" y="3749039"/>
            <a:ext cx="1783080" cy="594361"/>
          </a:xfrm>
          <a:prstGeom prst="bentConnector3">
            <a:avLst/>
          </a:prstGeom>
          <a:ln w="25400">
            <a:solidFill>
              <a:srgbClr val="C73D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fast">
    <p:fade/>
  </p:transition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71600"/>
          </a:xfrm>
          <a:prstGeom prst="rect">
            <a:avLst/>
          </a:prstGeom>
          <a:solidFill>
            <a:srgbClr val="F06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0674A"/>
                </a:solidFill>
                <a:latin typeface="Arial"/>
              </a:rPr>
              <a:t>FAILURE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8232B"/>
                </a:solidFill>
                <a:latin typeface="Arial"/>
              </a:rPr>
              <a:t>Due-Diligence Failure Modes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435608"/>
            <a:ext cx="10927080" cy="16459"/>
          </a:xfrm>
          <a:prstGeom prst="rect">
            <a:avLst/>
          </a:prstGeom>
          <a:solidFill>
            <a:srgbClr val="DD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115</a:t>
            </a:r>
          </a:p>
        </p:txBody>
      </p:sp>
      <p:sp>
        <p:nvSpPr>
          <p:cNvPr id="10" name="Oval 9"/>
          <p:cNvSpPr/>
          <p:nvPr/>
        </p:nvSpPr>
        <p:spPr>
          <a:xfrm>
            <a:off x="749808" y="1865376"/>
            <a:ext cx="420624" cy="420624"/>
          </a:xfrm>
          <a:prstGeom prst="ellipse">
            <a:avLst/>
          </a:prstGeom>
          <a:solidFill>
            <a:srgbClr val="F06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186537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1755648"/>
            <a:ext cx="20574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0674A"/>
                </a:solidFill>
                <a:latin typeface="Arial"/>
              </a:rPr>
              <a:t>Identity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73552" y="1755648"/>
            <a:ext cx="8138160" cy="658368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20440" y="1810512"/>
            <a:ext cx="7635240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18232B"/>
                </a:solidFill>
                <a:latin typeface="Arial"/>
              </a:rPr>
              <a:t>impersonation or unverifiable ownership</a:t>
            </a:r>
          </a:p>
        </p:txBody>
      </p:sp>
      <p:sp>
        <p:nvSpPr>
          <p:cNvPr id="15" name="Oval 14"/>
          <p:cNvSpPr/>
          <p:nvPr/>
        </p:nvSpPr>
        <p:spPr>
          <a:xfrm>
            <a:off x="749808" y="2724912"/>
            <a:ext cx="420624" cy="420624"/>
          </a:xfrm>
          <a:prstGeom prst="ellipse">
            <a:avLst/>
          </a:prstGeom>
          <a:solidFill>
            <a:srgbClr val="EEA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272491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53312" y="2615184"/>
            <a:ext cx="20574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EA900"/>
                </a:solidFill>
                <a:latin typeface="Arial"/>
              </a:rPr>
              <a:t>Audience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73552" y="2615184"/>
            <a:ext cx="8138160" cy="658368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20440" y="2670048"/>
            <a:ext cx="7635240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18232B"/>
                </a:solidFill>
                <a:latin typeface="Arial"/>
              </a:rPr>
              <a:t>mismatch, bots or stale followers</a:t>
            </a:r>
          </a:p>
        </p:txBody>
      </p:sp>
      <p:sp>
        <p:nvSpPr>
          <p:cNvPr id="20" name="Oval 19"/>
          <p:cNvSpPr/>
          <p:nvPr/>
        </p:nvSpPr>
        <p:spPr>
          <a:xfrm>
            <a:off x="749808" y="3584448"/>
            <a:ext cx="420624" cy="420624"/>
          </a:xfrm>
          <a:prstGeom prst="ellipse">
            <a:avLst/>
          </a:prstGeom>
          <a:solidFill>
            <a:srgbClr val="F06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8" y="3584448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53312" y="3474720"/>
            <a:ext cx="20574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0674A"/>
                </a:solidFill>
                <a:latin typeface="Arial"/>
              </a:rPr>
              <a:t>Content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273552" y="3474720"/>
            <a:ext cx="8138160" cy="658368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20440" y="3529584"/>
            <a:ext cx="7635240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18232B"/>
                </a:solidFill>
                <a:latin typeface="Arial"/>
              </a:rPr>
              <a:t>unsafe claims or weak disclosure</a:t>
            </a:r>
          </a:p>
        </p:txBody>
      </p:sp>
      <p:sp>
        <p:nvSpPr>
          <p:cNvPr id="25" name="Oval 24"/>
          <p:cNvSpPr/>
          <p:nvPr/>
        </p:nvSpPr>
        <p:spPr>
          <a:xfrm>
            <a:off x="749808" y="4443984"/>
            <a:ext cx="420624" cy="420624"/>
          </a:xfrm>
          <a:prstGeom prst="ellipse">
            <a:avLst/>
          </a:prstGeom>
          <a:solidFill>
            <a:srgbClr val="EEA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9808" y="4443984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53312" y="4334256"/>
            <a:ext cx="20574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EA900"/>
                </a:solidFill>
                <a:latin typeface="Arial"/>
              </a:rPr>
              <a:t>Reputation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273552" y="4334256"/>
            <a:ext cx="8138160" cy="658368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520440" y="4389120"/>
            <a:ext cx="7635240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18232B"/>
                </a:solidFill>
                <a:latin typeface="Arial"/>
              </a:rPr>
              <a:t>undisclosed conflicts or complaints</a:t>
            </a:r>
          </a:p>
        </p:txBody>
      </p:sp>
      <p:sp>
        <p:nvSpPr>
          <p:cNvPr id="30" name="Oval 29"/>
          <p:cNvSpPr/>
          <p:nvPr/>
        </p:nvSpPr>
        <p:spPr>
          <a:xfrm>
            <a:off x="749808" y="5303520"/>
            <a:ext cx="420624" cy="420624"/>
          </a:xfrm>
          <a:prstGeom prst="ellipse">
            <a:avLst/>
          </a:prstGeom>
          <a:solidFill>
            <a:srgbClr val="F06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9808" y="5303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53312" y="5193792"/>
            <a:ext cx="20574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0674A"/>
                </a:solidFill>
                <a:latin typeface="Arial"/>
              </a:rPr>
              <a:t>Commercial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273552" y="5193792"/>
            <a:ext cx="8138160" cy="658368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520440" y="5248656"/>
            <a:ext cx="7635240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18232B"/>
                </a:solidFill>
                <a:latin typeface="Arial"/>
              </a:rPr>
              <a:t>unverified results or reference gaps</a:t>
            </a:r>
          </a:p>
        </p:txBody>
      </p:sp>
    </p:spTree>
  </p:cSld>
  <p:clrMapOvr>
    <a:masterClrMapping/>
  </p:clrMapOvr>
  <p:transition spd="fast">
    <p:fade/>
  </p:transition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71600"/>
          </a:xfrm>
          <a:prstGeom prst="rect">
            <a:avLst/>
          </a:prstGeom>
          <a:solidFill>
            <a:srgbClr val="F06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0674A"/>
                </a:solidFill>
                <a:latin typeface="Arial"/>
              </a:rPr>
              <a:t>FAILURE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8232B"/>
                </a:solidFill>
                <a:latin typeface="Arial"/>
              </a:rPr>
              <a:t>Portfolio Failure Modes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435608"/>
            <a:ext cx="10927080" cy="16459"/>
          </a:xfrm>
          <a:prstGeom prst="rect">
            <a:avLst/>
          </a:prstGeom>
          <a:solidFill>
            <a:srgbClr val="DD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116</a:t>
            </a:r>
          </a:p>
        </p:txBody>
      </p:sp>
      <p:sp>
        <p:nvSpPr>
          <p:cNvPr id="10" name="Oval 9"/>
          <p:cNvSpPr/>
          <p:nvPr/>
        </p:nvSpPr>
        <p:spPr>
          <a:xfrm>
            <a:off x="749808" y="1865376"/>
            <a:ext cx="420624" cy="420624"/>
          </a:xfrm>
          <a:prstGeom prst="ellipse">
            <a:avLst/>
          </a:prstGeom>
          <a:solidFill>
            <a:srgbClr val="F06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186537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1755648"/>
            <a:ext cx="20574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0674A"/>
                </a:solidFill>
                <a:latin typeface="Arial"/>
              </a:rPr>
              <a:t>Concentration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73552" y="1755648"/>
            <a:ext cx="8138160" cy="658368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20440" y="1810512"/>
            <a:ext cx="7635240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18232B"/>
                </a:solidFill>
                <a:latin typeface="Arial"/>
              </a:rPr>
              <a:t>revenue depends on few partners</a:t>
            </a:r>
          </a:p>
        </p:txBody>
      </p:sp>
      <p:sp>
        <p:nvSpPr>
          <p:cNvPr id="15" name="Oval 14"/>
          <p:cNvSpPr/>
          <p:nvPr/>
        </p:nvSpPr>
        <p:spPr>
          <a:xfrm>
            <a:off x="749808" y="2724912"/>
            <a:ext cx="420624" cy="420624"/>
          </a:xfrm>
          <a:prstGeom prst="ellipse">
            <a:avLst/>
          </a:prstGeom>
          <a:solidFill>
            <a:srgbClr val="EEA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272491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53312" y="2615184"/>
            <a:ext cx="20574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EA900"/>
                </a:solidFill>
                <a:latin typeface="Arial"/>
              </a:rPr>
              <a:t>Duplication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73552" y="2615184"/>
            <a:ext cx="8138160" cy="658368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20440" y="2670048"/>
            <a:ext cx="7635240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18232B"/>
                </a:solidFill>
                <a:latin typeface="Arial"/>
              </a:rPr>
              <a:t>many partners reach the same audience</a:t>
            </a:r>
          </a:p>
        </p:txBody>
      </p:sp>
      <p:sp>
        <p:nvSpPr>
          <p:cNvPr id="20" name="Oval 19"/>
          <p:cNvSpPr/>
          <p:nvPr/>
        </p:nvSpPr>
        <p:spPr>
          <a:xfrm>
            <a:off x="749808" y="3584448"/>
            <a:ext cx="420624" cy="420624"/>
          </a:xfrm>
          <a:prstGeom prst="ellipse">
            <a:avLst/>
          </a:prstGeom>
          <a:solidFill>
            <a:srgbClr val="F06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8" y="3584448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53312" y="3474720"/>
            <a:ext cx="20574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0674A"/>
                </a:solidFill>
                <a:latin typeface="Arial"/>
              </a:rPr>
              <a:t>Role gap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273552" y="3474720"/>
            <a:ext cx="8138160" cy="658368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20440" y="3529584"/>
            <a:ext cx="7635240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18232B"/>
                </a:solidFill>
                <a:latin typeface="Arial"/>
              </a:rPr>
              <a:t>no authority or retention partner</a:t>
            </a:r>
          </a:p>
        </p:txBody>
      </p:sp>
      <p:sp>
        <p:nvSpPr>
          <p:cNvPr id="25" name="Oval 24"/>
          <p:cNvSpPr/>
          <p:nvPr/>
        </p:nvSpPr>
        <p:spPr>
          <a:xfrm>
            <a:off x="749808" y="4443984"/>
            <a:ext cx="420624" cy="420624"/>
          </a:xfrm>
          <a:prstGeom prst="ellipse">
            <a:avLst/>
          </a:prstGeom>
          <a:solidFill>
            <a:srgbClr val="EEA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9808" y="4443984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53312" y="4334256"/>
            <a:ext cx="20574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EA900"/>
                </a:solidFill>
                <a:latin typeface="Arial"/>
              </a:rPr>
              <a:t>Capacity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273552" y="4334256"/>
            <a:ext cx="8138160" cy="658368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520440" y="4389120"/>
            <a:ext cx="7635240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18232B"/>
                </a:solidFill>
                <a:latin typeface="Arial"/>
              </a:rPr>
              <a:t>team cannot support recruited volume</a:t>
            </a:r>
          </a:p>
        </p:txBody>
      </p:sp>
      <p:sp>
        <p:nvSpPr>
          <p:cNvPr id="30" name="Oval 29"/>
          <p:cNvSpPr/>
          <p:nvPr/>
        </p:nvSpPr>
        <p:spPr>
          <a:xfrm>
            <a:off x="749808" y="5303520"/>
            <a:ext cx="420624" cy="420624"/>
          </a:xfrm>
          <a:prstGeom prst="ellipse">
            <a:avLst/>
          </a:prstGeom>
          <a:solidFill>
            <a:srgbClr val="F06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9808" y="5303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53312" y="5193792"/>
            <a:ext cx="20574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0674A"/>
                </a:solidFill>
                <a:latin typeface="Arial"/>
              </a:rPr>
              <a:t>Cannibalisation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273552" y="5193792"/>
            <a:ext cx="8138160" cy="658368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520440" y="5248656"/>
            <a:ext cx="7635240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18232B"/>
                </a:solidFill>
                <a:latin typeface="Arial"/>
              </a:rPr>
              <a:t>discounting shifts existing customers</a:t>
            </a:r>
          </a:p>
        </p:txBody>
      </p:sp>
    </p:spTree>
  </p:cSld>
  <p:clrMapOvr>
    <a:masterClrMapping/>
  </p:clrMapOvr>
  <p:transition spd="fast">
    <p:fade/>
  </p:transition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71600"/>
          </a:xfrm>
          <a:prstGeom prst="rect">
            <a:avLst/>
          </a:prstGeom>
          <a:solidFill>
            <a:srgbClr val="F06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0674A"/>
                </a:solidFill>
                <a:latin typeface="Arial"/>
              </a:rPr>
              <a:t>FAILURE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8232B"/>
                </a:solidFill>
                <a:latin typeface="Arial"/>
              </a:rPr>
              <a:t>Communication Failure Modes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435608"/>
            <a:ext cx="10927080" cy="16459"/>
          </a:xfrm>
          <a:prstGeom prst="rect">
            <a:avLst/>
          </a:prstGeom>
          <a:solidFill>
            <a:srgbClr val="DD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117</a:t>
            </a:r>
          </a:p>
        </p:txBody>
      </p:sp>
      <p:sp>
        <p:nvSpPr>
          <p:cNvPr id="10" name="Oval 9"/>
          <p:cNvSpPr/>
          <p:nvPr/>
        </p:nvSpPr>
        <p:spPr>
          <a:xfrm>
            <a:off x="749808" y="1865376"/>
            <a:ext cx="420624" cy="420624"/>
          </a:xfrm>
          <a:prstGeom prst="ellipse">
            <a:avLst/>
          </a:prstGeom>
          <a:solidFill>
            <a:srgbClr val="F06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186537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1755648"/>
            <a:ext cx="20574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0674A"/>
                </a:solidFill>
                <a:latin typeface="Arial"/>
              </a:rPr>
              <a:t>Version drift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73552" y="1755648"/>
            <a:ext cx="8138160" cy="658368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20440" y="1810512"/>
            <a:ext cx="7635240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18232B"/>
                </a:solidFill>
                <a:latin typeface="Arial"/>
              </a:rPr>
              <a:t>old offer or assets stay live</a:t>
            </a:r>
          </a:p>
        </p:txBody>
      </p:sp>
      <p:sp>
        <p:nvSpPr>
          <p:cNvPr id="15" name="Oval 14"/>
          <p:cNvSpPr/>
          <p:nvPr/>
        </p:nvSpPr>
        <p:spPr>
          <a:xfrm>
            <a:off x="749808" y="2724912"/>
            <a:ext cx="420624" cy="420624"/>
          </a:xfrm>
          <a:prstGeom prst="ellipse">
            <a:avLst/>
          </a:prstGeom>
          <a:solidFill>
            <a:srgbClr val="EEA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272491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53312" y="2615184"/>
            <a:ext cx="20574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EA900"/>
                </a:solidFill>
                <a:latin typeface="Arial"/>
              </a:rPr>
              <a:t>Channel sprawl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73552" y="2615184"/>
            <a:ext cx="8138160" cy="658368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20440" y="2670048"/>
            <a:ext cx="7635240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18232B"/>
                </a:solidFill>
                <a:latin typeface="Arial"/>
              </a:rPr>
              <a:t>messages cannot be audited</a:t>
            </a:r>
          </a:p>
        </p:txBody>
      </p:sp>
      <p:sp>
        <p:nvSpPr>
          <p:cNvPr id="20" name="Oval 19"/>
          <p:cNvSpPr/>
          <p:nvPr/>
        </p:nvSpPr>
        <p:spPr>
          <a:xfrm>
            <a:off x="749808" y="3584448"/>
            <a:ext cx="420624" cy="420624"/>
          </a:xfrm>
          <a:prstGeom prst="ellipse">
            <a:avLst/>
          </a:prstGeom>
          <a:solidFill>
            <a:srgbClr val="F06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8" y="3584448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53312" y="3474720"/>
            <a:ext cx="20574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0674A"/>
                </a:solidFill>
                <a:latin typeface="Arial"/>
              </a:rPr>
              <a:t>SLA opacity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273552" y="3474720"/>
            <a:ext cx="8138160" cy="658368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20440" y="3529584"/>
            <a:ext cx="7635240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18232B"/>
                </a:solidFill>
                <a:latin typeface="Arial"/>
              </a:rPr>
              <a:t>partners do not know response time</a:t>
            </a:r>
          </a:p>
        </p:txBody>
      </p:sp>
      <p:sp>
        <p:nvSpPr>
          <p:cNvPr id="25" name="Oval 24"/>
          <p:cNvSpPr/>
          <p:nvPr/>
        </p:nvSpPr>
        <p:spPr>
          <a:xfrm>
            <a:off x="749808" y="4443984"/>
            <a:ext cx="420624" cy="420624"/>
          </a:xfrm>
          <a:prstGeom prst="ellipse">
            <a:avLst/>
          </a:prstGeom>
          <a:solidFill>
            <a:srgbClr val="EEA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9808" y="4443984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53312" y="4334256"/>
            <a:ext cx="20574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EA900"/>
                </a:solidFill>
                <a:latin typeface="Arial"/>
              </a:rPr>
              <a:t>Agent overreach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273552" y="4334256"/>
            <a:ext cx="8138160" cy="658368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520440" y="4389120"/>
            <a:ext cx="7635240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18232B"/>
                </a:solidFill>
                <a:latin typeface="Arial"/>
              </a:rPr>
              <a:t>unapproved promise or term</a:t>
            </a:r>
          </a:p>
        </p:txBody>
      </p:sp>
      <p:sp>
        <p:nvSpPr>
          <p:cNvPr id="30" name="Oval 29"/>
          <p:cNvSpPr/>
          <p:nvPr/>
        </p:nvSpPr>
        <p:spPr>
          <a:xfrm>
            <a:off x="749808" y="5303520"/>
            <a:ext cx="420624" cy="420624"/>
          </a:xfrm>
          <a:prstGeom prst="ellipse">
            <a:avLst/>
          </a:prstGeom>
          <a:solidFill>
            <a:srgbClr val="F06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9808" y="5303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53312" y="5193792"/>
            <a:ext cx="20574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0674A"/>
                </a:solidFill>
                <a:latin typeface="Arial"/>
              </a:rPr>
              <a:t>No closure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273552" y="5193792"/>
            <a:ext cx="8138160" cy="658368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520440" y="5248656"/>
            <a:ext cx="7635240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18232B"/>
                </a:solidFill>
                <a:latin typeface="Arial"/>
              </a:rPr>
              <a:t>issues lack owner and outcome</a:t>
            </a:r>
          </a:p>
        </p:txBody>
      </p:sp>
    </p:spTree>
  </p:cSld>
  <p:clrMapOvr>
    <a:masterClrMapping/>
  </p:clrMapOvr>
  <p:transition spd="fast">
    <p:fade/>
  </p:transition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71600"/>
          </a:xfrm>
          <a:prstGeom prst="rect">
            <a:avLst/>
          </a:prstGeom>
          <a:solidFill>
            <a:srgbClr val="F06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0674A"/>
                </a:solidFill>
                <a:latin typeface="Arial"/>
              </a:rPr>
              <a:t>FAILURE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8232B"/>
                </a:solidFill>
                <a:latin typeface="Arial"/>
              </a:rPr>
              <a:t>MCP and Research Controls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435608"/>
            <a:ext cx="10927080" cy="16459"/>
          </a:xfrm>
          <a:prstGeom prst="rect">
            <a:avLst/>
          </a:prstGeom>
          <a:solidFill>
            <a:srgbClr val="DD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118</a:t>
            </a:r>
          </a:p>
        </p:txBody>
      </p:sp>
      <p:sp>
        <p:nvSpPr>
          <p:cNvPr id="10" name="Oval 9"/>
          <p:cNvSpPr/>
          <p:nvPr/>
        </p:nvSpPr>
        <p:spPr>
          <a:xfrm>
            <a:off x="749808" y="1865376"/>
            <a:ext cx="420624" cy="420624"/>
          </a:xfrm>
          <a:prstGeom prst="ellipse">
            <a:avLst/>
          </a:prstGeom>
          <a:solidFill>
            <a:srgbClr val="F06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186537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1755648"/>
            <a:ext cx="20574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0674A"/>
                </a:solidFill>
                <a:latin typeface="Arial"/>
              </a:rPr>
              <a:t>Excess scope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73552" y="1755648"/>
            <a:ext cx="8138160" cy="658368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20440" y="1810512"/>
            <a:ext cx="7635240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18232B"/>
                </a:solidFill>
                <a:latin typeface="Arial"/>
              </a:rPr>
              <a:t>connector sees unrelated records</a:t>
            </a:r>
          </a:p>
        </p:txBody>
      </p:sp>
      <p:sp>
        <p:nvSpPr>
          <p:cNvPr id="15" name="Oval 14"/>
          <p:cNvSpPr/>
          <p:nvPr/>
        </p:nvSpPr>
        <p:spPr>
          <a:xfrm>
            <a:off x="749808" y="2724912"/>
            <a:ext cx="420624" cy="420624"/>
          </a:xfrm>
          <a:prstGeom prst="ellipse">
            <a:avLst/>
          </a:prstGeom>
          <a:solidFill>
            <a:srgbClr val="EEA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272491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53312" y="2615184"/>
            <a:ext cx="20574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EA900"/>
                </a:solidFill>
                <a:latin typeface="Arial"/>
              </a:rPr>
              <a:t>Prompt injection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73552" y="2615184"/>
            <a:ext cx="8138160" cy="658368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20440" y="2670048"/>
            <a:ext cx="7635240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18232B"/>
                </a:solidFill>
                <a:latin typeface="Arial"/>
              </a:rPr>
              <a:t>candidate page redirects agent</a:t>
            </a:r>
          </a:p>
        </p:txBody>
      </p:sp>
      <p:sp>
        <p:nvSpPr>
          <p:cNvPr id="20" name="Oval 19"/>
          <p:cNvSpPr/>
          <p:nvPr/>
        </p:nvSpPr>
        <p:spPr>
          <a:xfrm>
            <a:off x="749808" y="3584448"/>
            <a:ext cx="420624" cy="420624"/>
          </a:xfrm>
          <a:prstGeom prst="ellipse">
            <a:avLst/>
          </a:prstGeom>
          <a:solidFill>
            <a:srgbClr val="F06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8" y="3584448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53312" y="3474720"/>
            <a:ext cx="20574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0674A"/>
                </a:solidFill>
                <a:latin typeface="Arial"/>
              </a:rPr>
              <a:t>Source mix-up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273552" y="3474720"/>
            <a:ext cx="8138160" cy="658368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20440" y="3529584"/>
            <a:ext cx="7635240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18232B"/>
                </a:solidFill>
                <a:latin typeface="Arial"/>
              </a:rPr>
              <a:t>facts attached to wrong partner</a:t>
            </a:r>
          </a:p>
        </p:txBody>
      </p:sp>
      <p:sp>
        <p:nvSpPr>
          <p:cNvPr id="25" name="Oval 24"/>
          <p:cNvSpPr/>
          <p:nvPr/>
        </p:nvSpPr>
        <p:spPr>
          <a:xfrm>
            <a:off x="749808" y="4443984"/>
            <a:ext cx="420624" cy="420624"/>
          </a:xfrm>
          <a:prstGeom prst="ellipse">
            <a:avLst/>
          </a:prstGeom>
          <a:solidFill>
            <a:srgbClr val="EEA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9808" y="4443984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53312" y="4334256"/>
            <a:ext cx="20574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EA900"/>
                </a:solidFill>
                <a:latin typeface="Arial"/>
              </a:rPr>
              <a:t>No audit ID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273552" y="4334256"/>
            <a:ext cx="8138160" cy="658368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520440" y="4389120"/>
            <a:ext cx="7635240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18232B"/>
                </a:solidFill>
                <a:latin typeface="Arial"/>
              </a:rPr>
              <a:t>retrieval cannot be reproduced</a:t>
            </a:r>
          </a:p>
        </p:txBody>
      </p:sp>
      <p:sp>
        <p:nvSpPr>
          <p:cNvPr id="30" name="Oval 29"/>
          <p:cNvSpPr/>
          <p:nvPr/>
        </p:nvSpPr>
        <p:spPr>
          <a:xfrm>
            <a:off x="749808" y="5303520"/>
            <a:ext cx="420624" cy="420624"/>
          </a:xfrm>
          <a:prstGeom prst="ellipse">
            <a:avLst/>
          </a:prstGeom>
          <a:solidFill>
            <a:srgbClr val="F06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9808" y="5303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53312" y="5193792"/>
            <a:ext cx="20574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0674A"/>
                </a:solidFill>
                <a:latin typeface="Arial"/>
              </a:rPr>
              <a:t>Write surprise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273552" y="5193792"/>
            <a:ext cx="8138160" cy="658368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520440" y="5248656"/>
            <a:ext cx="7635240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18232B"/>
                </a:solidFill>
                <a:latin typeface="Arial"/>
              </a:rPr>
              <a:t>research tool changes external state</a:t>
            </a:r>
          </a:p>
        </p:txBody>
      </p:sp>
    </p:spTree>
  </p:cSld>
  <p:clrMapOvr>
    <a:masterClrMapping/>
  </p:clrMapOvr>
  <p:transition spd="fast">
    <p:fade/>
  </p:transition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71600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008F83"/>
                </a:solidFill>
                <a:latin typeface="Arial"/>
              </a:rPr>
              <a:t>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8232B"/>
                </a:solidFill>
                <a:latin typeface="Arial"/>
              </a:rPr>
              <a:t>LO2 Evidence Bundle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435608"/>
            <a:ext cx="10927080" cy="16459"/>
          </a:xfrm>
          <a:prstGeom prst="rect">
            <a:avLst/>
          </a:prstGeom>
          <a:solidFill>
            <a:srgbClr val="DD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119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1700784"/>
            <a:ext cx="3508248" cy="2139696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" y="1700784"/>
            <a:ext cx="73152" cy="2139696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22960" y="1920240"/>
            <a:ext cx="411480" cy="411480"/>
          </a:xfrm>
          <a:prstGeom prst="ellipse">
            <a:avLst/>
          </a:prstGeom>
          <a:solidFill>
            <a:srgbClr val="00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35024" y="1865376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08F83"/>
                </a:solidFill>
                <a:latin typeface="Arial"/>
              </a:rPr>
              <a:t>Evidence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" y="2414016"/>
            <a:ext cx="3087624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8232B"/>
                </a:solidFill>
                <a:latin typeface="Arial"/>
              </a:rPr>
              <a:t>partner archetype and source plan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31208" y="1700784"/>
            <a:ext cx="3508248" cy="2139696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31208" y="1700784"/>
            <a:ext cx="73152" cy="2139696"/>
          </a:xfrm>
          <a:prstGeom prst="rect">
            <a:avLst/>
          </a:prstGeom>
          <a:solidFill>
            <a:srgbClr val="F06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532376" y="1920240"/>
            <a:ext cx="411480" cy="411480"/>
          </a:xfrm>
          <a:prstGeom prst="ellipse">
            <a:avLst/>
          </a:prstGeom>
          <a:solidFill>
            <a:srgbClr val="F06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32376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44440" y="1865376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0674A"/>
                </a:solidFill>
                <a:latin typeface="Arial"/>
              </a:rPr>
              <a:t>Evidence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41520" y="2414016"/>
            <a:ext cx="3087624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8232B"/>
                </a:solidFill>
                <a:latin typeface="Arial"/>
              </a:rPr>
              <a:t>candidate evidence records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40624" y="1700784"/>
            <a:ext cx="3508248" cy="2139696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40624" y="1700784"/>
            <a:ext cx="73152" cy="2139696"/>
          </a:xfrm>
          <a:prstGeom prst="rect">
            <a:avLst/>
          </a:prstGeom>
          <a:solidFill>
            <a:srgbClr val="EE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241792" y="1920240"/>
            <a:ext cx="411480" cy="411480"/>
          </a:xfrm>
          <a:prstGeom prst="ellipse">
            <a:avLst/>
          </a:prstGeom>
          <a:solidFill>
            <a:srgbClr val="EEA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41792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53856" y="1865376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EEA900"/>
                </a:solidFill>
                <a:latin typeface="Arial"/>
              </a:rPr>
              <a:t>Evidence 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50936" y="2414016"/>
            <a:ext cx="3087624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8232B"/>
                </a:solidFill>
                <a:latin typeface="Arial"/>
              </a:rPr>
              <a:t>weighted scorecard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792" y="4041648"/>
            <a:ext cx="3508248" cy="2139696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1792" y="4041648"/>
            <a:ext cx="73152" cy="2139696"/>
          </a:xfrm>
          <a:prstGeom prst="rect">
            <a:avLst/>
          </a:prstGeom>
          <a:solidFill>
            <a:srgbClr val="3543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22960" y="4261104"/>
            <a:ext cx="411480" cy="411480"/>
          </a:xfrm>
          <a:prstGeom prst="ellipse">
            <a:avLst/>
          </a:prstGeom>
          <a:solidFill>
            <a:srgbClr val="3543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4261104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35024" y="4206240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354352"/>
                </a:solidFill>
                <a:latin typeface="Arial"/>
              </a:rPr>
              <a:t>Evidence 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04" y="4754880"/>
            <a:ext cx="3087624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8232B"/>
                </a:solidFill>
                <a:latin typeface="Arial"/>
              </a:rPr>
              <a:t>portfolio role and concentration model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31208" y="4041648"/>
            <a:ext cx="3508248" cy="2139696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331208" y="4041648"/>
            <a:ext cx="73152" cy="2139696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4532376" y="4261104"/>
            <a:ext cx="411480" cy="411480"/>
          </a:xfrm>
          <a:prstGeom prst="ellipse">
            <a:avLst/>
          </a:prstGeom>
          <a:solidFill>
            <a:srgbClr val="00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32376" y="4261104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44440" y="4206240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08F83"/>
                </a:solidFill>
                <a:latin typeface="Arial"/>
              </a:rPr>
              <a:t>Evidence 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41520" y="4754880"/>
            <a:ext cx="3087624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8232B"/>
                </a:solidFill>
                <a:latin typeface="Arial"/>
              </a:rPr>
              <a:t>versioned partner brief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040624" y="4041648"/>
            <a:ext cx="3508248" cy="2139696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040624" y="4041648"/>
            <a:ext cx="73152" cy="2139696"/>
          </a:xfrm>
          <a:prstGeom prst="rect">
            <a:avLst/>
          </a:prstGeom>
          <a:solidFill>
            <a:srgbClr val="F06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8241792" y="4261104"/>
            <a:ext cx="411480" cy="411480"/>
          </a:xfrm>
          <a:prstGeom prst="ellipse">
            <a:avLst/>
          </a:prstGeom>
          <a:solidFill>
            <a:srgbClr val="F06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41792" y="4261104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753856" y="4206240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0674A"/>
                </a:solidFill>
                <a:latin typeface="Arial"/>
              </a:rPr>
              <a:t>Evidence 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50936" y="4754880"/>
            <a:ext cx="3087624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8232B"/>
                </a:solidFill>
                <a:latin typeface="Arial"/>
              </a:rPr>
              <a:t>communication and escalation log</a:t>
            </a:r>
          </a:p>
        </p:txBody>
      </p:sp>
    </p:spTree>
  </p:cSld>
  <p:clrMapOvr>
    <a:masterClrMapping/>
  </p:clrMapOvr>
  <p:transition spd="fast">
    <p:fade/>
  </p:transition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71600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008F83"/>
                </a:solidFill>
                <a:latin typeface="Arial"/>
              </a:rPr>
              <a:t>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8232B"/>
                </a:solidFill>
                <a:latin typeface="Arial"/>
              </a:rPr>
              <a:t>Partner Review Pack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435608"/>
            <a:ext cx="10927080" cy="16459"/>
          </a:xfrm>
          <a:prstGeom prst="rect">
            <a:avLst/>
          </a:prstGeom>
          <a:solidFill>
            <a:srgbClr val="DD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120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1700784"/>
            <a:ext cx="3508248" cy="2139696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" y="1700784"/>
            <a:ext cx="73152" cy="2139696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22960" y="1920240"/>
            <a:ext cx="411480" cy="411480"/>
          </a:xfrm>
          <a:prstGeom prst="ellipse">
            <a:avLst/>
          </a:prstGeom>
          <a:solidFill>
            <a:srgbClr val="00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35024" y="1865376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08F83"/>
                </a:solidFill>
                <a:latin typeface="Arial"/>
              </a:rPr>
              <a:t>Evidence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" y="2414016"/>
            <a:ext cx="3087624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8232B"/>
                </a:solidFill>
                <a:latin typeface="Arial"/>
              </a:rPr>
              <a:t>identity and ownership evidence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31208" y="1700784"/>
            <a:ext cx="3508248" cy="2139696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31208" y="1700784"/>
            <a:ext cx="73152" cy="2139696"/>
          </a:xfrm>
          <a:prstGeom prst="rect">
            <a:avLst/>
          </a:prstGeom>
          <a:solidFill>
            <a:srgbClr val="F06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532376" y="1920240"/>
            <a:ext cx="411480" cy="411480"/>
          </a:xfrm>
          <a:prstGeom prst="ellipse">
            <a:avLst/>
          </a:prstGeom>
          <a:solidFill>
            <a:srgbClr val="F06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32376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44440" y="1865376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0674A"/>
                </a:solidFill>
                <a:latin typeface="Arial"/>
              </a:rPr>
              <a:t>Evidence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41520" y="2414016"/>
            <a:ext cx="3087624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8232B"/>
                </a:solidFill>
                <a:latin typeface="Arial"/>
              </a:rPr>
              <a:t>audience and engagement sample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40624" y="1700784"/>
            <a:ext cx="3508248" cy="2139696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40624" y="1700784"/>
            <a:ext cx="73152" cy="2139696"/>
          </a:xfrm>
          <a:prstGeom prst="rect">
            <a:avLst/>
          </a:prstGeom>
          <a:solidFill>
            <a:srgbClr val="EE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241792" y="1920240"/>
            <a:ext cx="411480" cy="411480"/>
          </a:xfrm>
          <a:prstGeom prst="ellipse">
            <a:avLst/>
          </a:prstGeom>
          <a:solidFill>
            <a:srgbClr val="EEA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41792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53856" y="1865376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EEA900"/>
                </a:solidFill>
                <a:latin typeface="Arial"/>
              </a:rPr>
              <a:t>Evidence 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50936" y="2414016"/>
            <a:ext cx="3087624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8232B"/>
                </a:solidFill>
                <a:latin typeface="Arial"/>
              </a:rPr>
              <a:t>content and disclosure review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792" y="4041648"/>
            <a:ext cx="3508248" cy="2139696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1792" y="4041648"/>
            <a:ext cx="73152" cy="2139696"/>
          </a:xfrm>
          <a:prstGeom prst="rect">
            <a:avLst/>
          </a:prstGeom>
          <a:solidFill>
            <a:srgbClr val="3543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22960" y="4261104"/>
            <a:ext cx="411480" cy="411480"/>
          </a:xfrm>
          <a:prstGeom prst="ellipse">
            <a:avLst/>
          </a:prstGeom>
          <a:solidFill>
            <a:srgbClr val="3543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4261104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35024" y="4206240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354352"/>
                </a:solidFill>
                <a:latin typeface="Arial"/>
              </a:rPr>
              <a:t>Evidence 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04" y="4754880"/>
            <a:ext cx="3087624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8232B"/>
                </a:solidFill>
                <a:latin typeface="Arial"/>
              </a:rPr>
              <a:t>policy and reputation flags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31208" y="4041648"/>
            <a:ext cx="3508248" cy="2139696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331208" y="4041648"/>
            <a:ext cx="73152" cy="2139696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4532376" y="4261104"/>
            <a:ext cx="411480" cy="411480"/>
          </a:xfrm>
          <a:prstGeom prst="ellipse">
            <a:avLst/>
          </a:prstGeom>
          <a:solidFill>
            <a:srgbClr val="00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32376" y="4261104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44440" y="4206240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08F83"/>
                </a:solidFill>
                <a:latin typeface="Arial"/>
              </a:rPr>
              <a:t>Evidence 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41520" y="4754880"/>
            <a:ext cx="3087624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8232B"/>
                </a:solidFill>
                <a:latin typeface="Arial"/>
              </a:rPr>
              <a:t>commercial references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040624" y="4041648"/>
            <a:ext cx="3508248" cy="2139696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040624" y="4041648"/>
            <a:ext cx="73152" cy="2139696"/>
          </a:xfrm>
          <a:prstGeom prst="rect">
            <a:avLst/>
          </a:prstGeom>
          <a:solidFill>
            <a:srgbClr val="F06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8241792" y="4261104"/>
            <a:ext cx="411480" cy="411480"/>
          </a:xfrm>
          <a:prstGeom prst="ellipse">
            <a:avLst/>
          </a:prstGeom>
          <a:solidFill>
            <a:srgbClr val="F06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41792" y="4261104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753856" y="4206240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0674A"/>
                </a:solidFill>
                <a:latin typeface="Arial"/>
              </a:rPr>
              <a:t>Evidence 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50936" y="4754880"/>
            <a:ext cx="3087624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8232B"/>
                </a:solidFill>
                <a:latin typeface="Arial"/>
              </a:rPr>
              <a:t>human decision and conditions</a:t>
            </a:r>
          </a:p>
        </p:txBody>
      </p:sp>
    </p:spTree>
  </p:cSld>
  <p:clrMapOvr>
    <a:masterClrMapping/>
  </p:clrMapOvr>
  <p:transition spd="fast">
    <p:fade/>
  </p:transition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874519"/>
            <a:ext cx="85953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0674A"/>
                </a:solidFill>
                <a:latin typeface="Arial"/>
              </a:rPr>
              <a:t>LAB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359152"/>
            <a:ext cx="9875520" cy="13258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8232B"/>
                </a:solidFill>
                <a:latin typeface="Arial"/>
              </a:rPr>
              <a:t>MCP-Assisted Partner Discovery and Due Diligence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6968" y="3840480"/>
            <a:ext cx="9052560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5E6872"/>
                </a:solidFill>
                <a:latin typeface="Arial"/>
              </a:rPr>
              <a:t>LO2 · 35 minutes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84080" y="731520"/>
            <a:ext cx="1828800" cy="10972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6400" b="1">
                <a:solidFill>
                  <a:srgbClr val="DDE4E8"/>
                </a:solidFill>
                <a:latin typeface="Arial"/>
              </a:rP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Agentic AI for Affiliate Marketing · C1319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121</a:t>
            </a:r>
          </a:p>
        </p:txBody>
      </p:sp>
    </p:spTree>
  </p:cSld>
  <p:clrMapOvr>
    <a:masterClrMapping/>
  </p:clrMapOvr>
  <p:transition spd="med">
    <p:push/>
  </p:transition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71600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008F83"/>
                </a:solidFill>
                <a:latin typeface="Arial"/>
              </a:rPr>
              <a:t>PRACTICE BRIDGE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8232B"/>
                </a:solidFill>
                <a:latin typeface="Arial"/>
              </a:rPr>
              <a:t>Lab 3 Scenario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435608"/>
            <a:ext cx="10927080" cy="16459"/>
          </a:xfrm>
          <a:prstGeom prst="rect">
            <a:avLst/>
          </a:prstGeom>
          <a:solidFill>
            <a:srgbClr val="DD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122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1700784"/>
            <a:ext cx="3508248" cy="448056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" y="1700784"/>
            <a:ext cx="73152" cy="4480560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22960" y="1920240"/>
            <a:ext cx="411480" cy="411480"/>
          </a:xfrm>
          <a:prstGeom prst="ellipse">
            <a:avLst/>
          </a:prstGeom>
          <a:solidFill>
            <a:srgbClr val="00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35024" y="1865376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08F83"/>
                </a:solidFill>
                <a:latin typeface="Arial"/>
              </a:rPr>
              <a:t>Business need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" y="2414016"/>
            <a:ext cx="3087624" cy="3611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8232B"/>
                </a:solidFill>
                <a:latin typeface="Arial"/>
              </a:rPr>
              <a:t>Use a read-only research workflow to collect and verify candidate background information, then produce a source-backed shortlist.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31208" y="1700784"/>
            <a:ext cx="3508248" cy="448056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31208" y="1700784"/>
            <a:ext cx="73152" cy="4480560"/>
          </a:xfrm>
          <a:prstGeom prst="rect">
            <a:avLst/>
          </a:prstGeom>
          <a:solidFill>
            <a:srgbClr val="F06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532376" y="1920240"/>
            <a:ext cx="411480" cy="411480"/>
          </a:xfrm>
          <a:prstGeom prst="ellipse">
            <a:avLst/>
          </a:prstGeom>
          <a:solidFill>
            <a:srgbClr val="F06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32376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44440" y="1865376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0674A"/>
                </a:solidFill>
                <a:latin typeface="Arial"/>
              </a:rPr>
              <a:t>Deliverable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41520" y="2414016"/>
            <a:ext cx="3087624" cy="3611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8232B"/>
                </a:solidFill>
                <a:latin typeface="Arial"/>
              </a:rPr>
              <a:t>A partner evidence register, due-diligence report and explainable shortlist.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40624" y="1700784"/>
            <a:ext cx="3508248" cy="448056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40624" y="1700784"/>
            <a:ext cx="73152" cy="4480560"/>
          </a:xfrm>
          <a:prstGeom prst="rect">
            <a:avLst/>
          </a:prstGeom>
          <a:solidFill>
            <a:srgbClr val="EE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241792" y="1920240"/>
            <a:ext cx="411480" cy="411480"/>
          </a:xfrm>
          <a:prstGeom prst="ellipse">
            <a:avLst/>
          </a:prstGeom>
          <a:solidFill>
            <a:srgbClr val="EEA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41792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53856" y="1865376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EEA900"/>
                </a:solidFill>
                <a:latin typeface="Arial"/>
              </a:rPr>
              <a:t>Tool boundary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50936" y="2414016"/>
            <a:ext cx="3087624" cy="3611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8232B"/>
                </a:solidFill>
                <a:latin typeface="Arial"/>
              </a:rPr>
              <a:t>Claude Cowork, read-only MCP/web research, CSV, Python scorecard</a:t>
            </a:r>
          </a:p>
        </p:txBody>
      </p:sp>
    </p:spTree>
  </p:cSld>
  <p:clrMapOvr>
    <a:masterClrMapping/>
  </p:clrMapOvr>
  <p:transition spd="fast">
    <p:fade/>
  </p:transition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71600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008F83"/>
                </a:solidFill>
                <a:latin typeface="Arial"/>
              </a:rPr>
              <a:t>HOW THE WORKFLOW RUNS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8232B"/>
                </a:solidFill>
                <a:latin typeface="Arial"/>
              </a:rPr>
              <a:t>Lab 3 Runtime Mechanism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435608"/>
            <a:ext cx="10927080" cy="16459"/>
          </a:xfrm>
          <a:prstGeom prst="rect">
            <a:avLst/>
          </a:prstGeom>
          <a:solidFill>
            <a:srgbClr val="DD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123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240280"/>
            <a:ext cx="1967788" cy="301752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322222" y="2532888"/>
            <a:ext cx="640080" cy="640080"/>
          </a:xfrm>
          <a:prstGeom prst="ellipse">
            <a:avLst/>
          </a:prstGeom>
          <a:solidFill>
            <a:srgbClr val="00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2222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18232B"/>
                </a:solidFill>
                <a:latin typeface="Arial"/>
              </a:rPr>
              <a:t>Define partner archetype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626156" y="3749040"/>
            <a:ext cx="256032" cy="0"/>
          </a:xfrm>
          <a:prstGeom prst="line">
            <a:avLst/>
          </a:prstGeom>
          <a:ln w="31750">
            <a:solidFill>
              <a:srgbClr val="008F8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882188" y="2240280"/>
            <a:ext cx="1967788" cy="301752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46042" y="2532888"/>
            <a:ext cx="640080" cy="640080"/>
          </a:xfrm>
          <a:prstGeom prst="ellipse">
            <a:avLst/>
          </a:prstGeom>
          <a:solidFill>
            <a:srgbClr val="F06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4604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9191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18232B"/>
                </a:solidFill>
                <a:latin typeface="Arial"/>
              </a:rPr>
              <a:t>Search only approved sources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849976" y="3749040"/>
            <a:ext cx="256032" cy="0"/>
          </a:xfrm>
          <a:prstGeom prst="line">
            <a:avLst/>
          </a:prstGeom>
          <a:ln w="31750">
            <a:solidFill>
              <a:srgbClr val="008F8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106008" y="2240280"/>
            <a:ext cx="1967788" cy="301752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69862" y="2532888"/>
            <a:ext cx="640080" cy="640080"/>
          </a:xfrm>
          <a:prstGeom prst="ellipse">
            <a:avLst/>
          </a:prstGeom>
          <a:solidFill>
            <a:srgbClr val="EEA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986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573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18232B"/>
                </a:solidFill>
                <a:latin typeface="Arial"/>
              </a:rPr>
              <a:t>Capture identity and audience evidence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73796" y="3749040"/>
            <a:ext cx="256032" cy="0"/>
          </a:xfrm>
          <a:prstGeom prst="line">
            <a:avLst/>
          </a:prstGeom>
          <a:ln w="31750">
            <a:solidFill>
              <a:srgbClr val="008F8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329828" y="2240280"/>
            <a:ext cx="1967788" cy="301752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93682" y="2532888"/>
            <a:ext cx="640080" cy="640080"/>
          </a:xfrm>
          <a:prstGeom prst="ellipse">
            <a:avLst/>
          </a:prstGeom>
          <a:solidFill>
            <a:srgbClr val="3543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9368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3955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18232B"/>
                </a:solidFill>
                <a:latin typeface="Arial"/>
              </a:rPr>
              <a:t>Run fraud, policy and fit gates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297616" y="3749040"/>
            <a:ext cx="256032" cy="0"/>
          </a:xfrm>
          <a:prstGeom prst="line">
            <a:avLst/>
          </a:prstGeom>
          <a:ln w="31750">
            <a:solidFill>
              <a:srgbClr val="008F8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553648" y="2240280"/>
            <a:ext cx="1967788" cy="301752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217502" y="2532888"/>
            <a:ext cx="640080" cy="640080"/>
          </a:xfrm>
          <a:prstGeom prst="ellipse">
            <a:avLst/>
          </a:prstGeom>
          <a:solidFill>
            <a:srgbClr val="00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1750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6337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18232B"/>
                </a:solidFill>
                <a:latin typeface="Arial"/>
              </a:rPr>
              <a:t>Human reviews shortlist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3232" y="5577840"/>
            <a:ext cx="10698480" cy="4206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5E6872"/>
                </a:solidFill>
                <a:latin typeface="Arial"/>
              </a:rPr>
              <a:t>Read left to right. Each boundary has a named payload, state transition and owner.</a:t>
            </a:r>
          </a:p>
        </p:txBody>
      </p:sp>
    </p:spTree>
  </p:cSld>
  <p:clrMapOvr>
    <a:masterClrMapping/>
  </p:clrMapOvr>
  <p:transition spd="fast">
    <p:fade/>
  </p:transition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71600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008F83"/>
                </a:solidFill>
                <a:latin typeface="Arial"/>
              </a:rPr>
              <a:t>WHAT MUST REMAIN TRUE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8232B"/>
                </a:solidFill>
                <a:latin typeface="Arial"/>
              </a:rPr>
              <a:t>Lab 3 Concrete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435608"/>
            <a:ext cx="10927080" cy="16459"/>
          </a:xfrm>
          <a:prstGeom prst="rect">
            <a:avLst/>
          </a:prstGeom>
          <a:solidFill>
            <a:srgbClr val="DD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124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" y="1783080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4944" y="1783080"/>
            <a:ext cx="1755648" cy="841248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1901952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Rule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15184" y="1892808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18232B"/>
                </a:solidFill>
                <a:latin typeface="Arial"/>
              </a:rPr>
              <a:t>one row per candidate identity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9632" y="1783080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99632" y="1783080"/>
            <a:ext cx="1755648" cy="841248"/>
          </a:xfrm>
          <a:prstGeom prst="rect">
            <a:avLst/>
          </a:prstGeom>
          <a:solidFill>
            <a:srgbClr val="F06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1901952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Rule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19872" y="1892808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18232B"/>
                </a:solidFill>
                <a:latin typeface="Arial"/>
              </a:rPr>
              <a:t>facts retain direct source URLs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4944" y="2807208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4944" y="2807208"/>
            <a:ext cx="1755648" cy="841248"/>
          </a:xfrm>
          <a:prstGeom prst="rect">
            <a:avLst/>
          </a:prstGeom>
          <a:solidFill>
            <a:srgbClr val="EE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" y="2926080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Rule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15184" y="2916936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18232B"/>
                </a:solidFill>
                <a:latin typeface="Arial"/>
              </a:rPr>
              <a:t>engagement uses a dated denominator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99632" y="2807208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99632" y="2807208"/>
            <a:ext cx="1755648" cy="841248"/>
          </a:xfrm>
          <a:prstGeom prst="rect">
            <a:avLst/>
          </a:prstGeom>
          <a:solidFill>
            <a:srgbClr val="3543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9360" y="2926080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Rule 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19872" y="2916936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18232B"/>
                </a:solidFill>
                <a:latin typeface="Arial"/>
              </a:rPr>
              <a:t>connector is read-only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94944" y="3831336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94944" y="3831336"/>
            <a:ext cx="1755648" cy="841248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4672" y="3950208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Rule 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15184" y="3941064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18232B"/>
                </a:solidFill>
                <a:latin typeface="Arial"/>
              </a:rPr>
              <a:t>missing evidence is never imputed</a:t>
            </a:r>
          </a:p>
        </p:txBody>
      </p:sp>
    </p:spTree>
  </p:cSld>
  <p:clrMapOvr>
    <a:masterClrMapping/>
  </p:clrMapOvr>
  <p:transition spd="fast">
    <p:fade/>
  </p:transition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71600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008F83"/>
                </a:solidFill>
                <a:latin typeface="Arial"/>
              </a:rPr>
              <a:t>WHAT TO CAPTURE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8232B"/>
                </a:solidFill>
                <a:latin typeface="Arial"/>
              </a:rPr>
              <a:t>Lab 3 Evidence Package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435608"/>
            <a:ext cx="10927080" cy="16459"/>
          </a:xfrm>
          <a:prstGeom prst="rect">
            <a:avLst/>
          </a:prstGeom>
          <a:solidFill>
            <a:srgbClr val="DD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125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1700784"/>
            <a:ext cx="3508248" cy="2139696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" y="1700784"/>
            <a:ext cx="73152" cy="2139696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22960" y="1920240"/>
            <a:ext cx="411480" cy="411480"/>
          </a:xfrm>
          <a:prstGeom prst="ellipse">
            <a:avLst/>
          </a:prstGeom>
          <a:solidFill>
            <a:srgbClr val="00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35024" y="1865376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08F83"/>
                </a:solidFill>
                <a:latin typeface="Arial"/>
              </a:rPr>
              <a:t>Evidence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" y="2414016"/>
            <a:ext cx="3087624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8232B"/>
                </a:solidFill>
                <a:latin typeface="Arial"/>
              </a:rPr>
              <a:t>affiliate-candidates.csv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31208" y="1700784"/>
            <a:ext cx="3508248" cy="2139696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31208" y="1700784"/>
            <a:ext cx="73152" cy="2139696"/>
          </a:xfrm>
          <a:prstGeom prst="rect">
            <a:avLst/>
          </a:prstGeom>
          <a:solidFill>
            <a:srgbClr val="F06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532376" y="1920240"/>
            <a:ext cx="411480" cy="411480"/>
          </a:xfrm>
          <a:prstGeom prst="ellipse">
            <a:avLst/>
          </a:prstGeom>
          <a:solidFill>
            <a:srgbClr val="F06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32376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44440" y="1865376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0674A"/>
                </a:solidFill>
                <a:latin typeface="Arial"/>
              </a:rPr>
              <a:t>Evidence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41520" y="2414016"/>
            <a:ext cx="3087624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8232B"/>
                </a:solidFill>
                <a:latin typeface="Arial"/>
              </a:rPr>
              <a:t>source register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40624" y="1700784"/>
            <a:ext cx="3508248" cy="2139696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40624" y="1700784"/>
            <a:ext cx="73152" cy="2139696"/>
          </a:xfrm>
          <a:prstGeom prst="rect">
            <a:avLst/>
          </a:prstGeom>
          <a:solidFill>
            <a:srgbClr val="EE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241792" y="1920240"/>
            <a:ext cx="411480" cy="411480"/>
          </a:xfrm>
          <a:prstGeom prst="ellipse">
            <a:avLst/>
          </a:prstGeom>
          <a:solidFill>
            <a:srgbClr val="EEA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41792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53856" y="1865376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EEA900"/>
                </a:solidFill>
                <a:latin typeface="Arial"/>
              </a:rPr>
              <a:t>Evidence 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50936" y="2414016"/>
            <a:ext cx="3087624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8232B"/>
                </a:solidFill>
                <a:latin typeface="Arial"/>
              </a:rPr>
              <a:t>due-diligence findings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792" y="4041648"/>
            <a:ext cx="3508248" cy="2139696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1792" y="4041648"/>
            <a:ext cx="73152" cy="2139696"/>
          </a:xfrm>
          <a:prstGeom prst="rect">
            <a:avLst/>
          </a:prstGeom>
          <a:solidFill>
            <a:srgbClr val="3543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22960" y="4261104"/>
            <a:ext cx="411480" cy="411480"/>
          </a:xfrm>
          <a:prstGeom prst="ellipse">
            <a:avLst/>
          </a:prstGeom>
          <a:solidFill>
            <a:srgbClr val="3543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4261104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35024" y="4206240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354352"/>
                </a:solidFill>
                <a:latin typeface="Arial"/>
              </a:rPr>
              <a:t>Evidence 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04" y="4754880"/>
            <a:ext cx="3087624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8232B"/>
                </a:solidFill>
                <a:latin typeface="Arial"/>
              </a:rPr>
              <a:t>partner-scorecard.md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31208" y="4041648"/>
            <a:ext cx="3508248" cy="2139696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331208" y="4041648"/>
            <a:ext cx="73152" cy="2139696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4532376" y="4261104"/>
            <a:ext cx="411480" cy="411480"/>
          </a:xfrm>
          <a:prstGeom prst="ellipse">
            <a:avLst/>
          </a:prstGeom>
          <a:solidFill>
            <a:srgbClr val="00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32376" y="4261104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44440" y="4206240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08F83"/>
                </a:solidFill>
                <a:latin typeface="Arial"/>
              </a:rPr>
              <a:t>Evidence 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41520" y="4754880"/>
            <a:ext cx="3087624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8232B"/>
                </a:solidFill>
                <a:latin typeface="Arial"/>
              </a:rPr>
              <a:t>human shortlist decision</a:t>
            </a:r>
          </a:p>
        </p:txBody>
      </p:sp>
    </p:spTree>
  </p:cSld>
  <p:clrMapOvr>
    <a:masterClrMapping/>
  </p:clrMapOvr>
  <p:transition spd="fast">
    <p:fade/>
  </p:transition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71600"/>
          </a:xfrm>
          <a:prstGeom prst="rect">
            <a:avLst/>
          </a:prstGeom>
          <a:solidFill>
            <a:srgbClr val="F06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0674A"/>
                </a:solidFill>
                <a:latin typeface="Arial"/>
              </a:rPr>
              <a:t>TEST WITHOUT CLICK PATHS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8232B"/>
                </a:solidFill>
                <a:latin typeface="Arial"/>
              </a:rPr>
              <a:t>Lab 3 Verification and Failure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435608"/>
            <a:ext cx="10927080" cy="16459"/>
          </a:xfrm>
          <a:prstGeom prst="rect">
            <a:avLst/>
          </a:prstGeom>
          <a:solidFill>
            <a:srgbClr val="DD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126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783080"/>
            <a:ext cx="5257800" cy="4315968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783080"/>
            <a:ext cx="5257800" cy="109728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2029968"/>
            <a:ext cx="470916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008F83"/>
                </a:solidFill>
                <a:latin typeface="Arial"/>
              </a:rPr>
              <a:t>Accept</a:t>
            </a:r>
          </a:p>
        </p:txBody>
      </p:sp>
      <p:sp>
        <p:nvSpPr>
          <p:cNvPr id="13" name="Oval 12"/>
          <p:cNvSpPr/>
          <p:nvPr/>
        </p:nvSpPr>
        <p:spPr>
          <a:xfrm>
            <a:off x="950976" y="2743200"/>
            <a:ext cx="365760" cy="365760"/>
          </a:xfrm>
          <a:prstGeom prst="ellipse">
            <a:avLst/>
          </a:prstGeom>
          <a:solidFill>
            <a:srgbClr val="00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0976" y="274320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1328" y="267919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18232B"/>
                </a:solidFill>
                <a:latin typeface="Arial"/>
              </a:rPr>
              <a:t>connector boundary is read-only</a:t>
            </a:r>
          </a:p>
        </p:txBody>
      </p:sp>
      <p:sp>
        <p:nvSpPr>
          <p:cNvPr id="16" name="Oval 15"/>
          <p:cNvSpPr/>
          <p:nvPr/>
        </p:nvSpPr>
        <p:spPr>
          <a:xfrm>
            <a:off x="950976" y="3463290"/>
            <a:ext cx="365760" cy="365760"/>
          </a:xfrm>
          <a:prstGeom prst="ellipse">
            <a:avLst/>
          </a:prstGeom>
          <a:solidFill>
            <a:srgbClr val="00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0976" y="346329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1328" y="339928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18232B"/>
                </a:solidFill>
                <a:latin typeface="Arial"/>
              </a:rPr>
              <a:t>identity and audience evidence sourced</a:t>
            </a:r>
          </a:p>
        </p:txBody>
      </p:sp>
      <p:sp>
        <p:nvSpPr>
          <p:cNvPr id="19" name="Oval 18"/>
          <p:cNvSpPr/>
          <p:nvPr/>
        </p:nvSpPr>
        <p:spPr>
          <a:xfrm>
            <a:off x="950976" y="4183380"/>
            <a:ext cx="365760" cy="365760"/>
          </a:xfrm>
          <a:prstGeom prst="ellipse">
            <a:avLst/>
          </a:prstGeom>
          <a:solidFill>
            <a:srgbClr val="00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976" y="418338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81328" y="411937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18232B"/>
                </a:solidFill>
                <a:latin typeface="Arial"/>
              </a:rPr>
              <a:t>hard gates exclude failures</a:t>
            </a:r>
          </a:p>
        </p:txBody>
      </p:sp>
      <p:sp>
        <p:nvSpPr>
          <p:cNvPr id="22" name="Oval 21"/>
          <p:cNvSpPr/>
          <p:nvPr/>
        </p:nvSpPr>
        <p:spPr>
          <a:xfrm>
            <a:off x="950976" y="4903470"/>
            <a:ext cx="365760" cy="365760"/>
          </a:xfrm>
          <a:prstGeom prst="ellipse">
            <a:avLst/>
          </a:prstGeom>
          <a:solidFill>
            <a:srgbClr val="00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0976" y="490347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81328" y="483946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18232B"/>
                </a:solidFill>
                <a:latin typeface="Arial"/>
              </a:rPr>
              <a:t>scores recompute</a:t>
            </a:r>
          </a:p>
        </p:txBody>
      </p:sp>
      <p:sp>
        <p:nvSpPr>
          <p:cNvPr id="25" name="Oval 24"/>
          <p:cNvSpPr/>
          <p:nvPr/>
        </p:nvSpPr>
        <p:spPr>
          <a:xfrm>
            <a:off x="950976" y="5623560"/>
            <a:ext cx="365760" cy="365760"/>
          </a:xfrm>
          <a:prstGeom prst="ellipse">
            <a:avLst/>
          </a:prstGeom>
          <a:solidFill>
            <a:srgbClr val="00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50976" y="562356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81328" y="555955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18232B"/>
                </a:solidFill>
                <a:latin typeface="Arial"/>
              </a:rPr>
              <a:t>human shortlist rationale recorded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63640" y="1783080"/>
            <a:ext cx="5257800" cy="4315968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63640" y="1783080"/>
            <a:ext cx="5257800" cy="109728"/>
          </a:xfrm>
          <a:prstGeom prst="rect">
            <a:avLst/>
          </a:prstGeom>
          <a:solidFill>
            <a:srgbClr val="F06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37960" y="2029968"/>
            <a:ext cx="470916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F0674A"/>
                </a:solidFill>
                <a:latin typeface="Arial"/>
              </a:rPr>
              <a:t>Diagnose</a:t>
            </a:r>
          </a:p>
        </p:txBody>
      </p:sp>
      <p:sp>
        <p:nvSpPr>
          <p:cNvPr id="31" name="Oval 30"/>
          <p:cNvSpPr/>
          <p:nvPr/>
        </p:nvSpPr>
        <p:spPr>
          <a:xfrm>
            <a:off x="6556248" y="2743200"/>
            <a:ext cx="365760" cy="365760"/>
          </a:xfrm>
          <a:prstGeom prst="ellipse">
            <a:avLst/>
          </a:prstGeom>
          <a:solidFill>
            <a:srgbClr val="F06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56248" y="274320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86600" y="267919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8232B"/>
                </a:solidFill>
                <a:latin typeface="Arial"/>
              </a:rPr>
              <a:t>identity conflict blocks candidate</a:t>
            </a:r>
          </a:p>
        </p:txBody>
      </p:sp>
      <p:sp>
        <p:nvSpPr>
          <p:cNvPr id="34" name="Oval 33"/>
          <p:cNvSpPr/>
          <p:nvPr/>
        </p:nvSpPr>
        <p:spPr>
          <a:xfrm>
            <a:off x="6556248" y="3566160"/>
            <a:ext cx="365760" cy="365760"/>
          </a:xfrm>
          <a:prstGeom prst="ellipse">
            <a:avLst/>
          </a:prstGeom>
          <a:solidFill>
            <a:srgbClr val="F06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56248" y="356616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86600" y="350215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8232B"/>
                </a:solidFill>
                <a:latin typeface="Arial"/>
              </a:rPr>
              <a:t>bot-like engagement flags review</a:t>
            </a:r>
          </a:p>
        </p:txBody>
      </p:sp>
      <p:sp>
        <p:nvSpPr>
          <p:cNvPr id="37" name="Oval 36"/>
          <p:cNvSpPr/>
          <p:nvPr/>
        </p:nvSpPr>
        <p:spPr>
          <a:xfrm>
            <a:off x="6556248" y="4389120"/>
            <a:ext cx="365760" cy="365760"/>
          </a:xfrm>
          <a:prstGeom prst="ellipse">
            <a:avLst/>
          </a:prstGeom>
          <a:solidFill>
            <a:srgbClr val="F06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56248" y="438912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086600" y="432511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8232B"/>
                </a:solidFill>
                <a:latin typeface="Arial"/>
              </a:rPr>
              <a:t>source text cannot change instructions</a:t>
            </a:r>
          </a:p>
        </p:txBody>
      </p:sp>
      <p:sp>
        <p:nvSpPr>
          <p:cNvPr id="40" name="Oval 39"/>
          <p:cNvSpPr/>
          <p:nvPr/>
        </p:nvSpPr>
        <p:spPr>
          <a:xfrm>
            <a:off x="6556248" y="5212080"/>
            <a:ext cx="365760" cy="365760"/>
          </a:xfrm>
          <a:prstGeom prst="ellipse">
            <a:avLst/>
          </a:prstGeom>
          <a:solidFill>
            <a:srgbClr val="F06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56248" y="521208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086600" y="514807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8232B"/>
                </a:solidFill>
                <a:latin typeface="Arial"/>
              </a:rPr>
              <a:t>policy gate is non-compensable</a:t>
            </a:r>
          </a:p>
        </p:txBody>
      </p:sp>
    </p:spTree>
  </p:cSld>
  <p:clrMapOvr>
    <a:masterClrMapping/>
  </p:clrMapOvr>
  <p:transition spd="fast">
    <p:fade/>
  </p:transition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874519"/>
            <a:ext cx="85953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0674A"/>
                </a:solidFill>
                <a:latin typeface="Arial"/>
              </a:rPr>
              <a:t>LAB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359152"/>
            <a:ext cx="9875520" cy="13258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8232B"/>
                </a:solidFill>
                <a:latin typeface="Arial"/>
              </a:rPr>
              <a:t>Affiliate Portfolio and Communication 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6968" y="3840480"/>
            <a:ext cx="9052560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5E6872"/>
                </a:solidFill>
                <a:latin typeface="Arial"/>
              </a:rPr>
              <a:t>LO2 · 35 minutes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84080" y="731520"/>
            <a:ext cx="1828800" cy="10972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6400" b="1">
                <a:solidFill>
                  <a:srgbClr val="DDE4E8"/>
                </a:solidFill>
                <a:latin typeface="Arial"/>
              </a:rP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Agentic AI for Affiliate Marketing · C1319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127</a:t>
            </a:r>
          </a:p>
        </p:txBody>
      </p:sp>
    </p:spTree>
  </p:cSld>
  <p:clrMapOvr>
    <a:masterClrMapping/>
  </p:clrMapOvr>
  <p:transition spd="med">
    <p:push/>
  </p:transition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71600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008F83"/>
                </a:solidFill>
                <a:latin typeface="Arial"/>
              </a:rPr>
              <a:t>PRACTICE BRIDGE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8232B"/>
                </a:solidFill>
                <a:latin typeface="Arial"/>
              </a:rPr>
              <a:t>Lab 4 Scenario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435608"/>
            <a:ext cx="10927080" cy="16459"/>
          </a:xfrm>
          <a:prstGeom prst="rect">
            <a:avLst/>
          </a:prstGeom>
          <a:solidFill>
            <a:srgbClr val="DD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128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1700784"/>
            <a:ext cx="3508248" cy="448056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" y="1700784"/>
            <a:ext cx="73152" cy="4480560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22960" y="1920240"/>
            <a:ext cx="411480" cy="411480"/>
          </a:xfrm>
          <a:prstGeom prst="ellipse">
            <a:avLst/>
          </a:prstGeom>
          <a:solidFill>
            <a:srgbClr val="00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35024" y="1865376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08F83"/>
                </a:solidFill>
                <a:latin typeface="Arial"/>
              </a:rPr>
              <a:t>Business need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" y="2414016"/>
            <a:ext cx="3087624" cy="3611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8232B"/>
                </a:solidFill>
                <a:latin typeface="Arial"/>
              </a:rPr>
              <a:t>Construct a role-balanced portfolio and a controlled communication cadence that keeps partner briefs, product updates and escalations traceable.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31208" y="1700784"/>
            <a:ext cx="3508248" cy="448056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31208" y="1700784"/>
            <a:ext cx="73152" cy="4480560"/>
          </a:xfrm>
          <a:prstGeom prst="rect">
            <a:avLst/>
          </a:prstGeom>
          <a:solidFill>
            <a:srgbClr val="F06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532376" y="1920240"/>
            <a:ext cx="411480" cy="411480"/>
          </a:xfrm>
          <a:prstGeom prst="ellipse">
            <a:avLst/>
          </a:prstGeom>
          <a:solidFill>
            <a:srgbClr val="F06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32376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44440" y="1865376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0674A"/>
                </a:solidFill>
                <a:latin typeface="Arial"/>
              </a:rPr>
              <a:t>Deliverable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41520" y="2414016"/>
            <a:ext cx="3087624" cy="3611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8232B"/>
                </a:solidFill>
                <a:latin typeface="Arial"/>
              </a:rPr>
              <a:t>A portfolio mix model, tiered communication plan and versioned partner brief generated by a custom Skill.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40624" y="1700784"/>
            <a:ext cx="3508248" cy="448056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40624" y="1700784"/>
            <a:ext cx="73152" cy="4480560"/>
          </a:xfrm>
          <a:prstGeom prst="rect">
            <a:avLst/>
          </a:prstGeom>
          <a:solidFill>
            <a:srgbClr val="EE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241792" y="1920240"/>
            <a:ext cx="411480" cy="411480"/>
          </a:xfrm>
          <a:prstGeom prst="ellipse">
            <a:avLst/>
          </a:prstGeom>
          <a:solidFill>
            <a:srgbClr val="EEA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41792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53856" y="1865376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EEA900"/>
                </a:solidFill>
                <a:latin typeface="Arial"/>
              </a:rPr>
              <a:t>Tool boundary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50936" y="2414016"/>
            <a:ext cx="3087624" cy="3611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8232B"/>
                </a:solidFill>
                <a:latin typeface="Arial"/>
              </a:rPr>
              <a:t>Claude Cowork, custom Skill, CSV portfolio model, Markdown brief templates</a:t>
            </a:r>
          </a:p>
        </p:txBody>
      </p:sp>
    </p:spTree>
  </p:cSld>
  <p:clrMapOvr>
    <a:masterClrMapping/>
  </p:clrMapOvr>
  <p:transition spd="fast">
    <p:fade/>
  </p:transition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71600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008F83"/>
                </a:solidFill>
                <a:latin typeface="Arial"/>
              </a:rPr>
              <a:t>HOW THE WORKFLOW RUNS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8232B"/>
                </a:solidFill>
                <a:latin typeface="Arial"/>
              </a:rPr>
              <a:t>Lab 4 Runtime Mechanism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435608"/>
            <a:ext cx="10927080" cy="16459"/>
          </a:xfrm>
          <a:prstGeom prst="rect">
            <a:avLst/>
          </a:prstGeom>
          <a:solidFill>
            <a:srgbClr val="DD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129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240280"/>
            <a:ext cx="1967788" cy="301752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322222" y="2532888"/>
            <a:ext cx="640080" cy="640080"/>
          </a:xfrm>
          <a:prstGeom prst="ellipse">
            <a:avLst/>
          </a:prstGeom>
          <a:solidFill>
            <a:srgbClr val="00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2222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18232B"/>
                </a:solidFill>
                <a:latin typeface="Arial"/>
              </a:rPr>
              <a:t>Classify partner roles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626156" y="3749040"/>
            <a:ext cx="256032" cy="0"/>
          </a:xfrm>
          <a:prstGeom prst="line">
            <a:avLst/>
          </a:prstGeom>
          <a:ln w="31750">
            <a:solidFill>
              <a:srgbClr val="008F8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882188" y="2240280"/>
            <a:ext cx="1967788" cy="301752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46042" y="2532888"/>
            <a:ext cx="640080" cy="640080"/>
          </a:xfrm>
          <a:prstGeom prst="ellipse">
            <a:avLst/>
          </a:prstGeom>
          <a:solidFill>
            <a:srgbClr val="F06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4604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9191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18232B"/>
                </a:solidFill>
                <a:latin typeface="Arial"/>
              </a:rPr>
              <a:t>Measure concentration and gaps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849976" y="3749040"/>
            <a:ext cx="256032" cy="0"/>
          </a:xfrm>
          <a:prstGeom prst="line">
            <a:avLst/>
          </a:prstGeom>
          <a:ln w="31750">
            <a:solidFill>
              <a:srgbClr val="008F8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106008" y="2240280"/>
            <a:ext cx="1967788" cy="301752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69862" y="2532888"/>
            <a:ext cx="640080" cy="640080"/>
          </a:xfrm>
          <a:prstGeom prst="ellipse">
            <a:avLst/>
          </a:prstGeom>
          <a:solidFill>
            <a:srgbClr val="EEA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986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573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18232B"/>
                </a:solidFill>
                <a:latin typeface="Arial"/>
              </a:rPr>
              <a:t>Assign service tier and capacity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73796" y="3749040"/>
            <a:ext cx="256032" cy="0"/>
          </a:xfrm>
          <a:prstGeom prst="line">
            <a:avLst/>
          </a:prstGeom>
          <a:ln w="31750">
            <a:solidFill>
              <a:srgbClr val="008F8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329828" y="2240280"/>
            <a:ext cx="1967788" cy="301752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93682" y="2532888"/>
            <a:ext cx="640080" cy="640080"/>
          </a:xfrm>
          <a:prstGeom prst="ellipse">
            <a:avLst/>
          </a:prstGeom>
          <a:solidFill>
            <a:srgbClr val="3543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9368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3955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18232B"/>
                </a:solidFill>
                <a:latin typeface="Arial"/>
              </a:rPr>
              <a:t>Generate versioned brief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297616" y="3749040"/>
            <a:ext cx="256032" cy="0"/>
          </a:xfrm>
          <a:prstGeom prst="line">
            <a:avLst/>
          </a:prstGeom>
          <a:ln w="31750">
            <a:solidFill>
              <a:srgbClr val="008F8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553648" y="2240280"/>
            <a:ext cx="1967788" cy="301752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217502" y="2532888"/>
            <a:ext cx="640080" cy="640080"/>
          </a:xfrm>
          <a:prstGeom prst="ellipse">
            <a:avLst/>
          </a:prstGeom>
          <a:solidFill>
            <a:srgbClr val="00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1750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6337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18232B"/>
                </a:solidFill>
                <a:latin typeface="Arial"/>
              </a:rPr>
              <a:t>Track acknowledgement and escalation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3232" y="5577840"/>
            <a:ext cx="10698480" cy="4206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5E6872"/>
                </a:solidFill>
                <a:latin typeface="Arial"/>
              </a:rPr>
              <a:t>Read left to right. Each boundary has a named payload, state transition and owner.</a:t>
            </a:r>
          </a:p>
        </p:txBody>
      </p:sp>
    </p:spTree>
  </p:cSld>
  <p:clrMapOvr>
    <a:masterClrMapping/>
  </p:clrMapOvr>
  <p:transition spd="fast">
    <p:fade/>
  </p:transition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71600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008F83"/>
                </a:solidFill>
                <a:latin typeface="Arial"/>
              </a:rPr>
              <a:t>WHAT MUST REMAIN TRUE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8232B"/>
                </a:solidFill>
                <a:latin typeface="Arial"/>
              </a:rPr>
              <a:t>Lab 4 Concrete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435608"/>
            <a:ext cx="10927080" cy="16459"/>
          </a:xfrm>
          <a:prstGeom prst="rect">
            <a:avLst/>
          </a:prstGeom>
          <a:solidFill>
            <a:srgbClr val="DD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130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" y="1783080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4944" y="1783080"/>
            <a:ext cx="1755648" cy="841248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1901952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Rule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15184" y="1892808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18232B"/>
                </a:solidFill>
                <a:latin typeface="Arial"/>
              </a:rPr>
              <a:t>portfolio share totals 100%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9632" y="1783080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99632" y="1783080"/>
            <a:ext cx="1755648" cy="841248"/>
          </a:xfrm>
          <a:prstGeom prst="rect">
            <a:avLst/>
          </a:prstGeom>
          <a:solidFill>
            <a:srgbClr val="F06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1901952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Rule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19872" y="1892808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18232B"/>
                </a:solidFill>
                <a:latin typeface="Arial"/>
              </a:rPr>
              <a:t>top-3 concentration is visible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4944" y="2807208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4944" y="2807208"/>
            <a:ext cx="1755648" cy="841248"/>
          </a:xfrm>
          <a:prstGeom prst="rect">
            <a:avLst/>
          </a:prstGeom>
          <a:solidFill>
            <a:srgbClr val="EE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" y="2926080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Rule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15184" y="2916936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18232B"/>
                </a:solidFill>
                <a:latin typeface="Arial"/>
              </a:rPr>
              <a:t>each partner has one owner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99632" y="2807208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99632" y="2807208"/>
            <a:ext cx="1755648" cy="841248"/>
          </a:xfrm>
          <a:prstGeom prst="rect">
            <a:avLst/>
          </a:prstGeom>
          <a:solidFill>
            <a:srgbClr val="3543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9360" y="2926080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Rule 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19872" y="2916936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18232B"/>
                </a:solidFill>
                <a:latin typeface="Arial"/>
              </a:rPr>
              <a:t>brief carries product and asset version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94944" y="3831336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94944" y="3831336"/>
            <a:ext cx="1755648" cy="841248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4672" y="3950208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Rule 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15184" y="3941064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18232B"/>
                </a:solidFill>
                <a:latin typeface="Arial"/>
              </a:rPr>
              <a:t>message event has outcome and next action</a:t>
            </a:r>
          </a:p>
        </p:txBody>
      </p:sp>
    </p:spTree>
  </p:cSld>
  <p:clrMapOvr>
    <a:masterClrMapping/>
  </p:clrMapOvr>
  <p:transition spd="fast">
    <p:fade/>
  </p:transition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71600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008F83"/>
                </a:solidFill>
                <a:latin typeface="Arial"/>
              </a:rPr>
              <a:t>WHAT TO CAPTURE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8232B"/>
                </a:solidFill>
                <a:latin typeface="Arial"/>
              </a:rPr>
              <a:t>Lab 4 Evidence Package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435608"/>
            <a:ext cx="10927080" cy="16459"/>
          </a:xfrm>
          <a:prstGeom prst="rect">
            <a:avLst/>
          </a:prstGeom>
          <a:solidFill>
            <a:srgbClr val="DD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131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1700784"/>
            <a:ext cx="3508248" cy="2139696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" y="1700784"/>
            <a:ext cx="73152" cy="2139696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22960" y="1920240"/>
            <a:ext cx="411480" cy="411480"/>
          </a:xfrm>
          <a:prstGeom prst="ellipse">
            <a:avLst/>
          </a:prstGeom>
          <a:solidFill>
            <a:srgbClr val="00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35024" y="1865376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08F83"/>
                </a:solidFill>
                <a:latin typeface="Arial"/>
              </a:rPr>
              <a:t>Evidence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" y="2414016"/>
            <a:ext cx="3087624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8232B"/>
                </a:solidFill>
                <a:latin typeface="Arial"/>
              </a:rPr>
              <a:t>portfolio.csv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31208" y="1700784"/>
            <a:ext cx="3508248" cy="2139696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31208" y="1700784"/>
            <a:ext cx="73152" cy="2139696"/>
          </a:xfrm>
          <a:prstGeom prst="rect">
            <a:avLst/>
          </a:prstGeom>
          <a:solidFill>
            <a:srgbClr val="F06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532376" y="1920240"/>
            <a:ext cx="411480" cy="411480"/>
          </a:xfrm>
          <a:prstGeom prst="ellipse">
            <a:avLst/>
          </a:prstGeom>
          <a:solidFill>
            <a:srgbClr val="F06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32376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44440" y="1865376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0674A"/>
                </a:solidFill>
                <a:latin typeface="Arial"/>
              </a:rPr>
              <a:t>Evidence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41520" y="2414016"/>
            <a:ext cx="3087624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8232B"/>
                </a:solidFill>
                <a:latin typeface="Arial"/>
              </a:rPr>
              <a:t>portfolio-analysis.md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40624" y="1700784"/>
            <a:ext cx="3508248" cy="2139696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40624" y="1700784"/>
            <a:ext cx="73152" cy="2139696"/>
          </a:xfrm>
          <a:prstGeom prst="rect">
            <a:avLst/>
          </a:prstGeom>
          <a:solidFill>
            <a:srgbClr val="EE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241792" y="1920240"/>
            <a:ext cx="411480" cy="411480"/>
          </a:xfrm>
          <a:prstGeom prst="ellipse">
            <a:avLst/>
          </a:prstGeom>
          <a:solidFill>
            <a:srgbClr val="EEA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41792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53856" y="1865376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EEA900"/>
                </a:solidFill>
                <a:latin typeface="Arial"/>
              </a:rPr>
              <a:t>Evidence 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50936" y="2414016"/>
            <a:ext cx="3087624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8232B"/>
                </a:solidFill>
                <a:latin typeface="Arial"/>
              </a:rPr>
              <a:t>communication-cadence.csv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792" y="4041648"/>
            <a:ext cx="3508248" cy="2139696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1792" y="4041648"/>
            <a:ext cx="73152" cy="2139696"/>
          </a:xfrm>
          <a:prstGeom prst="rect">
            <a:avLst/>
          </a:prstGeom>
          <a:solidFill>
            <a:srgbClr val="3543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22960" y="4261104"/>
            <a:ext cx="411480" cy="411480"/>
          </a:xfrm>
          <a:prstGeom prst="ellipse">
            <a:avLst/>
          </a:prstGeom>
          <a:solidFill>
            <a:srgbClr val="3543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4261104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35024" y="4206240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354352"/>
                </a:solidFill>
                <a:latin typeface="Arial"/>
              </a:rPr>
              <a:t>Evidence 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04" y="4754880"/>
            <a:ext cx="3087624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8232B"/>
                </a:solidFill>
                <a:latin typeface="Arial"/>
              </a:rPr>
              <a:t>approved partner brief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31208" y="4041648"/>
            <a:ext cx="3508248" cy="2139696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331208" y="4041648"/>
            <a:ext cx="73152" cy="2139696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4532376" y="4261104"/>
            <a:ext cx="411480" cy="411480"/>
          </a:xfrm>
          <a:prstGeom prst="ellipse">
            <a:avLst/>
          </a:prstGeom>
          <a:solidFill>
            <a:srgbClr val="00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32376" y="4261104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44440" y="4206240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08F83"/>
                </a:solidFill>
                <a:latin typeface="Arial"/>
              </a:rPr>
              <a:t>Evidence 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41520" y="4754880"/>
            <a:ext cx="3087624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8232B"/>
                </a:solidFill>
                <a:latin typeface="Arial"/>
              </a:rPr>
              <a:t>message and escalation log</a:t>
            </a:r>
          </a:p>
        </p:txBody>
      </p:sp>
    </p:spTree>
  </p:cSld>
  <p:clrMapOvr>
    <a:masterClrMapping/>
  </p:clrMapOvr>
  <p:transition spd="fast">
    <p:fade/>
  </p:transition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71600"/>
          </a:xfrm>
          <a:prstGeom prst="rect">
            <a:avLst/>
          </a:prstGeom>
          <a:solidFill>
            <a:srgbClr val="F06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0674A"/>
                </a:solidFill>
                <a:latin typeface="Arial"/>
              </a:rPr>
              <a:t>TEST WITHOUT CLICK PATHS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8232B"/>
                </a:solidFill>
                <a:latin typeface="Arial"/>
              </a:rPr>
              <a:t>Lab 4 Verification and Failure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435608"/>
            <a:ext cx="10927080" cy="16459"/>
          </a:xfrm>
          <a:prstGeom prst="rect">
            <a:avLst/>
          </a:prstGeom>
          <a:solidFill>
            <a:srgbClr val="DD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132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783080"/>
            <a:ext cx="5257800" cy="4315968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783080"/>
            <a:ext cx="5257800" cy="109728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2029968"/>
            <a:ext cx="470916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008F83"/>
                </a:solidFill>
                <a:latin typeface="Arial"/>
              </a:rPr>
              <a:t>Accept</a:t>
            </a:r>
          </a:p>
        </p:txBody>
      </p:sp>
      <p:sp>
        <p:nvSpPr>
          <p:cNvPr id="13" name="Oval 12"/>
          <p:cNvSpPr/>
          <p:nvPr/>
        </p:nvSpPr>
        <p:spPr>
          <a:xfrm>
            <a:off x="950976" y="2743200"/>
            <a:ext cx="365760" cy="365760"/>
          </a:xfrm>
          <a:prstGeom prst="ellipse">
            <a:avLst/>
          </a:prstGeom>
          <a:solidFill>
            <a:srgbClr val="00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0976" y="274320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1328" y="267919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18232B"/>
                </a:solidFill>
                <a:latin typeface="Arial"/>
              </a:rPr>
              <a:t>portfolio shares reconcile</a:t>
            </a:r>
          </a:p>
        </p:txBody>
      </p:sp>
      <p:sp>
        <p:nvSpPr>
          <p:cNvPr id="16" name="Oval 15"/>
          <p:cNvSpPr/>
          <p:nvPr/>
        </p:nvSpPr>
        <p:spPr>
          <a:xfrm>
            <a:off x="950976" y="3463290"/>
            <a:ext cx="365760" cy="365760"/>
          </a:xfrm>
          <a:prstGeom prst="ellipse">
            <a:avLst/>
          </a:prstGeom>
          <a:solidFill>
            <a:srgbClr val="00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0976" y="346329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1328" y="339928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18232B"/>
                </a:solidFill>
                <a:latin typeface="Arial"/>
              </a:rPr>
              <a:t>concentration reported</a:t>
            </a:r>
          </a:p>
        </p:txBody>
      </p:sp>
      <p:sp>
        <p:nvSpPr>
          <p:cNvPr id="19" name="Oval 18"/>
          <p:cNvSpPr/>
          <p:nvPr/>
        </p:nvSpPr>
        <p:spPr>
          <a:xfrm>
            <a:off x="950976" y="4183380"/>
            <a:ext cx="365760" cy="365760"/>
          </a:xfrm>
          <a:prstGeom prst="ellipse">
            <a:avLst/>
          </a:prstGeom>
          <a:solidFill>
            <a:srgbClr val="00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976" y="418338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81328" y="411937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18232B"/>
                </a:solidFill>
                <a:latin typeface="Arial"/>
              </a:rPr>
              <a:t>role gap identified</a:t>
            </a:r>
          </a:p>
        </p:txBody>
      </p:sp>
      <p:sp>
        <p:nvSpPr>
          <p:cNvPr id="22" name="Oval 21"/>
          <p:cNvSpPr/>
          <p:nvPr/>
        </p:nvSpPr>
        <p:spPr>
          <a:xfrm>
            <a:off x="950976" y="4903470"/>
            <a:ext cx="365760" cy="365760"/>
          </a:xfrm>
          <a:prstGeom prst="ellipse">
            <a:avLst/>
          </a:prstGeom>
          <a:solidFill>
            <a:srgbClr val="00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0976" y="490347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81328" y="483946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18232B"/>
                </a:solidFill>
                <a:latin typeface="Arial"/>
              </a:rPr>
              <a:t>brief versioned and approved</a:t>
            </a:r>
          </a:p>
        </p:txBody>
      </p:sp>
      <p:sp>
        <p:nvSpPr>
          <p:cNvPr id="25" name="Oval 24"/>
          <p:cNvSpPr/>
          <p:nvPr/>
        </p:nvSpPr>
        <p:spPr>
          <a:xfrm>
            <a:off x="950976" y="5623560"/>
            <a:ext cx="365760" cy="365760"/>
          </a:xfrm>
          <a:prstGeom prst="ellipse">
            <a:avLst/>
          </a:prstGeom>
          <a:solidFill>
            <a:srgbClr val="00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50976" y="562356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81328" y="555955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18232B"/>
                </a:solidFill>
                <a:latin typeface="Arial"/>
              </a:rPr>
              <a:t>SLA escalation works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63640" y="1783080"/>
            <a:ext cx="5257800" cy="4315968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63640" y="1783080"/>
            <a:ext cx="5257800" cy="109728"/>
          </a:xfrm>
          <a:prstGeom prst="rect">
            <a:avLst/>
          </a:prstGeom>
          <a:solidFill>
            <a:srgbClr val="F06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37960" y="2029968"/>
            <a:ext cx="470916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F0674A"/>
                </a:solidFill>
                <a:latin typeface="Arial"/>
              </a:rPr>
              <a:t>Diagnose</a:t>
            </a:r>
          </a:p>
        </p:txBody>
      </p:sp>
      <p:sp>
        <p:nvSpPr>
          <p:cNvPr id="31" name="Oval 30"/>
          <p:cNvSpPr/>
          <p:nvPr/>
        </p:nvSpPr>
        <p:spPr>
          <a:xfrm>
            <a:off x="6556248" y="2743200"/>
            <a:ext cx="365760" cy="365760"/>
          </a:xfrm>
          <a:prstGeom prst="ellipse">
            <a:avLst/>
          </a:prstGeom>
          <a:solidFill>
            <a:srgbClr val="F06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56248" y="274320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86600" y="267919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8232B"/>
                </a:solidFill>
                <a:latin typeface="Arial"/>
              </a:rPr>
              <a:t>duplicate audience creates hidden concentration</a:t>
            </a:r>
          </a:p>
        </p:txBody>
      </p:sp>
      <p:sp>
        <p:nvSpPr>
          <p:cNvPr id="34" name="Oval 33"/>
          <p:cNvSpPr/>
          <p:nvPr/>
        </p:nvSpPr>
        <p:spPr>
          <a:xfrm>
            <a:off x="6556248" y="3566160"/>
            <a:ext cx="365760" cy="365760"/>
          </a:xfrm>
          <a:prstGeom prst="ellipse">
            <a:avLst/>
          </a:prstGeom>
          <a:solidFill>
            <a:srgbClr val="F06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56248" y="356616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86600" y="350215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8232B"/>
                </a:solidFill>
                <a:latin typeface="Arial"/>
              </a:rPr>
              <a:t>old brief version is blocked</a:t>
            </a:r>
          </a:p>
        </p:txBody>
      </p:sp>
      <p:sp>
        <p:nvSpPr>
          <p:cNvPr id="37" name="Oval 36"/>
          <p:cNvSpPr/>
          <p:nvPr/>
        </p:nvSpPr>
        <p:spPr>
          <a:xfrm>
            <a:off x="6556248" y="4389120"/>
            <a:ext cx="365760" cy="365760"/>
          </a:xfrm>
          <a:prstGeom prst="ellipse">
            <a:avLst/>
          </a:prstGeom>
          <a:solidFill>
            <a:srgbClr val="F06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56248" y="438912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086600" y="432511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8232B"/>
                </a:solidFill>
                <a:latin typeface="Arial"/>
              </a:rPr>
              <a:t>SLA miss triggers named escalation</a:t>
            </a:r>
          </a:p>
        </p:txBody>
      </p:sp>
      <p:sp>
        <p:nvSpPr>
          <p:cNvPr id="40" name="Oval 39"/>
          <p:cNvSpPr/>
          <p:nvPr/>
        </p:nvSpPr>
        <p:spPr>
          <a:xfrm>
            <a:off x="6556248" y="5212080"/>
            <a:ext cx="365760" cy="365760"/>
          </a:xfrm>
          <a:prstGeom prst="ellipse">
            <a:avLst/>
          </a:prstGeom>
          <a:solidFill>
            <a:srgbClr val="F06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56248" y="521208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086600" y="514807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8232B"/>
                </a:solidFill>
                <a:latin typeface="Arial"/>
              </a:rPr>
              <a:t>agent cannot change commercial terms</a:t>
            </a:r>
          </a:p>
        </p:txBody>
      </p:sp>
    </p:spTree>
  </p:cSld>
  <p:clrMapOvr>
    <a:masterClrMapping/>
  </p:clrMapOvr>
  <p:transition spd="fast">
    <p:fade/>
  </p:transition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874519"/>
            <a:ext cx="85953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0674A"/>
                </a:solidFill>
                <a:latin typeface="Arial"/>
              </a:rPr>
              <a:t>TOPIC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359152"/>
            <a:ext cx="9875520" cy="13258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8232B"/>
                </a:solidFill>
                <a:latin typeface="Arial"/>
              </a:rPr>
              <a:t>Campaign Reporting, Compliance and Optimisation with Agentic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6968" y="3840480"/>
            <a:ext cx="9052560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5E6872"/>
                </a:solidFill>
                <a:latin typeface="Arial"/>
              </a:rPr>
              <a:t>Tracked links -&gt; event facts -&gt; commission reconciliation -&gt; policy checks -&gt; controlled experiments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84080" y="731520"/>
            <a:ext cx="1828800" cy="10972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6400" b="1">
                <a:solidFill>
                  <a:srgbClr val="DDE4E8"/>
                </a:solidFill>
                <a:latin typeface="Arial"/>
              </a:rP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Agentic AI for Affiliate Marketing · C1319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133</a:t>
            </a:r>
          </a:p>
        </p:txBody>
      </p:sp>
    </p:spTree>
  </p:cSld>
  <p:clrMapOvr>
    <a:masterClrMapping/>
  </p:clrMapOvr>
  <p:transition spd="med">
    <p:push/>
  </p:transition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71600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008F83"/>
                </a:solidFill>
                <a:latin typeface="Arial"/>
              </a:rPr>
              <a:t>LO3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8232B"/>
                </a:solidFill>
                <a:latin typeface="Arial"/>
              </a:rPr>
              <a:t>Topic 03 Coverage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435608"/>
            <a:ext cx="10927080" cy="16459"/>
          </a:xfrm>
          <a:prstGeom prst="rect">
            <a:avLst/>
          </a:prstGeom>
          <a:solidFill>
            <a:srgbClr val="DD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134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1700784"/>
            <a:ext cx="5362956" cy="2139696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" y="1700784"/>
            <a:ext cx="73152" cy="2139696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22960" y="1920240"/>
            <a:ext cx="411480" cy="411480"/>
          </a:xfrm>
          <a:prstGeom prst="ellipse">
            <a:avLst/>
          </a:prstGeom>
          <a:solidFill>
            <a:srgbClr val="00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35024" y="1865376"/>
            <a:ext cx="4466844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08F83"/>
                </a:solidFill>
                <a:latin typeface="Arial"/>
              </a:rPr>
              <a:t>Mechanism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" y="2414016"/>
            <a:ext cx="4942332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8232B"/>
                </a:solidFill>
                <a:latin typeface="Arial"/>
              </a:rPr>
              <a:t>Preserve attribution grain from click and order events through commission settlement.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85916" y="1700784"/>
            <a:ext cx="5362956" cy="2139696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85916" y="1700784"/>
            <a:ext cx="73152" cy="2139696"/>
          </a:xfrm>
          <a:prstGeom prst="rect">
            <a:avLst/>
          </a:prstGeom>
          <a:solidFill>
            <a:srgbClr val="F06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87084" y="1920240"/>
            <a:ext cx="411480" cy="411480"/>
          </a:xfrm>
          <a:prstGeom prst="ellipse">
            <a:avLst/>
          </a:prstGeom>
          <a:solidFill>
            <a:srgbClr val="F06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87084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99148" y="1865376"/>
            <a:ext cx="4466844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0674A"/>
                </a:solidFill>
                <a:latin typeface="Arial"/>
              </a:rPr>
              <a:t>Mechanism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96228" y="2414016"/>
            <a:ext cx="4942332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8232B"/>
                </a:solidFill>
                <a:latin typeface="Arial"/>
              </a:rPr>
              <a:t>Calculate traffic, conversion, revenue, commission and ROI with explicit denominators.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" y="4041648"/>
            <a:ext cx="5362956" cy="2139696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1792" y="4041648"/>
            <a:ext cx="73152" cy="2139696"/>
          </a:xfrm>
          <a:prstGeom prst="rect">
            <a:avLst/>
          </a:prstGeom>
          <a:solidFill>
            <a:srgbClr val="EE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22960" y="4261104"/>
            <a:ext cx="411480" cy="411480"/>
          </a:xfrm>
          <a:prstGeom prst="ellipse">
            <a:avLst/>
          </a:prstGeom>
          <a:solidFill>
            <a:srgbClr val="EEA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4261104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35024" y="4206240"/>
            <a:ext cx="4466844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EEA900"/>
                </a:solidFill>
                <a:latin typeface="Arial"/>
              </a:rPr>
              <a:t>Mechanism 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" y="4754880"/>
            <a:ext cx="4942332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8232B"/>
                </a:solidFill>
                <a:latin typeface="Arial"/>
              </a:rPr>
              <a:t>Gate content and partner actions with disclosure, brand, privacy and policy controls.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85916" y="4041648"/>
            <a:ext cx="5362956" cy="2139696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85916" y="4041648"/>
            <a:ext cx="73152" cy="2139696"/>
          </a:xfrm>
          <a:prstGeom prst="rect">
            <a:avLst/>
          </a:prstGeom>
          <a:solidFill>
            <a:srgbClr val="3543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387084" y="4261104"/>
            <a:ext cx="411480" cy="411480"/>
          </a:xfrm>
          <a:prstGeom prst="ellipse">
            <a:avLst/>
          </a:prstGeom>
          <a:solidFill>
            <a:srgbClr val="3543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87084" y="4261104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99148" y="4206240"/>
            <a:ext cx="4466844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354352"/>
                </a:solidFill>
                <a:latin typeface="Arial"/>
              </a:rPr>
              <a:t>Mechanism 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96228" y="4754880"/>
            <a:ext cx="4942332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8232B"/>
                </a:solidFill>
                <a:latin typeface="Arial"/>
              </a:rPr>
              <a:t>Convert dashboard evidence into reversible tests with human ownership and guardrails.</a:t>
            </a:r>
          </a:p>
        </p:txBody>
      </p:sp>
    </p:spTree>
  </p:cSld>
  <p:clrMapOvr>
    <a:masterClrMapping/>
  </p:clrMapOvr>
  <p:transition spd="fast">
    <p:fade/>
  </p:transition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71600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008F83"/>
                </a:solidFill>
                <a:latin typeface="Arial"/>
              </a:rPr>
              <a:t>VISUAL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8232B"/>
                </a:solidFill>
                <a:latin typeface="Arial"/>
              </a:rPr>
              <a:t>Attribution Evidence Drives Controlled Optimisation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435608"/>
            <a:ext cx="10927080" cy="16459"/>
          </a:xfrm>
          <a:prstGeom prst="rect">
            <a:avLst/>
          </a:prstGeom>
          <a:solidFill>
            <a:srgbClr val="DD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135</a:t>
            </a:r>
          </a:p>
        </p:txBody>
      </p:sp>
      <p:pic>
        <p:nvPicPr>
          <p:cNvPr id="10" name="Picture 9" descr="affiliate-performance-loop-v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755648"/>
            <a:ext cx="8001000" cy="4443984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8887968" y="1783080"/>
            <a:ext cx="2523744" cy="758952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887968" y="1783080"/>
            <a:ext cx="64008" cy="758952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89136" y="1856232"/>
            <a:ext cx="210312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150" b="1">
                <a:solidFill>
                  <a:srgbClr val="008F83"/>
                </a:solidFill>
                <a:latin typeface="Arial"/>
              </a:rPr>
              <a:t>Content</a:t>
            </a:r>
          </a:p>
          <a:p>
            <a:pPr algn="l">
              <a:spcAft>
                <a:spcPts val="100"/>
              </a:spcAft>
            </a:pPr>
            <a:r>
              <a:rPr sz="1050" b="0">
                <a:solidFill>
                  <a:srgbClr val="18232B"/>
                </a:solidFill>
                <a:latin typeface="Arial"/>
              </a:rPr>
              <a:t>unique tracked links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87968" y="2633472"/>
            <a:ext cx="2523744" cy="758952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887968" y="2633472"/>
            <a:ext cx="64008" cy="758952"/>
          </a:xfrm>
          <a:prstGeom prst="rect">
            <a:avLst/>
          </a:prstGeom>
          <a:solidFill>
            <a:srgbClr val="F06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89136" y="2706624"/>
            <a:ext cx="210312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150" b="1">
                <a:solidFill>
                  <a:srgbClr val="F0674A"/>
                </a:solidFill>
                <a:latin typeface="Arial"/>
              </a:rPr>
              <a:t>Ledger</a:t>
            </a:r>
          </a:p>
          <a:p>
            <a:pPr algn="l">
              <a:spcAft>
                <a:spcPts val="100"/>
              </a:spcAft>
            </a:pPr>
            <a:r>
              <a:rPr sz="1050" b="0">
                <a:solidFill>
                  <a:srgbClr val="18232B"/>
                </a:solidFill>
                <a:latin typeface="Arial"/>
              </a:rPr>
              <a:t>click, conversion and payout grain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887968" y="3483864"/>
            <a:ext cx="2523744" cy="758952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887968" y="3483864"/>
            <a:ext cx="64008" cy="758952"/>
          </a:xfrm>
          <a:prstGeom prst="rect">
            <a:avLst/>
          </a:prstGeom>
          <a:solidFill>
            <a:srgbClr val="EE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89136" y="3557016"/>
            <a:ext cx="210312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150" b="1">
                <a:solidFill>
                  <a:srgbClr val="EEA900"/>
                </a:solidFill>
                <a:latin typeface="Arial"/>
              </a:rPr>
              <a:t>Dashboard</a:t>
            </a:r>
          </a:p>
          <a:p>
            <a:pPr algn="l">
              <a:spcAft>
                <a:spcPts val="100"/>
              </a:spcAft>
            </a:pPr>
            <a:r>
              <a:rPr sz="1050" b="0">
                <a:solidFill>
                  <a:srgbClr val="18232B"/>
                </a:solidFill>
                <a:latin typeface="Arial"/>
              </a:rPr>
              <a:t>traffic, revenue and ROI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887968" y="4334256"/>
            <a:ext cx="2523744" cy="758952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887968" y="4334256"/>
            <a:ext cx="64008" cy="758952"/>
          </a:xfrm>
          <a:prstGeom prst="rect">
            <a:avLst/>
          </a:prstGeom>
          <a:solidFill>
            <a:srgbClr val="3543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89136" y="4407408"/>
            <a:ext cx="210312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150" b="1">
                <a:solidFill>
                  <a:srgbClr val="354352"/>
                </a:solidFill>
                <a:latin typeface="Arial"/>
              </a:rPr>
              <a:t>AI analyst</a:t>
            </a:r>
          </a:p>
          <a:p>
            <a:pPr algn="l">
              <a:spcAft>
                <a:spcPts val="100"/>
              </a:spcAft>
            </a:pPr>
            <a:r>
              <a:rPr sz="1050" b="0">
                <a:solidFill>
                  <a:srgbClr val="18232B"/>
                </a:solidFill>
                <a:latin typeface="Arial"/>
              </a:rPr>
              <a:t>anomaly and hypothesis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887968" y="5184648"/>
            <a:ext cx="2523744" cy="758952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887968" y="5184648"/>
            <a:ext cx="64008" cy="758952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89136" y="5257800"/>
            <a:ext cx="210312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150" b="1">
                <a:solidFill>
                  <a:srgbClr val="008F83"/>
                </a:solidFill>
                <a:latin typeface="Arial"/>
              </a:rPr>
              <a:t>Human owner</a:t>
            </a:r>
          </a:p>
          <a:p>
            <a:pPr algn="l">
              <a:spcAft>
                <a:spcPts val="100"/>
              </a:spcAft>
            </a:pPr>
            <a:r>
              <a:rPr sz="1050" b="0">
                <a:solidFill>
                  <a:srgbClr val="18232B"/>
                </a:solidFill>
                <a:latin typeface="Arial"/>
              </a:rPr>
              <a:t>approve reversible change</a:t>
            </a:r>
          </a:p>
        </p:txBody>
      </p:sp>
    </p:spTree>
  </p:cSld>
  <p:clrMapOvr>
    <a:masterClrMapping/>
  </p:clrMapOvr>
  <p:transition spd="fast">
    <p:fade/>
  </p:transition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71600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008F83"/>
                </a:solidFill>
                <a:latin typeface="Arial"/>
              </a:rPr>
              <a:t>RUNTIME TRACE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8232B"/>
                </a:solidFill>
                <a:latin typeface="Arial"/>
              </a:rPr>
              <a:t>Campaign Runtime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435608"/>
            <a:ext cx="10927080" cy="16459"/>
          </a:xfrm>
          <a:prstGeom prst="rect">
            <a:avLst/>
          </a:prstGeom>
          <a:solidFill>
            <a:srgbClr val="DD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136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240280"/>
            <a:ext cx="1967788" cy="301752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322222" y="2532888"/>
            <a:ext cx="640080" cy="640080"/>
          </a:xfrm>
          <a:prstGeom prst="ellipse">
            <a:avLst/>
          </a:prstGeom>
          <a:solidFill>
            <a:srgbClr val="00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2222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18232B"/>
                </a:solidFill>
                <a:latin typeface="Arial"/>
              </a:rPr>
              <a:t>Approve brief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626156" y="3749040"/>
            <a:ext cx="256032" cy="0"/>
          </a:xfrm>
          <a:prstGeom prst="line">
            <a:avLst/>
          </a:prstGeom>
          <a:ln w="31750">
            <a:solidFill>
              <a:srgbClr val="008F8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882188" y="2240280"/>
            <a:ext cx="1967788" cy="301752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46042" y="2532888"/>
            <a:ext cx="640080" cy="640080"/>
          </a:xfrm>
          <a:prstGeom prst="ellipse">
            <a:avLst/>
          </a:prstGeom>
          <a:solidFill>
            <a:srgbClr val="F06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4604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9191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18232B"/>
                </a:solidFill>
                <a:latin typeface="Arial"/>
              </a:rPr>
              <a:t>Issue partner links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849976" y="3749040"/>
            <a:ext cx="256032" cy="0"/>
          </a:xfrm>
          <a:prstGeom prst="line">
            <a:avLst/>
          </a:prstGeom>
          <a:ln w="31750">
            <a:solidFill>
              <a:srgbClr val="008F8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106008" y="2240280"/>
            <a:ext cx="1967788" cy="301752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69862" y="2532888"/>
            <a:ext cx="640080" cy="640080"/>
          </a:xfrm>
          <a:prstGeom prst="ellipse">
            <a:avLst/>
          </a:prstGeom>
          <a:solidFill>
            <a:srgbClr val="EEA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986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573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18232B"/>
                </a:solidFill>
                <a:latin typeface="Arial"/>
              </a:rPr>
              <a:t>Publish content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73796" y="3749040"/>
            <a:ext cx="256032" cy="0"/>
          </a:xfrm>
          <a:prstGeom prst="line">
            <a:avLst/>
          </a:prstGeom>
          <a:ln w="31750">
            <a:solidFill>
              <a:srgbClr val="008F8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329828" y="2240280"/>
            <a:ext cx="1967788" cy="301752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93682" y="2532888"/>
            <a:ext cx="640080" cy="640080"/>
          </a:xfrm>
          <a:prstGeom prst="ellipse">
            <a:avLst/>
          </a:prstGeom>
          <a:solidFill>
            <a:srgbClr val="3543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9368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3955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18232B"/>
                </a:solidFill>
                <a:latin typeface="Arial"/>
              </a:rPr>
              <a:t>Capture click and order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297616" y="3749040"/>
            <a:ext cx="256032" cy="0"/>
          </a:xfrm>
          <a:prstGeom prst="line">
            <a:avLst/>
          </a:prstGeom>
          <a:ln w="31750">
            <a:solidFill>
              <a:srgbClr val="008F8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553648" y="2240280"/>
            <a:ext cx="1967788" cy="301752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217502" y="2532888"/>
            <a:ext cx="640080" cy="640080"/>
          </a:xfrm>
          <a:prstGeom prst="ellipse">
            <a:avLst/>
          </a:prstGeom>
          <a:solidFill>
            <a:srgbClr val="00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1750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6337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18232B"/>
                </a:solidFill>
                <a:latin typeface="Arial"/>
              </a:rPr>
              <a:t>Validate and settle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3232" y="5577840"/>
            <a:ext cx="10698480" cy="4206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5E6872"/>
                </a:solidFill>
                <a:latin typeface="Arial"/>
              </a:rPr>
              <a:t>Read left to right. Each boundary has a named payload, state transition and owner.</a:t>
            </a:r>
          </a:p>
        </p:txBody>
      </p:sp>
    </p:spTree>
  </p:cSld>
  <p:clrMapOvr>
    <a:masterClrMapping/>
  </p:clrMapOvr>
  <p:transition spd="fast">
    <p:fade/>
  </p:transition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71600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008F83"/>
                </a:solidFill>
                <a:latin typeface="Arial"/>
              </a:rPr>
              <a:t>RUNTIME TRACE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8232B"/>
                </a:solidFill>
                <a:latin typeface="Arial"/>
              </a:rPr>
              <a:t>Attribution Event Pipeline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435608"/>
            <a:ext cx="10927080" cy="16459"/>
          </a:xfrm>
          <a:prstGeom prst="rect">
            <a:avLst/>
          </a:prstGeom>
          <a:solidFill>
            <a:srgbClr val="DD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137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240280"/>
            <a:ext cx="1967788" cy="301752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322222" y="2532888"/>
            <a:ext cx="640080" cy="640080"/>
          </a:xfrm>
          <a:prstGeom prst="ellipse">
            <a:avLst/>
          </a:prstGeom>
          <a:solidFill>
            <a:srgbClr val="00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2222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18232B"/>
                </a:solidFill>
                <a:latin typeface="Arial"/>
              </a:rPr>
              <a:t>Receive event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626156" y="3749040"/>
            <a:ext cx="256032" cy="0"/>
          </a:xfrm>
          <a:prstGeom prst="line">
            <a:avLst/>
          </a:prstGeom>
          <a:ln w="31750">
            <a:solidFill>
              <a:srgbClr val="008F8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882188" y="2240280"/>
            <a:ext cx="1967788" cy="301752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46042" y="2532888"/>
            <a:ext cx="640080" cy="640080"/>
          </a:xfrm>
          <a:prstGeom prst="ellipse">
            <a:avLst/>
          </a:prstGeom>
          <a:solidFill>
            <a:srgbClr val="F06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4604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9191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18232B"/>
                </a:solidFill>
                <a:latin typeface="Arial"/>
              </a:rPr>
              <a:t>Verify identity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849976" y="3749040"/>
            <a:ext cx="256032" cy="0"/>
          </a:xfrm>
          <a:prstGeom prst="line">
            <a:avLst/>
          </a:prstGeom>
          <a:ln w="31750">
            <a:solidFill>
              <a:srgbClr val="008F8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106008" y="2240280"/>
            <a:ext cx="1967788" cy="301752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69862" y="2532888"/>
            <a:ext cx="640080" cy="640080"/>
          </a:xfrm>
          <a:prstGeom prst="ellipse">
            <a:avLst/>
          </a:prstGeom>
          <a:solidFill>
            <a:srgbClr val="EEA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986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573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18232B"/>
                </a:solidFill>
                <a:latin typeface="Arial"/>
              </a:rPr>
              <a:t>Deduplicate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73796" y="3749040"/>
            <a:ext cx="256032" cy="0"/>
          </a:xfrm>
          <a:prstGeom prst="line">
            <a:avLst/>
          </a:prstGeom>
          <a:ln w="31750">
            <a:solidFill>
              <a:srgbClr val="008F8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329828" y="2240280"/>
            <a:ext cx="1967788" cy="301752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93682" y="2532888"/>
            <a:ext cx="640080" cy="640080"/>
          </a:xfrm>
          <a:prstGeom prst="ellipse">
            <a:avLst/>
          </a:prstGeom>
          <a:solidFill>
            <a:srgbClr val="3543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9368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3955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18232B"/>
                </a:solidFill>
                <a:latin typeface="Arial"/>
              </a:rPr>
              <a:t>Join partner and campaign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297616" y="3749040"/>
            <a:ext cx="256032" cy="0"/>
          </a:xfrm>
          <a:prstGeom prst="line">
            <a:avLst/>
          </a:prstGeom>
          <a:ln w="31750">
            <a:solidFill>
              <a:srgbClr val="008F8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553648" y="2240280"/>
            <a:ext cx="1967788" cy="301752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217502" y="2532888"/>
            <a:ext cx="640080" cy="640080"/>
          </a:xfrm>
          <a:prstGeom prst="ellipse">
            <a:avLst/>
          </a:prstGeom>
          <a:solidFill>
            <a:srgbClr val="00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1750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6337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18232B"/>
                </a:solidFill>
                <a:latin typeface="Arial"/>
              </a:rPr>
              <a:t>Store immutable fact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3232" y="5577840"/>
            <a:ext cx="10698480" cy="4206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5E6872"/>
                </a:solidFill>
                <a:latin typeface="Arial"/>
              </a:rPr>
              <a:t>Read left to right. Each boundary has a named payload, state transition and owner.</a:t>
            </a:r>
          </a:p>
        </p:txBody>
      </p:sp>
    </p:spTree>
  </p:cSld>
  <p:clrMapOvr>
    <a:masterClrMapping/>
  </p:clrMapOvr>
  <p:transition spd="fast">
    <p:fade/>
  </p:transition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71600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008F83"/>
                </a:solidFill>
                <a:latin typeface="Arial"/>
              </a:rPr>
              <a:t>RUNTIME TRACE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8232B"/>
                </a:solidFill>
                <a:latin typeface="Arial"/>
              </a:rPr>
              <a:t>Commission Reconciliation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435608"/>
            <a:ext cx="10927080" cy="16459"/>
          </a:xfrm>
          <a:prstGeom prst="rect">
            <a:avLst/>
          </a:prstGeom>
          <a:solidFill>
            <a:srgbClr val="DD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138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240280"/>
            <a:ext cx="1967788" cy="301752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322222" y="2532888"/>
            <a:ext cx="640080" cy="640080"/>
          </a:xfrm>
          <a:prstGeom prst="ellipse">
            <a:avLst/>
          </a:prstGeom>
          <a:solidFill>
            <a:srgbClr val="00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2222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18232B"/>
                </a:solidFill>
                <a:latin typeface="Arial"/>
              </a:rPr>
              <a:t>Import approved orders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626156" y="3749040"/>
            <a:ext cx="256032" cy="0"/>
          </a:xfrm>
          <a:prstGeom prst="line">
            <a:avLst/>
          </a:prstGeom>
          <a:ln w="31750">
            <a:solidFill>
              <a:srgbClr val="008F8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882188" y="2240280"/>
            <a:ext cx="1967788" cy="301752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46042" y="2532888"/>
            <a:ext cx="640080" cy="640080"/>
          </a:xfrm>
          <a:prstGeom prst="ellipse">
            <a:avLst/>
          </a:prstGeom>
          <a:solidFill>
            <a:srgbClr val="F06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4604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9191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18232B"/>
                </a:solidFill>
                <a:latin typeface="Arial"/>
              </a:rPr>
              <a:t>Apply programme terms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849976" y="3749040"/>
            <a:ext cx="256032" cy="0"/>
          </a:xfrm>
          <a:prstGeom prst="line">
            <a:avLst/>
          </a:prstGeom>
          <a:ln w="31750">
            <a:solidFill>
              <a:srgbClr val="008F8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106008" y="2240280"/>
            <a:ext cx="1967788" cy="301752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69862" y="2532888"/>
            <a:ext cx="640080" cy="640080"/>
          </a:xfrm>
          <a:prstGeom prst="ellipse">
            <a:avLst/>
          </a:prstGeom>
          <a:solidFill>
            <a:srgbClr val="EEA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986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573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18232B"/>
                </a:solidFill>
                <a:latin typeface="Arial"/>
              </a:rPr>
              <a:t>Subtract reversals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73796" y="3749040"/>
            <a:ext cx="256032" cy="0"/>
          </a:xfrm>
          <a:prstGeom prst="line">
            <a:avLst/>
          </a:prstGeom>
          <a:ln w="31750">
            <a:solidFill>
              <a:srgbClr val="008F8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329828" y="2240280"/>
            <a:ext cx="1967788" cy="301752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93682" y="2532888"/>
            <a:ext cx="640080" cy="640080"/>
          </a:xfrm>
          <a:prstGeom prst="ellipse">
            <a:avLst/>
          </a:prstGeom>
          <a:solidFill>
            <a:srgbClr val="3543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9368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3955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18232B"/>
                </a:solidFill>
                <a:latin typeface="Arial"/>
              </a:rPr>
              <a:t>Compare network statement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297616" y="3749040"/>
            <a:ext cx="256032" cy="0"/>
          </a:xfrm>
          <a:prstGeom prst="line">
            <a:avLst/>
          </a:prstGeom>
          <a:ln w="31750">
            <a:solidFill>
              <a:srgbClr val="008F8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553648" y="2240280"/>
            <a:ext cx="1967788" cy="301752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217502" y="2532888"/>
            <a:ext cx="640080" cy="640080"/>
          </a:xfrm>
          <a:prstGeom prst="ellipse">
            <a:avLst/>
          </a:prstGeom>
          <a:solidFill>
            <a:srgbClr val="00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1750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6337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18232B"/>
                </a:solidFill>
                <a:latin typeface="Arial"/>
              </a:rPr>
              <a:t>Approve payout variance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3232" y="5577840"/>
            <a:ext cx="10698480" cy="4206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5E6872"/>
                </a:solidFill>
                <a:latin typeface="Arial"/>
              </a:rPr>
              <a:t>Read left to right. Each boundary has a named payload, state transition and owner.</a:t>
            </a:r>
          </a:p>
        </p:txBody>
      </p:sp>
    </p:spTree>
  </p:cSld>
  <p:clrMapOvr>
    <a:masterClrMapping/>
  </p:clrMapOvr>
  <p:transition spd="fast">
    <p:fade/>
  </p:transition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71600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008F83"/>
                </a:solidFill>
                <a:latin typeface="Arial"/>
              </a:rPr>
              <a:t>RUNTIME TRACE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8232B"/>
                </a:solidFill>
                <a:latin typeface="Arial"/>
              </a:rPr>
              <a:t>Compliance Review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435608"/>
            <a:ext cx="10927080" cy="16459"/>
          </a:xfrm>
          <a:prstGeom prst="rect">
            <a:avLst/>
          </a:prstGeom>
          <a:solidFill>
            <a:srgbClr val="DD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139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240280"/>
            <a:ext cx="1967788" cy="301752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322222" y="2532888"/>
            <a:ext cx="640080" cy="640080"/>
          </a:xfrm>
          <a:prstGeom prst="ellipse">
            <a:avLst/>
          </a:prstGeom>
          <a:solidFill>
            <a:srgbClr val="00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2222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18232B"/>
                </a:solidFill>
                <a:latin typeface="Arial"/>
              </a:rPr>
              <a:t>Load content and policy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626156" y="3749040"/>
            <a:ext cx="256032" cy="0"/>
          </a:xfrm>
          <a:prstGeom prst="line">
            <a:avLst/>
          </a:prstGeom>
          <a:ln w="31750">
            <a:solidFill>
              <a:srgbClr val="008F8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882188" y="2240280"/>
            <a:ext cx="1967788" cy="301752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46042" y="2532888"/>
            <a:ext cx="640080" cy="640080"/>
          </a:xfrm>
          <a:prstGeom prst="ellipse">
            <a:avLst/>
          </a:prstGeom>
          <a:solidFill>
            <a:srgbClr val="F06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4604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9191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18232B"/>
                </a:solidFill>
                <a:latin typeface="Arial"/>
              </a:rPr>
              <a:t>Detect claims and disclosure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849976" y="3749040"/>
            <a:ext cx="256032" cy="0"/>
          </a:xfrm>
          <a:prstGeom prst="line">
            <a:avLst/>
          </a:prstGeom>
          <a:ln w="31750">
            <a:solidFill>
              <a:srgbClr val="008F8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106008" y="2240280"/>
            <a:ext cx="1967788" cy="301752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69862" y="2532888"/>
            <a:ext cx="640080" cy="640080"/>
          </a:xfrm>
          <a:prstGeom prst="ellipse">
            <a:avLst/>
          </a:prstGeom>
          <a:solidFill>
            <a:srgbClr val="EEA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986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573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18232B"/>
                </a:solidFill>
                <a:latin typeface="Arial"/>
              </a:rPr>
              <a:t>Check evidence and placement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73796" y="3749040"/>
            <a:ext cx="256032" cy="0"/>
          </a:xfrm>
          <a:prstGeom prst="line">
            <a:avLst/>
          </a:prstGeom>
          <a:ln w="31750">
            <a:solidFill>
              <a:srgbClr val="008F8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329828" y="2240280"/>
            <a:ext cx="1967788" cy="301752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93682" y="2532888"/>
            <a:ext cx="640080" cy="640080"/>
          </a:xfrm>
          <a:prstGeom prst="ellipse">
            <a:avLst/>
          </a:prstGeom>
          <a:solidFill>
            <a:srgbClr val="3543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9368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3955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18232B"/>
                </a:solidFill>
                <a:latin typeface="Arial"/>
              </a:rPr>
              <a:t>Human resolves flags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297616" y="3749040"/>
            <a:ext cx="256032" cy="0"/>
          </a:xfrm>
          <a:prstGeom prst="line">
            <a:avLst/>
          </a:prstGeom>
          <a:ln w="31750">
            <a:solidFill>
              <a:srgbClr val="008F8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553648" y="2240280"/>
            <a:ext cx="1967788" cy="301752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217502" y="2532888"/>
            <a:ext cx="640080" cy="640080"/>
          </a:xfrm>
          <a:prstGeom prst="ellipse">
            <a:avLst/>
          </a:prstGeom>
          <a:solidFill>
            <a:srgbClr val="00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1750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6337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18232B"/>
                </a:solidFill>
                <a:latin typeface="Arial"/>
              </a:rPr>
              <a:t>Archive decision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3232" y="5577840"/>
            <a:ext cx="10698480" cy="4206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5E6872"/>
                </a:solidFill>
                <a:latin typeface="Arial"/>
              </a:rPr>
              <a:t>Read left to right. Each boundary has a named payload, state transition and owner.</a:t>
            </a:r>
          </a:p>
        </p:txBody>
      </p:sp>
    </p:spTree>
  </p:cSld>
  <p:clrMapOvr>
    <a:masterClrMapping/>
  </p:clrMapOvr>
  <p:transition spd="fast">
    <p:fade/>
  </p:transition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71600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008F83"/>
                </a:solidFill>
                <a:latin typeface="Arial"/>
              </a:rPr>
              <a:t>RUNTIME TRACE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8232B"/>
                </a:solidFill>
                <a:latin typeface="Arial"/>
              </a:rPr>
              <a:t>Agentic Reporting Loop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435608"/>
            <a:ext cx="10927080" cy="16459"/>
          </a:xfrm>
          <a:prstGeom prst="rect">
            <a:avLst/>
          </a:prstGeom>
          <a:solidFill>
            <a:srgbClr val="DD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140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240280"/>
            <a:ext cx="1967788" cy="301752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322222" y="2532888"/>
            <a:ext cx="640080" cy="640080"/>
          </a:xfrm>
          <a:prstGeom prst="ellipse">
            <a:avLst/>
          </a:prstGeom>
          <a:solidFill>
            <a:srgbClr val="00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2222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18232B"/>
                </a:solidFill>
                <a:latin typeface="Arial"/>
              </a:rPr>
              <a:t>Read validated facts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626156" y="3749040"/>
            <a:ext cx="256032" cy="0"/>
          </a:xfrm>
          <a:prstGeom prst="line">
            <a:avLst/>
          </a:prstGeom>
          <a:ln w="31750">
            <a:solidFill>
              <a:srgbClr val="008F8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882188" y="2240280"/>
            <a:ext cx="1967788" cy="301752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46042" y="2532888"/>
            <a:ext cx="640080" cy="640080"/>
          </a:xfrm>
          <a:prstGeom prst="ellipse">
            <a:avLst/>
          </a:prstGeom>
          <a:solidFill>
            <a:srgbClr val="F06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4604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9191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18232B"/>
                </a:solidFill>
                <a:latin typeface="Arial"/>
              </a:rPr>
              <a:t>Calculate deterministic metrics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849976" y="3749040"/>
            <a:ext cx="256032" cy="0"/>
          </a:xfrm>
          <a:prstGeom prst="line">
            <a:avLst/>
          </a:prstGeom>
          <a:ln w="31750">
            <a:solidFill>
              <a:srgbClr val="008F8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106008" y="2240280"/>
            <a:ext cx="1967788" cy="301752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69862" y="2532888"/>
            <a:ext cx="640080" cy="640080"/>
          </a:xfrm>
          <a:prstGeom prst="ellipse">
            <a:avLst/>
          </a:prstGeom>
          <a:solidFill>
            <a:srgbClr val="EEA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986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573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18232B"/>
                </a:solidFill>
                <a:latin typeface="Arial"/>
              </a:rPr>
              <a:t>Agent explains variance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73796" y="3749040"/>
            <a:ext cx="256032" cy="0"/>
          </a:xfrm>
          <a:prstGeom prst="line">
            <a:avLst/>
          </a:prstGeom>
          <a:ln w="31750">
            <a:solidFill>
              <a:srgbClr val="008F8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329828" y="2240280"/>
            <a:ext cx="1967788" cy="301752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93682" y="2532888"/>
            <a:ext cx="640080" cy="640080"/>
          </a:xfrm>
          <a:prstGeom prst="ellipse">
            <a:avLst/>
          </a:prstGeom>
          <a:solidFill>
            <a:srgbClr val="3543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9368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3955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18232B"/>
                </a:solidFill>
                <a:latin typeface="Arial"/>
              </a:rPr>
              <a:t>Reviewer challenges inference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297616" y="3749040"/>
            <a:ext cx="256032" cy="0"/>
          </a:xfrm>
          <a:prstGeom prst="line">
            <a:avLst/>
          </a:prstGeom>
          <a:ln w="31750">
            <a:solidFill>
              <a:srgbClr val="008F8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553648" y="2240280"/>
            <a:ext cx="1967788" cy="301752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217502" y="2532888"/>
            <a:ext cx="640080" cy="640080"/>
          </a:xfrm>
          <a:prstGeom prst="ellipse">
            <a:avLst/>
          </a:prstGeom>
          <a:solidFill>
            <a:srgbClr val="00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1750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6337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18232B"/>
                </a:solidFill>
                <a:latin typeface="Arial"/>
              </a:rPr>
              <a:t>Publish approved report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3232" y="5577840"/>
            <a:ext cx="10698480" cy="4206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5E6872"/>
                </a:solidFill>
                <a:latin typeface="Arial"/>
              </a:rPr>
              <a:t>Read left to right. Each boundary has a named payload, state transition and owner.</a:t>
            </a:r>
          </a:p>
        </p:txBody>
      </p:sp>
    </p:spTree>
  </p:cSld>
  <p:clrMapOvr>
    <a:masterClrMapping/>
  </p:clrMapOvr>
  <p:transition spd="fast">
    <p:fade/>
  </p:transition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71600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008F83"/>
                </a:solidFill>
                <a:latin typeface="Arial"/>
              </a:rPr>
              <a:t>RUNTIME TRACE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8232B"/>
                </a:solidFill>
                <a:latin typeface="Arial"/>
              </a:rPr>
              <a:t>Optimisation Experiment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435608"/>
            <a:ext cx="10927080" cy="16459"/>
          </a:xfrm>
          <a:prstGeom prst="rect">
            <a:avLst/>
          </a:prstGeom>
          <a:solidFill>
            <a:srgbClr val="DD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141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240280"/>
            <a:ext cx="1967788" cy="301752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322222" y="2532888"/>
            <a:ext cx="640080" cy="640080"/>
          </a:xfrm>
          <a:prstGeom prst="ellipse">
            <a:avLst/>
          </a:prstGeom>
          <a:solidFill>
            <a:srgbClr val="00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2222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18232B"/>
                </a:solidFill>
                <a:latin typeface="Arial"/>
              </a:rPr>
              <a:t>Diagnose bottleneck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626156" y="3749040"/>
            <a:ext cx="256032" cy="0"/>
          </a:xfrm>
          <a:prstGeom prst="line">
            <a:avLst/>
          </a:prstGeom>
          <a:ln w="31750">
            <a:solidFill>
              <a:srgbClr val="008F8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882188" y="2240280"/>
            <a:ext cx="1967788" cy="301752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46042" y="2532888"/>
            <a:ext cx="640080" cy="640080"/>
          </a:xfrm>
          <a:prstGeom prst="ellipse">
            <a:avLst/>
          </a:prstGeom>
          <a:solidFill>
            <a:srgbClr val="F06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4604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9191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18232B"/>
                </a:solidFill>
                <a:latin typeface="Arial"/>
              </a:rPr>
              <a:t>Write hypothesis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849976" y="3749040"/>
            <a:ext cx="256032" cy="0"/>
          </a:xfrm>
          <a:prstGeom prst="line">
            <a:avLst/>
          </a:prstGeom>
          <a:ln w="31750">
            <a:solidFill>
              <a:srgbClr val="008F8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106008" y="2240280"/>
            <a:ext cx="1967788" cy="301752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69862" y="2532888"/>
            <a:ext cx="640080" cy="640080"/>
          </a:xfrm>
          <a:prstGeom prst="ellipse">
            <a:avLst/>
          </a:prstGeom>
          <a:solidFill>
            <a:srgbClr val="EEA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986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573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18232B"/>
                </a:solidFill>
                <a:latin typeface="Arial"/>
              </a:rPr>
              <a:t>Choose primary metric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73796" y="3749040"/>
            <a:ext cx="256032" cy="0"/>
          </a:xfrm>
          <a:prstGeom prst="line">
            <a:avLst/>
          </a:prstGeom>
          <a:ln w="31750">
            <a:solidFill>
              <a:srgbClr val="008F8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329828" y="2240280"/>
            <a:ext cx="1967788" cy="301752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93682" y="2532888"/>
            <a:ext cx="640080" cy="640080"/>
          </a:xfrm>
          <a:prstGeom prst="ellipse">
            <a:avLst/>
          </a:prstGeom>
          <a:solidFill>
            <a:srgbClr val="3543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9368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3955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18232B"/>
                </a:solidFill>
                <a:latin typeface="Arial"/>
              </a:rPr>
              <a:t>Set guardrails and stop rule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297616" y="3749040"/>
            <a:ext cx="256032" cy="0"/>
          </a:xfrm>
          <a:prstGeom prst="line">
            <a:avLst/>
          </a:prstGeom>
          <a:ln w="31750">
            <a:solidFill>
              <a:srgbClr val="008F8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553648" y="2240280"/>
            <a:ext cx="1967788" cy="301752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217502" y="2532888"/>
            <a:ext cx="640080" cy="640080"/>
          </a:xfrm>
          <a:prstGeom prst="ellipse">
            <a:avLst/>
          </a:prstGeom>
          <a:solidFill>
            <a:srgbClr val="00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1750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6337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18232B"/>
                </a:solidFill>
                <a:latin typeface="Arial"/>
              </a:rPr>
              <a:t>Approve bounded test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3232" y="5577840"/>
            <a:ext cx="10698480" cy="4206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5E6872"/>
                </a:solidFill>
                <a:latin typeface="Arial"/>
              </a:rPr>
              <a:t>Read left to right. Each boundary has a named payload, state transition and owner.</a:t>
            </a:r>
          </a:p>
        </p:txBody>
      </p:sp>
    </p:spTree>
  </p:cSld>
  <p:clrMapOvr>
    <a:masterClrMapping/>
  </p:clrMapOvr>
  <p:transition spd="fast">
    <p:fade/>
  </p:transition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71600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008F83"/>
                </a:solidFill>
                <a:latin typeface="Arial"/>
              </a:rPr>
              <a:t>CONCRETE CONTRACT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8232B"/>
                </a:solidFill>
                <a:latin typeface="Arial"/>
              </a:rPr>
              <a:t>Tracked Link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435608"/>
            <a:ext cx="10927080" cy="16459"/>
          </a:xfrm>
          <a:prstGeom prst="rect">
            <a:avLst/>
          </a:prstGeom>
          <a:solidFill>
            <a:srgbClr val="DD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142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" y="1783080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4944" y="1783080"/>
            <a:ext cx="1755648" cy="841248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1901952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partner_id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15184" y="1892808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18232B"/>
                </a:solidFill>
                <a:latin typeface="Arial"/>
              </a:rPr>
              <a:t>affiliate identity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9632" y="1783080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99632" y="1783080"/>
            <a:ext cx="1755648" cy="841248"/>
          </a:xfrm>
          <a:prstGeom prst="rect">
            <a:avLst/>
          </a:prstGeom>
          <a:solidFill>
            <a:srgbClr val="F06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1901952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campaign_id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19872" y="1892808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18232B"/>
                </a:solidFill>
                <a:latin typeface="Arial"/>
              </a:rPr>
              <a:t>strategic initiative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4944" y="2807208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4944" y="2807208"/>
            <a:ext cx="1755648" cy="841248"/>
          </a:xfrm>
          <a:prstGeom prst="rect">
            <a:avLst/>
          </a:prstGeom>
          <a:solidFill>
            <a:srgbClr val="EE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" y="2926080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creative_id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15184" y="2916936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18232B"/>
                </a:solidFill>
                <a:latin typeface="Arial"/>
              </a:rPr>
              <a:t>approved asset version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99632" y="2807208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99632" y="2807208"/>
            <a:ext cx="1755648" cy="841248"/>
          </a:xfrm>
          <a:prstGeom prst="rect">
            <a:avLst/>
          </a:prstGeom>
          <a:solidFill>
            <a:srgbClr val="3543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9360" y="2926080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destination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19872" y="2916936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18232B"/>
                </a:solidFill>
                <a:latin typeface="Arial"/>
              </a:rPr>
              <a:t>allow-listed landing page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94944" y="3831336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94944" y="3831336"/>
            <a:ext cx="1755648" cy="841248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4672" y="3950208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utm_fields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15184" y="3941064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18232B"/>
                </a:solidFill>
                <a:latin typeface="Arial"/>
              </a:rPr>
              <a:t>channel reporting labels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99632" y="3831336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99632" y="3831336"/>
            <a:ext cx="1755648" cy="841248"/>
          </a:xfrm>
          <a:prstGeom prst="rect">
            <a:avLst/>
          </a:prstGeom>
          <a:solidFill>
            <a:srgbClr val="F06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09360" y="3950208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issued_at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19872" y="3941064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18232B"/>
                </a:solidFill>
                <a:latin typeface="Arial"/>
              </a:rPr>
              <a:t>traceable link version</a:t>
            </a:r>
          </a:p>
        </p:txBody>
      </p:sp>
    </p:spTree>
  </p:cSld>
  <p:clrMapOvr>
    <a:masterClrMapping/>
  </p:clrMapOvr>
  <p:transition spd="fast">
    <p:fade/>
  </p:transition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71600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008F83"/>
                </a:solidFill>
                <a:latin typeface="Arial"/>
              </a:rPr>
              <a:t>CONCRETE CONTRACT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8232B"/>
                </a:solidFill>
                <a:latin typeface="Arial"/>
              </a:rPr>
              <a:t>Click Event Fact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435608"/>
            <a:ext cx="10927080" cy="16459"/>
          </a:xfrm>
          <a:prstGeom prst="rect">
            <a:avLst/>
          </a:prstGeom>
          <a:solidFill>
            <a:srgbClr val="DD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143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" y="1783080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4944" y="1783080"/>
            <a:ext cx="1755648" cy="841248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1901952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click_id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15184" y="1892808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18232B"/>
                </a:solidFill>
                <a:latin typeface="Arial"/>
              </a:rPr>
              <a:t>deduplication key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9632" y="1783080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99632" y="1783080"/>
            <a:ext cx="1755648" cy="841248"/>
          </a:xfrm>
          <a:prstGeom prst="rect">
            <a:avLst/>
          </a:prstGeom>
          <a:solidFill>
            <a:srgbClr val="F06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1901952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occurred_at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19872" y="1892808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18232B"/>
                </a:solidFill>
                <a:latin typeface="Arial"/>
              </a:rPr>
              <a:t>UTC event time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4944" y="2807208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4944" y="2807208"/>
            <a:ext cx="1755648" cy="841248"/>
          </a:xfrm>
          <a:prstGeom prst="rect">
            <a:avLst/>
          </a:prstGeom>
          <a:solidFill>
            <a:srgbClr val="EE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" y="2926080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partner_id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15184" y="2916936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18232B"/>
                </a:solidFill>
                <a:latin typeface="Arial"/>
              </a:rPr>
              <a:t>source affiliate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99632" y="2807208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99632" y="2807208"/>
            <a:ext cx="1755648" cy="841248"/>
          </a:xfrm>
          <a:prstGeom prst="rect">
            <a:avLst/>
          </a:prstGeom>
          <a:solidFill>
            <a:srgbClr val="3543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9360" y="2926080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campaign_id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19872" y="2916936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18232B"/>
                </a:solidFill>
                <a:latin typeface="Arial"/>
              </a:rPr>
              <a:t>linked campaign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94944" y="3831336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94944" y="3831336"/>
            <a:ext cx="1755648" cy="841248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4672" y="3950208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landing_page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15184" y="3941064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18232B"/>
                </a:solidFill>
                <a:latin typeface="Arial"/>
              </a:rPr>
              <a:t>approved destination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99632" y="3831336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99632" y="3831336"/>
            <a:ext cx="1755648" cy="841248"/>
          </a:xfrm>
          <a:prstGeom prst="rect">
            <a:avLst/>
          </a:prstGeom>
          <a:solidFill>
            <a:srgbClr val="F06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09360" y="3950208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consent_state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19872" y="3941064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18232B"/>
                </a:solidFill>
                <a:latin typeface="Arial"/>
              </a:rPr>
              <a:t>lawful tracking boundary</a:t>
            </a:r>
          </a:p>
        </p:txBody>
      </p:sp>
    </p:spTree>
  </p:cSld>
  <p:clrMapOvr>
    <a:masterClrMapping/>
  </p:clrMapOvr>
  <p:transition spd="fast">
    <p:fade/>
  </p:transition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71600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008F83"/>
                </a:solidFill>
                <a:latin typeface="Arial"/>
              </a:rPr>
              <a:t>CONCRETE CONTRACT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8232B"/>
                </a:solidFill>
                <a:latin typeface="Arial"/>
              </a:rPr>
              <a:t>Conversion Event Fact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435608"/>
            <a:ext cx="10927080" cy="16459"/>
          </a:xfrm>
          <a:prstGeom prst="rect">
            <a:avLst/>
          </a:prstGeom>
          <a:solidFill>
            <a:srgbClr val="DD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144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" y="1783080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4944" y="1783080"/>
            <a:ext cx="1755648" cy="841248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1901952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order_id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15184" y="1892808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18232B"/>
                </a:solidFill>
                <a:latin typeface="Arial"/>
              </a:rPr>
              <a:t>merchant transaction key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9632" y="1783080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99632" y="1783080"/>
            <a:ext cx="1755648" cy="841248"/>
          </a:xfrm>
          <a:prstGeom prst="rect">
            <a:avLst/>
          </a:prstGeom>
          <a:solidFill>
            <a:srgbClr val="F06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1901952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click_id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19872" y="1892808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18232B"/>
                </a:solidFill>
                <a:latin typeface="Arial"/>
              </a:rPr>
              <a:t>attribution join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4944" y="2807208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4944" y="2807208"/>
            <a:ext cx="1755648" cy="841248"/>
          </a:xfrm>
          <a:prstGeom prst="rect">
            <a:avLst/>
          </a:prstGeom>
          <a:solidFill>
            <a:srgbClr val="EE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" y="2926080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approved_revenue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15184" y="2916936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18232B"/>
                </a:solidFill>
                <a:latin typeface="Arial"/>
              </a:rPr>
              <a:t>net eligible amount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99632" y="2807208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99632" y="2807208"/>
            <a:ext cx="1755648" cy="841248"/>
          </a:xfrm>
          <a:prstGeom prst="rect">
            <a:avLst/>
          </a:prstGeom>
          <a:solidFill>
            <a:srgbClr val="3543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9360" y="2926080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status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19872" y="2916936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18232B"/>
                </a:solidFill>
                <a:latin typeface="Arial"/>
              </a:rPr>
              <a:t>pending | approved | reversed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94944" y="3831336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94944" y="3831336"/>
            <a:ext cx="1755648" cy="841248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4672" y="3950208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commission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15184" y="3941064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18232B"/>
                </a:solidFill>
                <a:latin typeface="Arial"/>
              </a:rPr>
              <a:t>calculated liability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99632" y="3831336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99632" y="3831336"/>
            <a:ext cx="1755648" cy="841248"/>
          </a:xfrm>
          <a:prstGeom prst="rect">
            <a:avLst/>
          </a:prstGeom>
          <a:solidFill>
            <a:srgbClr val="F06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09360" y="3950208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validated_at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19872" y="3941064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18232B"/>
                </a:solidFill>
                <a:latin typeface="Arial"/>
              </a:rPr>
              <a:t>merchant decision time</a:t>
            </a:r>
          </a:p>
        </p:txBody>
      </p:sp>
    </p:spTree>
  </p:cSld>
  <p:clrMapOvr>
    <a:masterClrMapping/>
  </p:clrMapOvr>
  <p:transition spd="fast">
    <p:fade/>
  </p:transition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71600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008F83"/>
                </a:solidFill>
                <a:latin typeface="Arial"/>
              </a:rPr>
              <a:t>CONCRETE CONTRACT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8232B"/>
                </a:solidFill>
                <a:latin typeface="Arial"/>
              </a:rPr>
              <a:t>Campaign KPI Dictionary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435608"/>
            <a:ext cx="10927080" cy="16459"/>
          </a:xfrm>
          <a:prstGeom prst="rect">
            <a:avLst/>
          </a:prstGeom>
          <a:solidFill>
            <a:srgbClr val="DD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145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" y="1783080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4944" y="1783080"/>
            <a:ext cx="1755648" cy="841248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1901952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metric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15184" y="1892808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18232B"/>
                </a:solidFill>
                <a:latin typeface="Arial"/>
              </a:rPr>
              <a:t>human-readable name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9632" y="1783080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99632" y="1783080"/>
            <a:ext cx="1755648" cy="841248"/>
          </a:xfrm>
          <a:prstGeom prst="rect">
            <a:avLst/>
          </a:prstGeom>
          <a:solidFill>
            <a:srgbClr val="F06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1901952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numerator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19872" y="1892808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18232B"/>
                </a:solidFill>
                <a:latin typeface="Arial"/>
              </a:rPr>
              <a:t>event or money field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4944" y="2807208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4944" y="2807208"/>
            <a:ext cx="1755648" cy="841248"/>
          </a:xfrm>
          <a:prstGeom prst="rect">
            <a:avLst/>
          </a:prstGeom>
          <a:solidFill>
            <a:srgbClr val="EE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" y="2926080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denominator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15184" y="2916936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18232B"/>
                </a:solidFill>
                <a:latin typeface="Arial"/>
              </a:rPr>
              <a:t>eligible population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99632" y="2807208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99632" y="2807208"/>
            <a:ext cx="1755648" cy="841248"/>
          </a:xfrm>
          <a:prstGeom prst="rect">
            <a:avLst/>
          </a:prstGeom>
          <a:solidFill>
            <a:srgbClr val="3543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9360" y="2926080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grain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19872" y="2916936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18232B"/>
                </a:solidFill>
                <a:latin typeface="Arial"/>
              </a:rPr>
              <a:t>partner, campaign and period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94944" y="3831336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94944" y="3831336"/>
            <a:ext cx="1755648" cy="841248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4672" y="3950208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exclusions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15184" y="3941064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18232B"/>
                </a:solidFill>
                <a:latin typeface="Arial"/>
              </a:rPr>
              <a:t>bots, reversals or invalid traffic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99632" y="3831336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99632" y="3831336"/>
            <a:ext cx="1755648" cy="841248"/>
          </a:xfrm>
          <a:prstGeom prst="rect">
            <a:avLst/>
          </a:prstGeom>
          <a:solidFill>
            <a:srgbClr val="F06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09360" y="3950208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owner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19872" y="3941064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18232B"/>
                </a:solidFill>
                <a:latin typeface="Arial"/>
              </a:rPr>
              <a:t>definition steward</a:t>
            </a:r>
          </a:p>
        </p:txBody>
      </p:sp>
    </p:spTree>
  </p:cSld>
  <p:clrMapOvr>
    <a:masterClrMapping/>
  </p:clrMapOvr>
  <p:transition spd="fast">
    <p:fade/>
  </p:transition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71600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008F83"/>
                </a:solidFill>
                <a:latin typeface="Arial"/>
              </a:rPr>
              <a:t>CONCRETE CONTRACT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8232B"/>
                </a:solidFill>
                <a:latin typeface="Arial"/>
              </a:rPr>
              <a:t>Compliance Finding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435608"/>
            <a:ext cx="10927080" cy="16459"/>
          </a:xfrm>
          <a:prstGeom prst="rect">
            <a:avLst/>
          </a:prstGeom>
          <a:solidFill>
            <a:srgbClr val="DD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146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" y="1783080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4944" y="1783080"/>
            <a:ext cx="1755648" cy="841248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1901952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finding_id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15184" y="1892808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18232B"/>
                </a:solidFill>
                <a:latin typeface="Arial"/>
              </a:rPr>
              <a:t>stable review key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9632" y="1783080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99632" y="1783080"/>
            <a:ext cx="1755648" cy="841248"/>
          </a:xfrm>
          <a:prstGeom prst="rect">
            <a:avLst/>
          </a:prstGeom>
          <a:solidFill>
            <a:srgbClr val="F06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1901952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rule_id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19872" y="1892808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18232B"/>
                </a:solidFill>
                <a:latin typeface="Arial"/>
              </a:rPr>
              <a:t>policy or legal requirement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4944" y="2807208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4944" y="2807208"/>
            <a:ext cx="1755648" cy="841248"/>
          </a:xfrm>
          <a:prstGeom prst="rect">
            <a:avLst/>
          </a:prstGeom>
          <a:solidFill>
            <a:srgbClr val="EE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" y="2926080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evidence_span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15184" y="2916936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18232B"/>
                </a:solidFill>
                <a:latin typeface="Arial"/>
              </a:rPr>
              <a:t>exact content location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99632" y="2807208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99632" y="2807208"/>
            <a:ext cx="1755648" cy="841248"/>
          </a:xfrm>
          <a:prstGeom prst="rect">
            <a:avLst/>
          </a:prstGeom>
          <a:solidFill>
            <a:srgbClr val="3543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9360" y="2926080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severity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19872" y="2916936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18232B"/>
                </a:solidFill>
                <a:latin typeface="Arial"/>
              </a:rPr>
              <a:t>low | medium | high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94944" y="3831336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94944" y="3831336"/>
            <a:ext cx="1755648" cy="841248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4672" y="3950208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resolution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15184" y="3941064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18232B"/>
                </a:solidFill>
                <a:latin typeface="Arial"/>
              </a:rPr>
              <a:t>change, accept or reject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99632" y="3831336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99632" y="3831336"/>
            <a:ext cx="1755648" cy="841248"/>
          </a:xfrm>
          <a:prstGeom prst="rect">
            <a:avLst/>
          </a:prstGeom>
          <a:solidFill>
            <a:srgbClr val="F06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09360" y="3950208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reviewer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19872" y="3941064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18232B"/>
                </a:solidFill>
                <a:latin typeface="Arial"/>
              </a:rPr>
              <a:t>human decision owner</a:t>
            </a:r>
          </a:p>
        </p:txBody>
      </p:sp>
    </p:spTree>
  </p:cSld>
  <p:clrMapOvr>
    <a:masterClrMapping/>
  </p:clrMapOvr>
  <p:transition spd="fast">
    <p:fade/>
  </p:transition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71600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008F83"/>
                </a:solidFill>
                <a:latin typeface="Arial"/>
              </a:rPr>
              <a:t>CONCRETE CONTRACT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8232B"/>
                </a:solidFill>
                <a:latin typeface="Arial"/>
              </a:rPr>
              <a:t>Affiliate Progress Report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435608"/>
            <a:ext cx="10927080" cy="16459"/>
          </a:xfrm>
          <a:prstGeom prst="rect">
            <a:avLst/>
          </a:prstGeom>
          <a:solidFill>
            <a:srgbClr val="DD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147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" y="1783080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4944" y="1783080"/>
            <a:ext cx="1755648" cy="841248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1901952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period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15184" y="1892808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18232B"/>
                </a:solidFill>
                <a:latin typeface="Arial"/>
              </a:rPr>
              <a:t>reporting window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9632" y="1783080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99632" y="1783080"/>
            <a:ext cx="1755648" cy="841248"/>
          </a:xfrm>
          <a:prstGeom prst="rect">
            <a:avLst/>
          </a:prstGeom>
          <a:solidFill>
            <a:srgbClr val="F06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1901952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portfolio_summary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19872" y="1892808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18232B"/>
                </a:solidFill>
                <a:latin typeface="Arial"/>
              </a:rPr>
              <a:t>active partners and mix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4944" y="2807208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4944" y="2807208"/>
            <a:ext cx="1755648" cy="841248"/>
          </a:xfrm>
          <a:prstGeom prst="rect">
            <a:avLst/>
          </a:prstGeom>
          <a:solidFill>
            <a:srgbClr val="EE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" y="2926080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performance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15184" y="2916936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18232B"/>
                </a:solidFill>
                <a:latin typeface="Arial"/>
              </a:rPr>
              <a:t>traffic, conversion and revenue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99632" y="2807208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99632" y="2807208"/>
            <a:ext cx="1755648" cy="841248"/>
          </a:xfrm>
          <a:prstGeom prst="rect">
            <a:avLst/>
          </a:prstGeom>
          <a:solidFill>
            <a:srgbClr val="3543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9360" y="2926080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commission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19872" y="2916936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18232B"/>
                </a:solidFill>
                <a:latin typeface="Arial"/>
              </a:rPr>
              <a:t>gross, reversal and payable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94944" y="3831336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94944" y="3831336"/>
            <a:ext cx="1755648" cy="841248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4672" y="3950208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compliance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15184" y="3941064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18232B"/>
                </a:solidFill>
                <a:latin typeface="Arial"/>
              </a:rPr>
              <a:t>findings and status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99632" y="3831336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99632" y="3831336"/>
            <a:ext cx="1755648" cy="841248"/>
          </a:xfrm>
          <a:prstGeom prst="rect">
            <a:avLst/>
          </a:prstGeom>
          <a:solidFill>
            <a:srgbClr val="F06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09360" y="3950208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actions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19872" y="3941064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18232B"/>
                </a:solidFill>
                <a:latin typeface="Arial"/>
              </a:rPr>
              <a:t>owner, due date and expected effect</a:t>
            </a:r>
          </a:p>
        </p:txBody>
      </p:sp>
    </p:spTree>
  </p:cSld>
  <p:clrMapOvr>
    <a:masterClrMapping/>
  </p:clrMapOvr>
  <p:transition spd="fast">
    <p:fade/>
  </p:transition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71600"/>
          </a:xfrm>
          <a:prstGeom prst="rect">
            <a:avLst/>
          </a:prstGeom>
          <a:solidFill>
            <a:srgbClr val="EE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EEA900"/>
                </a:solidFill>
                <a:latin typeface="Arial"/>
              </a:rPr>
              <a:t>WORKED CALCULATION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8232B"/>
                </a:solidFill>
                <a:latin typeface="Arial"/>
              </a:rPr>
              <a:t>Click-Through Rate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435608"/>
            <a:ext cx="10927080" cy="16459"/>
          </a:xfrm>
          <a:prstGeom prst="rect">
            <a:avLst/>
          </a:prstGeom>
          <a:solidFill>
            <a:srgbClr val="DD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148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28800"/>
            <a:ext cx="10744200" cy="114300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029968"/>
            <a:ext cx="10241280" cy="7315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18232B"/>
                </a:solidFill>
                <a:latin typeface="Arial"/>
              </a:rPr>
              <a:t>CTR = affiliate-link clicks / eligible content impressions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3246120"/>
            <a:ext cx="672084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493008"/>
            <a:ext cx="621792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008F83"/>
                </a:solidFill>
                <a:latin typeface="Arial"/>
              </a:rPr>
              <a:t>REALISTIC INPUTS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977639"/>
            <a:ext cx="6217920" cy="8686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8232B"/>
                </a:solidFill>
                <a:latin typeface="Arial"/>
              </a:rPr>
              <a:t>4,200 / 120,000 = 3.5%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99248" y="3246120"/>
            <a:ext cx="3758184" cy="1920240"/>
          </a:xfrm>
          <a:prstGeom prst="roundRect">
            <a:avLst/>
          </a:prstGeom>
          <a:solidFill>
            <a:srgbClr val="FFF6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73568" y="3502152"/>
            <a:ext cx="324612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EEA900"/>
                </a:solidFill>
                <a:latin typeface="Arial"/>
              </a:rPr>
              <a:t>DECISION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73568" y="3913632"/>
            <a:ext cx="3246120" cy="9601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1">
                <a:solidFill>
                  <a:srgbClr val="18232B"/>
                </a:solidFill>
                <a:latin typeface="Arial"/>
              </a:rPr>
              <a:t>Impressions must use the same content, audience and window as clicks.</a:t>
            </a:r>
          </a:p>
        </p:txBody>
      </p:sp>
    </p:spTree>
  </p:cSld>
  <p:clrMapOvr>
    <a:masterClrMapping/>
  </p:clrMapOvr>
  <p:transition spd="fast">
    <p:fade/>
  </p:transition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71600"/>
          </a:xfrm>
          <a:prstGeom prst="rect">
            <a:avLst/>
          </a:prstGeom>
          <a:solidFill>
            <a:srgbClr val="EE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EEA900"/>
                </a:solidFill>
                <a:latin typeface="Arial"/>
              </a:rPr>
              <a:t>WORKED CALCULATION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8232B"/>
                </a:solidFill>
                <a:latin typeface="Arial"/>
              </a:rPr>
              <a:t>Approved Conversion Rate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435608"/>
            <a:ext cx="10927080" cy="16459"/>
          </a:xfrm>
          <a:prstGeom prst="rect">
            <a:avLst/>
          </a:prstGeom>
          <a:solidFill>
            <a:srgbClr val="DD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149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28800"/>
            <a:ext cx="10744200" cy="114300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029968"/>
            <a:ext cx="10241280" cy="7315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18232B"/>
                </a:solidFill>
                <a:latin typeface="Arial"/>
              </a:rPr>
              <a:t>CVR = approved conversions / unique tracked clicks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3246120"/>
            <a:ext cx="672084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493008"/>
            <a:ext cx="621792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008F83"/>
                </a:solidFill>
                <a:latin typeface="Arial"/>
              </a:rPr>
              <a:t>REALISTIC INPUTS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977639"/>
            <a:ext cx="6217920" cy="8686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8232B"/>
                </a:solidFill>
                <a:latin typeface="Arial"/>
              </a:rPr>
              <a:t>168 / 4,200 = 4.0%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99248" y="3246120"/>
            <a:ext cx="3758184" cy="1920240"/>
          </a:xfrm>
          <a:prstGeom prst="roundRect">
            <a:avLst/>
          </a:prstGeom>
          <a:solidFill>
            <a:srgbClr val="FFF6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73568" y="3502152"/>
            <a:ext cx="324612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EEA900"/>
                </a:solidFill>
                <a:latin typeface="Arial"/>
              </a:rPr>
              <a:t>DECISION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73568" y="3913632"/>
            <a:ext cx="3246120" cy="9601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1">
                <a:solidFill>
                  <a:srgbClr val="18232B"/>
                </a:solidFill>
                <a:latin typeface="Arial"/>
              </a:rPr>
              <a:t>Pending or reversed orders do not prove completed commercial value.</a:t>
            </a:r>
          </a:p>
        </p:txBody>
      </p:sp>
    </p:spTree>
  </p:cSld>
  <p:clrMapOvr>
    <a:masterClrMapping/>
  </p:clrMapOvr>
  <p:transition spd="fast">
    <p:fade/>
  </p:transition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71600"/>
          </a:xfrm>
          <a:prstGeom prst="rect">
            <a:avLst/>
          </a:prstGeom>
          <a:solidFill>
            <a:srgbClr val="EE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EEA900"/>
                </a:solidFill>
                <a:latin typeface="Arial"/>
              </a:rPr>
              <a:t>WORKED CALCULATION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8232B"/>
                </a:solidFill>
                <a:latin typeface="Arial"/>
              </a:rPr>
              <a:t>Average Order Value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435608"/>
            <a:ext cx="10927080" cy="16459"/>
          </a:xfrm>
          <a:prstGeom prst="rect">
            <a:avLst/>
          </a:prstGeom>
          <a:solidFill>
            <a:srgbClr val="DD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150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28800"/>
            <a:ext cx="10744200" cy="114300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029968"/>
            <a:ext cx="10241280" cy="7315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18232B"/>
                </a:solidFill>
                <a:latin typeface="Arial"/>
              </a:rPr>
              <a:t>AOV = approved revenue / approved orders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3246120"/>
            <a:ext cx="672084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493008"/>
            <a:ext cx="621792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008F83"/>
                </a:solidFill>
                <a:latin typeface="Arial"/>
              </a:rPr>
              <a:t>REALISTIC INPUTS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977639"/>
            <a:ext cx="6217920" cy="8686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8232B"/>
                </a:solidFill>
                <a:latin typeface="Arial"/>
              </a:rPr>
              <a:t>$23,520 / 168 = $140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99248" y="3246120"/>
            <a:ext cx="3758184" cy="1920240"/>
          </a:xfrm>
          <a:prstGeom prst="roundRect">
            <a:avLst/>
          </a:prstGeom>
          <a:solidFill>
            <a:srgbClr val="FFF6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73568" y="3502152"/>
            <a:ext cx="324612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EEA900"/>
                </a:solidFill>
                <a:latin typeface="Arial"/>
              </a:rPr>
              <a:t>DECISION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73568" y="3913632"/>
            <a:ext cx="3246120" cy="9601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1">
                <a:solidFill>
                  <a:srgbClr val="18232B"/>
                </a:solidFill>
                <a:latin typeface="Arial"/>
              </a:rPr>
              <a:t>Segment by product and new/existing customer before applying one average to forecasts.</a:t>
            </a:r>
          </a:p>
        </p:txBody>
      </p:sp>
    </p:spTree>
  </p:cSld>
  <p:clrMapOvr>
    <a:masterClrMapping/>
  </p:clrMapOvr>
  <p:transition spd="fast">
    <p:fade/>
  </p:transition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71600"/>
          </a:xfrm>
          <a:prstGeom prst="rect">
            <a:avLst/>
          </a:prstGeom>
          <a:solidFill>
            <a:srgbClr val="EE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EEA900"/>
                </a:solidFill>
                <a:latin typeface="Arial"/>
              </a:rPr>
              <a:t>WORKED CALCULATION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8232B"/>
                </a:solidFill>
                <a:latin typeface="Arial"/>
              </a:rPr>
              <a:t>Commission Rate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435608"/>
            <a:ext cx="10927080" cy="16459"/>
          </a:xfrm>
          <a:prstGeom prst="rect">
            <a:avLst/>
          </a:prstGeom>
          <a:solidFill>
            <a:srgbClr val="DD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151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28800"/>
            <a:ext cx="10744200" cy="114300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029968"/>
            <a:ext cx="10241280" cy="7315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18232B"/>
                </a:solidFill>
                <a:latin typeface="Arial"/>
              </a:rPr>
              <a:t>Effective commission rate = payable commission / approved revenue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3246120"/>
            <a:ext cx="672084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493008"/>
            <a:ext cx="621792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008F83"/>
                </a:solidFill>
                <a:latin typeface="Arial"/>
              </a:rPr>
              <a:t>REALISTIC INPUTS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977639"/>
            <a:ext cx="6217920" cy="8686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8232B"/>
                </a:solidFill>
                <a:latin typeface="Arial"/>
              </a:rPr>
              <a:t>$2,688 / $23,520 = 11.43%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99248" y="3246120"/>
            <a:ext cx="3758184" cy="1920240"/>
          </a:xfrm>
          <a:prstGeom prst="roundRect">
            <a:avLst/>
          </a:prstGeom>
          <a:solidFill>
            <a:srgbClr val="FFF6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73568" y="3502152"/>
            <a:ext cx="324612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EEA900"/>
                </a:solidFill>
                <a:latin typeface="Arial"/>
              </a:rPr>
              <a:t>DECISION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73568" y="3913632"/>
            <a:ext cx="3246120" cy="9601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1">
                <a:solidFill>
                  <a:srgbClr val="18232B"/>
                </a:solidFill>
                <a:latin typeface="Arial"/>
              </a:rPr>
              <a:t>Tier bonuses and exclusions can make the effective rate differ from the headline rate.</a:t>
            </a:r>
          </a:p>
        </p:txBody>
      </p:sp>
    </p:spTree>
  </p:cSld>
  <p:clrMapOvr>
    <a:masterClrMapping/>
  </p:clrMapOvr>
  <p:transition spd="fast">
    <p:fade/>
  </p:transition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71600"/>
          </a:xfrm>
          <a:prstGeom prst="rect">
            <a:avLst/>
          </a:prstGeom>
          <a:solidFill>
            <a:srgbClr val="EE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EEA900"/>
                </a:solidFill>
                <a:latin typeface="Arial"/>
              </a:rPr>
              <a:t>WORKED CALCULATION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8232B"/>
                </a:solidFill>
                <a:latin typeface="Arial"/>
              </a:rPr>
              <a:t>Affiliate ROI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435608"/>
            <a:ext cx="10927080" cy="16459"/>
          </a:xfrm>
          <a:prstGeom prst="rect">
            <a:avLst/>
          </a:prstGeom>
          <a:solidFill>
            <a:srgbClr val="DD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152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28800"/>
            <a:ext cx="10744200" cy="114300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029968"/>
            <a:ext cx="10241280" cy="7315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18232B"/>
                </a:solidFill>
                <a:latin typeface="Arial"/>
              </a:rPr>
              <a:t>ROI = (attributed gross profit - commission - programme cost) / programme cost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3246120"/>
            <a:ext cx="672084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493008"/>
            <a:ext cx="621792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008F83"/>
                </a:solidFill>
                <a:latin typeface="Arial"/>
              </a:rPr>
              <a:t>REALISTIC INPUTS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977639"/>
            <a:ext cx="6217920" cy="8686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8232B"/>
                </a:solidFill>
                <a:latin typeface="Arial"/>
              </a:rPr>
              <a:t>($9,408 - $2,688 - $2,000) / $2,000 = 236%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99248" y="3246120"/>
            <a:ext cx="3758184" cy="1920240"/>
          </a:xfrm>
          <a:prstGeom prst="roundRect">
            <a:avLst/>
          </a:prstGeom>
          <a:solidFill>
            <a:srgbClr val="FFF6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73568" y="3502152"/>
            <a:ext cx="324612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EEA900"/>
                </a:solidFill>
                <a:latin typeface="Arial"/>
              </a:rPr>
              <a:t>DECISION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73568" y="3913632"/>
            <a:ext cx="3246120" cy="9601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1">
                <a:solidFill>
                  <a:srgbClr val="18232B"/>
                </a:solidFill>
                <a:latin typeface="Arial"/>
              </a:rPr>
              <a:t>Use gross profit, not revenue, and disclose attribution assumptions.</a:t>
            </a:r>
          </a:p>
        </p:txBody>
      </p:sp>
    </p:spTree>
  </p:cSld>
  <p:clrMapOvr>
    <a:masterClrMapping/>
  </p:clrMapOvr>
  <p:transition spd="fast">
    <p:fade/>
  </p:transition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71600"/>
          </a:xfrm>
          <a:prstGeom prst="rect">
            <a:avLst/>
          </a:prstGeom>
          <a:solidFill>
            <a:srgbClr val="EE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EEA900"/>
                </a:solidFill>
                <a:latin typeface="Arial"/>
              </a:rPr>
              <a:t>WORKED CALCULATION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8232B"/>
                </a:solidFill>
                <a:latin typeface="Arial"/>
              </a:rPr>
              <a:t>Variance Threshold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435608"/>
            <a:ext cx="10927080" cy="16459"/>
          </a:xfrm>
          <a:prstGeom prst="rect">
            <a:avLst/>
          </a:prstGeom>
          <a:solidFill>
            <a:srgbClr val="DD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153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28800"/>
            <a:ext cx="10744200" cy="114300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029968"/>
            <a:ext cx="10241280" cy="7315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18232B"/>
                </a:solidFill>
                <a:latin typeface="Arial"/>
              </a:rPr>
              <a:t>Variance % = (actual - plan) / plan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3246120"/>
            <a:ext cx="672084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493008"/>
            <a:ext cx="621792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008F83"/>
                </a:solidFill>
                <a:latin typeface="Arial"/>
              </a:rPr>
              <a:t>REALISTIC INPUTS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977639"/>
            <a:ext cx="6217920" cy="8686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8232B"/>
                </a:solidFill>
                <a:latin typeface="Arial"/>
              </a:rPr>
              <a:t>($23,520 - $20,000) / $20,000 = 17.6%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99248" y="3246120"/>
            <a:ext cx="3758184" cy="1920240"/>
          </a:xfrm>
          <a:prstGeom prst="roundRect">
            <a:avLst/>
          </a:prstGeom>
          <a:solidFill>
            <a:srgbClr val="FFF6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73568" y="3502152"/>
            <a:ext cx="324612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EEA900"/>
                </a:solidFill>
                <a:latin typeface="Arial"/>
              </a:rPr>
              <a:t>DECISION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73568" y="3913632"/>
            <a:ext cx="3246120" cy="9601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1">
                <a:solidFill>
                  <a:srgbClr val="18232B"/>
                </a:solidFill>
                <a:latin typeface="Arial"/>
              </a:rPr>
              <a:t>Materiality is an approved threshold; an agent should not invent it after seeing results.</a:t>
            </a:r>
          </a:p>
        </p:txBody>
      </p:sp>
    </p:spTree>
  </p:cSld>
  <p:clrMapOvr>
    <a:masterClrMapping/>
  </p:clrMapOvr>
  <p:transition spd="fast">
    <p:fade/>
  </p:transition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71600"/>
          </a:xfrm>
          <a:prstGeom prst="rect">
            <a:avLst/>
          </a:prstGeom>
          <a:solidFill>
            <a:srgbClr val="F06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0674A"/>
                </a:solidFill>
                <a:latin typeface="Arial"/>
              </a:rPr>
              <a:t>COMPARE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8232B"/>
                </a:solidFill>
                <a:latin typeface="Arial"/>
              </a:rPr>
              <a:t>First-Click vs Last-Click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435608"/>
            <a:ext cx="10927080" cy="16459"/>
          </a:xfrm>
          <a:prstGeom prst="rect">
            <a:avLst/>
          </a:prstGeom>
          <a:solidFill>
            <a:srgbClr val="DD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154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783080"/>
            <a:ext cx="5257800" cy="4315968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783080"/>
            <a:ext cx="5257800" cy="109728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2029968"/>
            <a:ext cx="470916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008F83"/>
                </a:solidFill>
                <a:latin typeface="Arial"/>
              </a:rPr>
              <a:t>First-click</a:t>
            </a:r>
          </a:p>
        </p:txBody>
      </p:sp>
      <p:sp>
        <p:nvSpPr>
          <p:cNvPr id="13" name="Oval 12"/>
          <p:cNvSpPr/>
          <p:nvPr/>
        </p:nvSpPr>
        <p:spPr>
          <a:xfrm>
            <a:off x="950976" y="2743200"/>
            <a:ext cx="365760" cy="365760"/>
          </a:xfrm>
          <a:prstGeom prst="ellipse">
            <a:avLst/>
          </a:prstGeom>
          <a:solidFill>
            <a:srgbClr val="00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0976" y="274320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1328" y="267919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8232B"/>
                </a:solidFill>
                <a:latin typeface="Arial"/>
              </a:rPr>
              <a:t>Credits discovery source</a:t>
            </a:r>
          </a:p>
        </p:txBody>
      </p:sp>
      <p:sp>
        <p:nvSpPr>
          <p:cNvPr id="16" name="Oval 15"/>
          <p:cNvSpPr/>
          <p:nvPr/>
        </p:nvSpPr>
        <p:spPr>
          <a:xfrm>
            <a:off x="950976" y="3566160"/>
            <a:ext cx="365760" cy="365760"/>
          </a:xfrm>
          <a:prstGeom prst="ellipse">
            <a:avLst/>
          </a:prstGeom>
          <a:solidFill>
            <a:srgbClr val="00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0976" y="356616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1328" y="350215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8232B"/>
                </a:solidFill>
                <a:latin typeface="Arial"/>
              </a:rPr>
              <a:t>Useful for acquisition analysis</a:t>
            </a:r>
          </a:p>
        </p:txBody>
      </p:sp>
      <p:sp>
        <p:nvSpPr>
          <p:cNvPr id="19" name="Oval 18"/>
          <p:cNvSpPr/>
          <p:nvPr/>
        </p:nvSpPr>
        <p:spPr>
          <a:xfrm>
            <a:off x="950976" y="4389120"/>
            <a:ext cx="365760" cy="365760"/>
          </a:xfrm>
          <a:prstGeom prst="ellipse">
            <a:avLst/>
          </a:prstGeom>
          <a:solidFill>
            <a:srgbClr val="00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976" y="438912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81328" y="432511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8232B"/>
                </a:solidFill>
                <a:latin typeface="Arial"/>
              </a:rPr>
              <a:t>Ignores closing influence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1783080"/>
            <a:ext cx="5257800" cy="4315968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63640" y="1783080"/>
            <a:ext cx="5257800" cy="109728"/>
          </a:xfrm>
          <a:prstGeom prst="rect">
            <a:avLst/>
          </a:prstGeom>
          <a:solidFill>
            <a:srgbClr val="F06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37960" y="2029968"/>
            <a:ext cx="470916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F0674A"/>
                </a:solidFill>
                <a:latin typeface="Arial"/>
              </a:rPr>
              <a:t>Last-click</a:t>
            </a:r>
          </a:p>
        </p:txBody>
      </p:sp>
      <p:sp>
        <p:nvSpPr>
          <p:cNvPr id="25" name="Oval 24"/>
          <p:cNvSpPr/>
          <p:nvPr/>
        </p:nvSpPr>
        <p:spPr>
          <a:xfrm>
            <a:off x="6556248" y="2743200"/>
            <a:ext cx="365760" cy="365760"/>
          </a:xfrm>
          <a:prstGeom prst="ellipse">
            <a:avLst/>
          </a:prstGeom>
          <a:solidFill>
            <a:srgbClr val="F06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56248" y="274320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86600" y="267919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8232B"/>
                </a:solidFill>
                <a:latin typeface="Arial"/>
              </a:rPr>
              <a:t>Credits final touch</a:t>
            </a:r>
          </a:p>
        </p:txBody>
      </p:sp>
      <p:sp>
        <p:nvSpPr>
          <p:cNvPr id="28" name="Oval 27"/>
          <p:cNvSpPr/>
          <p:nvPr/>
        </p:nvSpPr>
        <p:spPr>
          <a:xfrm>
            <a:off x="6556248" y="3566160"/>
            <a:ext cx="365760" cy="365760"/>
          </a:xfrm>
          <a:prstGeom prst="ellipse">
            <a:avLst/>
          </a:prstGeom>
          <a:solidFill>
            <a:srgbClr val="F06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56248" y="356616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86600" y="350215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8232B"/>
                </a:solidFill>
                <a:latin typeface="Arial"/>
              </a:rPr>
              <a:t>Common and operationally simple</a:t>
            </a:r>
          </a:p>
        </p:txBody>
      </p:sp>
      <p:sp>
        <p:nvSpPr>
          <p:cNvPr id="31" name="Oval 30"/>
          <p:cNvSpPr/>
          <p:nvPr/>
        </p:nvSpPr>
        <p:spPr>
          <a:xfrm>
            <a:off x="6556248" y="4389120"/>
            <a:ext cx="365760" cy="365760"/>
          </a:xfrm>
          <a:prstGeom prst="ellipse">
            <a:avLst/>
          </a:prstGeom>
          <a:solidFill>
            <a:srgbClr val="F06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56248" y="438912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86600" y="432511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8232B"/>
                </a:solidFill>
                <a:latin typeface="Arial"/>
              </a:rPr>
              <a:t>Ignores earlier assistance</a:t>
            </a:r>
          </a:p>
        </p:txBody>
      </p:sp>
    </p:spTree>
  </p:cSld>
  <p:clrMapOvr>
    <a:masterClrMapping/>
  </p:clrMapOvr>
  <p:transition spd="fast">
    <p:fade/>
  </p:transition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71600"/>
          </a:xfrm>
          <a:prstGeom prst="rect">
            <a:avLst/>
          </a:prstGeom>
          <a:solidFill>
            <a:srgbClr val="F06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0674A"/>
                </a:solidFill>
                <a:latin typeface="Arial"/>
              </a:rPr>
              <a:t>COMPARE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8232B"/>
                </a:solidFill>
                <a:latin typeface="Arial"/>
              </a:rPr>
              <a:t>Gross vs Approved Conversion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435608"/>
            <a:ext cx="10927080" cy="16459"/>
          </a:xfrm>
          <a:prstGeom prst="rect">
            <a:avLst/>
          </a:prstGeom>
          <a:solidFill>
            <a:srgbClr val="DD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155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783080"/>
            <a:ext cx="5257800" cy="4315968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783080"/>
            <a:ext cx="5257800" cy="109728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2029968"/>
            <a:ext cx="470916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008F83"/>
                </a:solidFill>
                <a:latin typeface="Arial"/>
              </a:rPr>
              <a:t>Gross</a:t>
            </a:r>
          </a:p>
        </p:txBody>
      </p:sp>
      <p:sp>
        <p:nvSpPr>
          <p:cNvPr id="13" name="Oval 12"/>
          <p:cNvSpPr/>
          <p:nvPr/>
        </p:nvSpPr>
        <p:spPr>
          <a:xfrm>
            <a:off x="950976" y="2743200"/>
            <a:ext cx="365760" cy="365760"/>
          </a:xfrm>
          <a:prstGeom prst="ellipse">
            <a:avLst/>
          </a:prstGeom>
          <a:solidFill>
            <a:srgbClr val="00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0976" y="274320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1328" y="267919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8232B"/>
                </a:solidFill>
                <a:latin typeface="Arial"/>
              </a:rPr>
              <a:t>Fast leading signal</a:t>
            </a:r>
          </a:p>
        </p:txBody>
      </p:sp>
      <p:sp>
        <p:nvSpPr>
          <p:cNvPr id="16" name="Oval 15"/>
          <p:cNvSpPr/>
          <p:nvPr/>
        </p:nvSpPr>
        <p:spPr>
          <a:xfrm>
            <a:off x="950976" y="3566160"/>
            <a:ext cx="365760" cy="365760"/>
          </a:xfrm>
          <a:prstGeom prst="ellipse">
            <a:avLst/>
          </a:prstGeom>
          <a:solidFill>
            <a:srgbClr val="00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0976" y="356616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1328" y="350215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8232B"/>
                </a:solidFill>
                <a:latin typeface="Arial"/>
              </a:rPr>
              <a:t>Includes pending and fraud</a:t>
            </a:r>
          </a:p>
        </p:txBody>
      </p:sp>
      <p:sp>
        <p:nvSpPr>
          <p:cNvPr id="19" name="Oval 18"/>
          <p:cNvSpPr/>
          <p:nvPr/>
        </p:nvSpPr>
        <p:spPr>
          <a:xfrm>
            <a:off x="950976" y="4389120"/>
            <a:ext cx="365760" cy="365760"/>
          </a:xfrm>
          <a:prstGeom prst="ellipse">
            <a:avLst/>
          </a:prstGeom>
          <a:solidFill>
            <a:srgbClr val="00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976" y="438912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81328" y="432511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8232B"/>
                </a:solidFill>
                <a:latin typeface="Arial"/>
              </a:rPr>
              <a:t>Overstates payable value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1783080"/>
            <a:ext cx="5257800" cy="4315968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63640" y="1783080"/>
            <a:ext cx="5257800" cy="109728"/>
          </a:xfrm>
          <a:prstGeom prst="rect">
            <a:avLst/>
          </a:prstGeom>
          <a:solidFill>
            <a:srgbClr val="F06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37960" y="2029968"/>
            <a:ext cx="470916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F0674A"/>
                </a:solidFill>
                <a:latin typeface="Arial"/>
              </a:rPr>
              <a:t>Approved</a:t>
            </a:r>
          </a:p>
        </p:txBody>
      </p:sp>
      <p:sp>
        <p:nvSpPr>
          <p:cNvPr id="25" name="Oval 24"/>
          <p:cNvSpPr/>
          <p:nvPr/>
        </p:nvSpPr>
        <p:spPr>
          <a:xfrm>
            <a:off x="6556248" y="2743200"/>
            <a:ext cx="365760" cy="365760"/>
          </a:xfrm>
          <a:prstGeom prst="ellipse">
            <a:avLst/>
          </a:prstGeom>
          <a:solidFill>
            <a:srgbClr val="F06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56248" y="274320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86600" y="267919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8232B"/>
                </a:solidFill>
                <a:latin typeface="Arial"/>
              </a:rPr>
              <a:t>Validated merchant outcome</a:t>
            </a:r>
          </a:p>
        </p:txBody>
      </p:sp>
      <p:sp>
        <p:nvSpPr>
          <p:cNvPr id="28" name="Oval 27"/>
          <p:cNvSpPr/>
          <p:nvPr/>
        </p:nvSpPr>
        <p:spPr>
          <a:xfrm>
            <a:off x="6556248" y="3566160"/>
            <a:ext cx="365760" cy="365760"/>
          </a:xfrm>
          <a:prstGeom prst="ellipse">
            <a:avLst/>
          </a:prstGeom>
          <a:solidFill>
            <a:srgbClr val="F06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56248" y="356616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86600" y="350215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8232B"/>
                </a:solidFill>
                <a:latin typeface="Arial"/>
              </a:rPr>
              <a:t>Supports settlement</a:t>
            </a:r>
          </a:p>
        </p:txBody>
      </p:sp>
      <p:sp>
        <p:nvSpPr>
          <p:cNvPr id="31" name="Oval 30"/>
          <p:cNvSpPr/>
          <p:nvPr/>
        </p:nvSpPr>
        <p:spPr>
          <a:xfrm>
            <a:off x="6556248" y="4389120"/>
            <a:ext cx="365760" cy="365760"/>
          </a:xfrm>
          <a:prstGeom prst="ellipse">
            <a:avLst/>
          </a:prstGeom>
          <a:solidFill>
            <a:srgbClr val="F06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56248" y="438912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86600" y="432511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8232B"/>
                </a:solidFill>
                <a:latin typeface="Arial"/>
              </a:rPr>
              <a:t>Arrives with delay</a:t>
            </a:r>
          </a:p>
        </p:txBody>
      </p:sp>
    </p:spTree>
  </p:cSld>
  <p:clrMapOvr>
    <a:masterClrMapping/>
  </p:clrMapOvr>
  <p:transition spd="fast">
    <p:fade/>
  </p:transition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71600"/>
          </a:xfrm>
          <a:prstGeom prst="rect">
            <a:avLst/>
          </a:prstGeom>
          <a:solidFill>
            <a:srgbClr val="F06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0674A"/>
                </a:solidFill>
                <a:latin typeface="Arial"/>
              </a:rPr>
              <a:t>COMPARE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8232B"/>
                </a:solidFill>
                <a:latin typeface="Arial"/>
              </a:rPr>
              <a:t>Platform Dashboard vs Reconciled Ledger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435608"/>
            <a:ext cx="10927080" cy="16459"/>
          </a:xfrm>
          <a:prstGeom prst="rect">
            <a:avLst/>
          </a:prstGeom>
          <a:solidFill>
            <a:srgbClr val="DD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156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783080"/>
            <a:ext cx="5257800" cy="4315968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783080"/>
            <a:ext cx="5257800" cy="109728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2029968"/>
            <a:ext cx="470916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008F83"/>
                </a:solidFill>
                <a:latin typeface="Arial"/>
              </a:rPr>
              <a:t>Platform</a:t>
            </a:r>
          </a:p>
        </p:txBody>
      </p:sp>
      <p:sp>
        <p:nvSpPr>
          <p:cNvPr id="13" name="Oval 12"/>
          <p:cNvSpPr/>
          <p:nvPr/>
        </p:nvSpPr>
        <p:spPr>
          <a:xfrm>
            <a:off x="950976" y="2743200"/>
            <a:ext cx="365760" cy="365760"/>
          </a:xfrm>
          <a:prstGeom prst="ellipse">
            <a:avLst/>
          </a:prstGeom>
          <a:solidFill>
            <a:srgbClr val="00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0976" y="274320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1328" y="267919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8232B"/>
                </a:solidFill>
                <a:latin typeface="Arial"/>
              </a:rPr>
              <a:t>Quick operational view</a:t>
            </a:r>
          </a:p>
        </p:txBody>
      </p:sp>
      <p:sp>
        <p:nvSpPr>
          <p:cNvPr id="16" name="Oval 15"/>
          <p:cNvSpPr/>
          <p:nvPr/>
        </p:nvSpPr>
        <p:spPr>
          <a:xfrm>
            <a:off x="950976" y="3566160"/>
            <a:ext cx="365760" cy="365760"/>
          </a:xfrm>
          <a:prstGeom prst="ellipse">
            <a:avLst/>
          </a:prstGeom>
          <a:solidFill>
            <a:srgbClr val="00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0976" y="356616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1328" y="350215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8232B"/>
                </a:solidFill>
                <a:latin typeface="Arial"/>
              </a:rPr>
              <a:t>Uses network definitions</a:t>
            </a:r>
          </a:p>
        </p:txBody>
      </p:sp>
      <p:sp>
        <p:nvSpPr>
          <p:cNvPr id="19" name="Oval 18"/>
          <p:cNvSpPr/>
          <p:nvPr/>
        </p:nvSpPr>
        <p:spPr>
          <a:xfrm>
            <a:off x="950976" y="4389120"/>
            <a:ext cx="365760" cy="365760"/>
          </a:xfrm>
          <a:prstGeom prst="ellipse">
            <a:avLst/>
          </a:prstGeom>
          <a:solidFill>
            <a:srgbClr val="00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976" y="438912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81328" y="432511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8232B"/>
                </a:solidFill>
                <a:latin typeface="Arial"/>
              </a:rPr>
              <a:t>May omit merchant reversals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1783080"/>
            <a:ext cx="5257800" cy="4315968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63640" y="1783080"/>
            <a:ext cx="5257800" cy="109728"/>
          </a:xfrm>
          <a:prstGeom prst="rect">
            <a:avLst/>
          </a:prstGeom>
          <a:solidFill>
            <a:srgbClr val="F06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37960" y="2029968"/>
            <a:ext cx="470916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F0674A"/>
                </a:solidFill>
                <a:latin typeface="Arial"/>
              </a:rPr>
              <a:t>Reconciled</a:t>
            </a:r>
          </a:p>
        </p:txBody>
      </p:sp>
      <p:sp>
        <p:nvSpPr>
          <p:cNvPr id="25" name="Oval 24"/>
          <p:cNvSpPr/>
          <p:nvPr/>
        </p:nvSpPr>
        <p:spPr>
          <a:xfrm>
            <a:off x="6556248" y="2743200"/>
            <a:ext cx="365760" cy="365760"/>
          </a:xfrm>
          <a:prstGeom prst="ellipse">
            <a:avLst/>
          </a:prstGeom>
          <a:solidFill>
            <a:srgbClr val="F06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56248" y="274320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86600" y="267919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8232B"/>
                </a:solidFill>
                <a:latin typeface="Arial"/>
              </a:rPr>
              <a:t>Joins merchant truth</a:t>
            </a:r>
          </a:p>
        </p:txBody>
      </p:sp>
      <p:sp>
        <p:nvSpPr>
          <p:cNvPr id="28" name="Oval 27"/>
          <p:cNvSpPr/>
          <p:nvPr/>
        </p:nvSpPr>
        <p:spPr>
          <a:xfrm>
            <a:off x="6556248" y="3566160"/>
            <a:ext cx="365760" cy="365760"/>
          </a:xfrm>
          <a:prstGeom prst="ellipse">
            <a:avLst/>
          </a:prstGeom>
          <a:solidFill>
            <a:srgbClr val="F06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56248" y="356616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86600" y="350215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8232B"/>
                </a:solidFill>
                <a:latin typeface="Arial"/>
              </a:rPr>
              <a:t>Supports finance and payout</a:t>
            </a:r>
          </a:p>
        </p:txBody>
      </p:sp>
      <p:sp>
        <p:nvSpPr>
          <p:cNvPr id="31" name="Oval 30"/>
          <p:cNvSpPr/>
          <p:nvPr/>
        </p:nvSpPr>
        <p:spPr>
          <a:xfrm>
            <a:off x="6556248" y="4389120"/>
            <a:ext cx="365760" cy="365760"/>
          </a:xfrm>
          <a:prstGeom prst="ellipse">
            <a:avLst/>
          </a:prstGeom>
          <a:solidFill>
            <a:srgbClr val="F06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56248" y="438912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86600" y="432511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8232B"/>
                </a:solidFill>
                <a:latin typeface="Arial"/>
              </a:rPr>
              <a:t>Needs identity and timing controls</a:t>
            </a:r>
          </a:p>
        </p:txBody>
      </p:sp>
    </p:spTree>
  </p:cSld>
  <p:clrMapOvr>
    <a:masterClrMapping/>
  </p:clrMapOvr>
  <p:transition spd="fast">
    <p:fade/>
  </p:transition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71600"/>
          </a:xfrm>
          <a:prstGeom prst="rect">
            <a:avLst/>
          </a:prstGeom>
          <a:solidFill>
            <a:srgbClr val="F06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0674A"/>
                </a:solidFill>
                <a:latin typeface="Arial"/>
              </a:rPr>
              <a:t>COMPARE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8232B"/>
                </a:solidFill>
                <a:latin typeface="Arial"/>
              </a:rPr>
              <a:t>Disclosure Present vs Disclosure Clear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435608"/>
            <a:ext cx="10927080" cy="16459"/>
          </a:xfrm>
          <a:prstGeom prst="rect">
            <a:avLst/>
          </a:prstGeom>
          <a:solidFill>
            <a:srgbClr val="DD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157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783080"/>
            <a:ext cx="5257800" cy="4315968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783080"/>
            <a:ext cx="5257800" cy="109728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2029968"/>
            <a:ext cx="470916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008F83"/>
                </a:solidFill>
                <a:latin typeface="Arial"/>
              </a:rPr>
              <a:t>Present</a:t>
            </a:r>
          </a:p>
        </p:txBody>
      </p:sp>
      <p:sp>
        <p:nvSpPr>
          <p:cNvPr id="13" name="Oval 12"/>
          <p:cNvSpPr/>
          <p:nvPr/>
        </p:nvSpPr>
        <p:spPr>
          <a:xfrm>
            <a:off x="950976" y="2743200"/>
            <a:ext cx="365760" cy="365760"/>
          </a:xfrm>
          <a:prstGeom prst="ellipse">
            <a:avLst/>
          </a:prstGeom>
          <a:solidFill>
            <a:srgbClr val="00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0976" y="274320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1328" y="267919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8232B"/>
                </a:solidFill>
                <a:latin typeface="Arial"/>
              </a:rPr>
              <a:t>Words exist somewhere</a:t>
            </a:r>
          </a:p>
        </p:txBody>
      </p:sp>
      <p:sp>
        <p:nvSpPr>
          <p:cNvPr id="16" name="Oval 15"/>
          <p:cNvSpPr/>
          <p:nvPr/>
        </p:nvSpPr>
        <p:spPr>
          <a:xfrm>
            <a:off x="950976" y="3566160"/>
            <a:ext cx="365760" cy="365760"/>
          </a:xfrm>
          <a:prstGeom prst="ellipse">
            <a:avLst/>
          </a:prstGeom>
          <a:solidFill>
            <a:srgbClr val="00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0976" y="356616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1328" y="350215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8232B"/>
                </a:solidFill>
                <a:latin typeface="Arial"/>
              </a:rPr>
              <a:t>May be hidden after click</a:t>
            </a:r>
          </a:p>
        </p:txBody>
      </p:sp>
      <p:sp>
        <p:nvSpPr>
          <p:cNvPr id="19" name="Oval 18"/>
          <p:cNvSpPr/>
          <p:nvPr/>
        </p:nvSpPr>
        <p:spPr>
          <a:xfrm>
            <a:off x="950976" y="4389120"/>
            <a:ext cx="365760" cy="365760"/>
          </a:xfrm>
          <a:prstGeom prst="ellipse">
            <a:avLst/>
          </a:prstGeom>
          <a:solidFill>
            <a:srgbClr val="00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976" y="438912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81328" y="432511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8232B"/>
                </a:solidFill>
                <a:latin typeface="Arial"/>
              </a:rPr>
              <a:t>Can fail consumer understanding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1783080"/>
            <a:ext cx="5257800" cy="4315968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63640" y="1783080"/>
            <a:ext cx="5257800" cy="109728"/>
          </a:xfrm>
          <a:prstGeom prst="rect">
            <a:avLst/>
          </a:prstGeom>
          <a:solidFill>
            <a:srgbClr val="F06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37960" y="2029968"/>
            <a:ext cx="470916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F0674A"/>
                </a:solidFill>
                <a:latin typeface="Arial"/>
              </a:rPr>
              <a:t>Clear</a:t>
            </a:r>
          </a:p>
        </p:txBody>
      </p:sp>
      <p:sp>
        <p:nvSpPr>
          <p:cNvPr id="25" name="Oval 24"/>
          <p:cNvSpPr/>
          <p:nvPr/>
        </p:nvSpPr>
        <p:spPr>
          <a:xfrm>
            <a:off x="6556248" y="2743200"/>
            <a:ext cx="365760" cy="365760"/>
          </a:xfrm>
          <a:prstGeom prst="ellipse">
            <a:avLst/>
          </a:prstGeom>
          <a:solidFill>
            <a:srgbClr val="F06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56248" y="274320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86600" y="267919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8232B"/>
                </a:solidFill>
                <a:latin typeface="Arial"/>
              </a:rPr>
              <a:t>Prominent before endorsement</a:t>
            </a:r>
          </a:p>
        </p:txBody>
      </p:sp>
      <p:sp>
        <p:nvSpPr>
          <p:cNvPr id="28" name="Oval 27"/>
          <p:cNvSpPr/>
          <p:nvPr/>
        </p:nvSpPr>
        <p:spPr>
          <a:xfrm>
            <a:off x="6556248" y="3566160"/>
            <a:ext cx="365760" cy="365760"/>
          </a:xfrm>
          <a:prstGeom prst="ellipse">
            <a:avLst/>
          </a:prstGeom>
          <a:solidFill>
            <a:srgbClr val="F06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56248" y="356616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86600" y="350215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8232B"/>
                </a:solidFill>
                <a:latin typeface="Arial"/>
              </a:rPr>
              <a:t>Plain language</a:t>
            </a:r>
          </a:p>
        </p:txBody>
      </p:sp>
      <p:sp>
        <p:nvSpPr>
          <p:cNvPr id="31" name="Oval 30"/>
          <p:cNvSpPr/>
          <p:nvPr/>
        </p:nvSpPr>
        <p:spPr>
          <a:xfrm>
            <a:off x="6556248" y="4389120"/>
            <a:ext cx="365760" cy="365760"/>
          </a:xfrm>
          <a:prstGeom prst="ellipse">
            <a:avLst/>
          </a:prstGeom>
          <a:solidFill>
            <a:srgbClr val="F06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56248" y="438912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86600" y="432511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8232B"/>
                </a:solidFill>
                <a:latin typeface="Arial"/>
              </a:rPr>
              <a:t>Matches channel context</a:t>
            </a:r>
          </a:p>
        </p:txBody>
      </p:sp>
    </p:spTree>
  </p:cSld>
  <p:clrMapOvr>
    <a:masterClrMapping/>
  </p:clrMapOvr>
  <p:transition spd="fast">
    <p:fade/>
  </p:transition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71600"/>
          </a:xfrm>
          <a:prstGeom prst="rect">
            <a:avLst/>
          </a:prstGeom>
          <a:solidFill>
            <a:srgbClr val="F06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0674A"/>
                </a:solidFill>
                <a:latin typeface="Arial"/>
              </a:rPr>
              <a:t>COMPARE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8232B"/>
                </a:solidFill>
                <a:latin typeface="Arial"/>
              </a:rPr>
              <a:t>Agent Narrative vs Deterministic Metric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435608"/>
            <a:ext cx="10927080" cy="16459"/>
          </a:xfrm>
          <a:prstGeom prst="rect">
            <a:avLst/>
          </a:prstGeom>
          <a:solidFill>
            <a:srgbClr val="DD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158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783080"/>
            <a:ext cx="5257800" cy="4315968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783080"/>
            <a:ext cx="5257800" cy="109728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2029968"/>
            <a:ext cx="470916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008F83"/>
                </a:solidFill>
                <a:latin typeface="Arial"/>
              </a:rPr>
              <a:t>Agent narrative</a:t>
            </a:r>
          </a:p>
        </p:txBody>
      </p:sp>
      <p:sp>
        <p:nvSpPr>
          <p:cNvPr id="13" name="Oval 12"/>
          <p:cNvSpPr/>
          <p:nvPr/>
        </p:nvSpPr>
        <p:spPr>
          <a:xfrm>
            <a:off x="950976" y="2743200"/>
            <a:ext cx="365760" cy="365760"/>
          </a:xfrm>
          <a:prstGeom prst="ellipse">
            <a:avLst/>
          </a:prstGeom>
          <a:solidFill>
            <a:srgbClr val="00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0976" y="274320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1328" y="267919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8232B"/>
                </a:solidFill>
                <a:latin typeface="Arial"/>
              </a:rPr>
              <a:t>Explains patterns and hypotheses</a:t>
            </a:r>
          </a:p>
        </p:txBody>
      </p:sp>
      <p:sp>
        <p:nvSpPr>
          <p:cNvPr id="16" name="Oval 15"/>
          <p:cNvSpPr/>
          <p:nvPr/>
        </p:nvSpPr>
        <p:spPr>
          <a:xfrm>
            <a:off x="950976" y="3566160"/>
            <a:ext cx="365760" cy="365760"/>
          </a:xfrm>
          <a:prstGeom prst="ellipse">
            <a:avLst/>
          </a:prstGeom>
          <a:solidFill>
            <a:srgbClr val="00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0976" y="356616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1328" y="350215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8232B"/>
                </a:solidFill>
                <a:latin typeface="Arial"/>
              </a:rPr>
              <a:t>Useful for stakeholder reading</a:t>
            </a:r>
          </a:p>
        </p:txBody>
      </p:sp>
      <p:sp>
        <p:nvSpPr>
          <p:cNvPr id="19" name="Oval 18"/>
          <p:cNvSpPr/>
          <p:nvPr/>
        </p:nvSpPr>
        <p:spPr>
          <a:xfrm>
            <a:off x="950976" y="4389120"/>
            <a:ext cx="365760" cy="365760"/>
          </a:xfrm>
          <a:prstGeom prst="ellipse">
            <a:avLst/>
          </a:prstGeom>
          <a:solidFill>
            <a:srgbClr val="00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976" y="438912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81328" y="432511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8232B"/>
                </a:solidFill>
                <a:latin typeface="Arial"/>
              </a:rPr>
              <a:t>Can overstate causality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1783080"/>
            <a:ext cx="5257800" cy="4315968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63640" y="1783080"/>
            <a:ext cx="5257800" cy="109728"/>
          </a:xfrm>
          <a:prstGeom prst="rect">
            <a:avLst/>
          </a:prstGeom>
          <a:solidFill>
            <a:srgbClr val="F06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37960" y="2029968"/>
            <a:ext cx="470916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F0674A"/>
                </a:solidFill>
                <a:latin typeface="Arial"/>
              </a:rPr>
              <a:t>Deterministic metric</a:t>
            </a:r>
          </a:p>
        </p:txBody>
      </p:sp>
      <p:sp>
        <p:nvSpPr>
          <p:cNvPr id="25" name="Oval 24"/>
          <p:cNvSpPr/>
          <p:nvPr/>
        </p:nvSpPr>
        <p:spPr>
          <a:xfrm>
            <a:off x="6556248" y="2743200"/>
            <a:ext cx="365760" cy="365760"/>
          </a:xfrm>
          <a:prstGeom prst="ellipse">
            <a:avLst/>
          </a:prstGeom>
          <a:solidFill>
            <a:srgbClr val="F06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56248" y="274320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86600" y="267919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8232B"/>
                </a:solidFill>
                <a:latin typeface="Arial"/>
              </a:rPr>
              <a:t>Recomputable formula</a:t>
            </a:r>
          </a:p>
        </p:txBody>
      </p:sp>
      <p:sp>
        <p:nvSpPr>
          <p:cNvPr id="28" name="Oval 27"/>
          <p:cNvSpPr/>
          <p:nvPr/>
        </p:nvSpPr>
        <p:spPr>
          <a:xfrm>
            <a:off x="6556248" y="3566160"/>
            <a:ext cx="365760" cy="365760"/>
          </a:xfrm>
          <a:prstGeom prst="ellipse">
            <a:avLst/>
          </a:prstGeom>
          <a:solidFill>
            <a:srgbClr val="F06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56248" y="356616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86600" y="350215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8232B"/>
                </a:solidFill>
                <a:latin typeface="Arial"/>
              </a:rPr>
              <a:t>Explicit fields and denominator</a:t>
            </a:r>
          </a:p>
        </p:txBody>
      </p:sp>
      <p:sp>
        <p:nvSpPr>
          <p:cNvPr id="31" name="Oval 30"/>
          <p:cNvSpPr/>
          <p:nvPr/>
        </p:nvSpPr>
        <p:spPr>
          <a:xfrm>
            <a:off x="6556248" y="4389120"/>
            <a:ext cx="365760" cy="365760"/>
          </a:xfrm>
          <a:prstGeom prst="ellipse">
            <a:avLst/>
          </a:prstGeom>
          <a:solidFill>
            <a:srgbClr val="F06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56248" y="438912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86600" y="432511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8232B"/>
                </a:solidFill>
                <a:latin typeface="Arial"/>
              </a:rPr>
              <a:t>Source of record for decisions</a:t>
            </a:r>
          </a:p>
        </p:txBody>
      </p:sp>
    </p:spTree>
  </p:cSld>
  <p:clrMapOvr>
    <a:masterClrMapping/>
  </p:clrMapOvr>
  <p:transition spd="fast">
    <p:fade/>
  </p:transition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71600"/>
          </a:xfrm>
          <a:prstGeom prst="rect">
            <a:avLst/>
          </a:prstGeom>
          <a:solidFill>
            <a:srgbClr val="F06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0674A"/>
                </a:solidFill>
                <a:latin typeface="Arial"/>
              </a:rPr>
              <a:t>COMPARE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8232B"/>
                </a:solidFill>
                <a:latin typeface="Arial"/>
              </a:rPr>
              <a:t>Optimisation vs Policy Override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435608"/>
            <a:ext cx="10927080" cy="16459"/>
          </a:xfrm>
          <a:prstGeom prst="rect">
            <a:avLst/>
          </a:prstGeom>
          <a:solidFill>
            <a:srgbClr val="DD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159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783080"/>
            <a:ext cx="5257800" cy="4315968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783080"/>
            <a:ext cx="5257800" cy="109728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2029968"/>
            <a:ext cx="470916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008F83"/>
                </a:solidFill>
                <a:latin typeface="Arial"/>
              </a:rPr>
              <a:t>Optimisation</a:t>
            </a:r>
          </a:p>
        </p:txBody>
      </p:sp>
      <p:sp>
        <p:nvSpPr>
          <p:cNvPr id="13" name="Oval 12"/>
          <p:cNvSpPr/>
          <p:nvPr/>
        </p:nvSpPr>
        <p:spPr>
          <a:xfrm>
            <a:off x="950976" y="2743200"/>
            <a:ext cx="365760" cy="365760"/>
          </a:xfrm>
          <a:prstGeom prst="ellipse">
            <a:avLst/>
          </a:prstGeom>
          <a:solidFill>
            <a:srgbClr val="00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0976" y="274320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1328" y="267919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8232B"/>
                </a:solidFill>
                <a:latin typeface="Arial"/>
              </a:rPr>
              <a:t>Changes creative, mix or cadence</a:t>
            </a:r>
          </a:p>
        </p:txBody>
      </p:sp>
      <p:sp>
        <p:nvSpPr>
          <p:cNvPr id="16" name="Oval 15"/>
          <p:cNvSpPr/>
          <p:nvPr/>
        </p:nvSpPr>
        <p:spPr>
          <a:xfrm>
            <a:off x="950976" y="3566160"/>
            <a:ext cx="365760" cy="365760"/>
          </a:xfrm>
          <a:prstGeom prst="ellipse">
            <a:avLst/>
          </a:prstGeom>
          <a:solidFill>
            <a:srgbClr val="00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0976" y="356616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1328" y="350215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8232B"/>
                </a:solidFill>
                <a:latin typeface="Arial"/>
              </a:rPr>
              <a:t>Bounded test and guardrails</a:t>
            </a:r>
          </a:p>
        </p:txBody>
      </p:sp>
      <p:sp>
        <p:nvSpPr>
          <p:cNvPr id="19" name="Oval 18"/>
          <p:cNvSpPr/>
          <p:nvPr/>
        </p:nvSpPr>
        <p:spPr>
          <a:xfrm>
            <a:off x="950976" y="4389120"/>
            <a:ext cx="365760" cy="365760"/>
          </a:xfrm>
          <a:prstGeom prst="ellipse">
            <a:avLst/>
          </a:prstGeom>
          <a:solidFill>
            <a:srgbClr val="00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976" y="438912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81328" y="432511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8232B"/>
                </a:solidFill>
                <a:latin typeface="Arial"/>
              </a:rPr>
              <a:t>Owner can reverse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1783080"/>
            <a:ext cx="5257800" cy="4315968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63640" y="1783080"/>
            <a:ext cx="5257800" cy="109728"/>
          </a:xfrm>
          <a:prstGeom prst="rect">
            <a:avLst/>
          </a:prstGeom>
          <a:solidFill>
            <a:srgbClr val="F06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37960" y="2029968"/>
            <a:ext cx="470916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F0674A"/>
                </a:solidFill>
                <a:latin typeface="Arial"/>
              </a:rPr>
              <a:t>Policy override</a:t>
            </a:r>
          </a:p>
        </p:txBody>
      </p:sp>
      <p:sp>
        <p:nvSpPr>
          <p:cNvPr id="25" name="Oval 24"/>
          <p:cNvSpPr/>
          <p:nvPr/>
        </p:nvSpPr>
        <p:spPr>
          <a:xfrm>
            <a:off x="6556248" y="2743200"/>
            <a:ext cx="365760" cy="365760"/>
          </a:xfrm>
          <a:prstGeom prst="ellipse">
            <a:avLst/>
          </a:prstGeom>
          <a:solidFill>
            <a:srgbClr val="F06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56248" y="274320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86600" y="267919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8232B"/>
                </a:solidFill>
                <a:latin typeface="Arial"/>
              </a:rPr>
              <a:t>Weakens disclosure or controls</a:t>
            </a:r>
          </a:p>
        </p:txBody>
      </p:sp>
      <p:sp>
        <p:nvSpPr>
          <p:cNvPr id="28" name="Oval 27"/>
          <p:cNvSpPr/>
          <p:nvPr/>
        </p:nvSpPr>
        <p:spPr>
          <a:xfrm>
            <a:off x="6556248" y="3566160"/>
            <a:ext cx="365760" cy="365760"/>
          </a:xfrm>
          <a:prstGeom prst="ellipse">
            <a:avLst/>
          </a:prstGeom>
          <a:solidFill>
            <a:srgbClr val="F06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56248" y="356616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86600" y="350215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8232B"/>
                </a:solidFill>
                <a:latin typeface="Arial"/>
              </a:rPr>
              <a:t>Not a performance lever</a:t>
            </a:r>
          </a:p>
        </p:txBody>
      </p:sp>
      <p:sp>
        <p:nvSpPr>
          <p:cNvPr id="31" name="Oval 30"/>
          <p:cNvSpPr/>
          <p:nvPr/>
        </p:nvSpPr>
        <p:spPr>
          <a:xfrm>
            <a:off x="6556248" y="4389120"/>
            <a:ext cx="365760" cy="365760"/>
          </a:xfrm>
          <a:prstGeom prst="ellipse">
            <a:avLst/>
          </a:prstGeom>
          <a:solidFill>
            <a:srgbClr val="F06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56248" y="438912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86600" y="432511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8232B"/>
                </a:solidFill>
                <a:latin typeface="Arial"/>
              </a:rPr>
              <a:t>Requires governance decision, usually reject</a:t>
            </a:r>
          </a:p>
        </p:txBody>
      </p:sp>
    </p:spTree>
  </p:cSld>
  <p:clrMapOvr>
    <a:masterClrMapping/>
  </p:clrMapOvr>
  <p:transition spd="fast">
    <p:fade/>
  </p:transition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71600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008F83"/>
                </a:solidFill>
                <a:latin typeface="Arial"/>
              </a:rPr>
              <a:t>NATIVE PPT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8232B"/>
                </a:solidFill>
                <a:latin typeface="Arial"/>
              </a:rPr>
              <a:t>Affiliate Funnel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435608"/>
            <a:ext cx="10927080" cy="16459"/>
          </a:xfrm>
          <a:prstGeom prst="rect">
            <a:avLst/>
          </a:prstGeom>
          <a:solidFill>
            <a:srgbClr val="DD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160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749808" y="1737360"/>
          <a:ext cx="7818120" cy="422452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8823960" y="2148840"/>
            <a:ext cx="2496312" cy="3035808"/>
          </a:xfrm>
          <a:prstGeom prst="roundRect">
            <a:avLst/>
          </a:prstGeom>
          <a:solidFill>
            <a:srgbClr val="EB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98280" y="2450592"/>
            <a:ext cx="196596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008F83"/>
                </a:solidFill>
                <a:latin typeface="Arial"/>
              </a:rPr>
              <a:t>WHAT THE DATA SHOWS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98280" y="2971800"/>
            <a:ext cx="1965960" cy="17373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8232B"/>
                </a:solidFill>
                <a:latin typeface="Arial"/>
              </a:rPr>
              <a:t>Checkout-to-approved loss should be split into abandonment, fraud, cancellation and return causes.</a:t>
            </a:r>
          </a:p>
        </p:txBody>
      </p:sp>
    </p:spTree>
  </p:cSld>
  <p:clrMapOvr>
    <a:masterClrMapping/>
  </p:clrMapOvr>
  <p:transition spd="fast">
    <p:fade/>
  </p:transition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71600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008F83"/>
                </a:solidFill>
                <a:latin typeface="Arial"/>
              </a:rPr>
              <a:t>NATIVE PPT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8232B"/>
                </a:solidFill>
                <a:latin typeface="Arial"/>
              </a:rPr>
              <a:t>Revenue and Commission by Partner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435608"/>
            <a:ext cx="10927080" cy="16459"/>
          </a:xfrm>
          <a:prstGeom prst="rect">
            <a:avLst/>
          </a:prstGeom>
          <a:solidFill>
            <a:srgbClr val="DD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161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749808" y="1737360"/>
          <a:ext cx="7818120" cy="422452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8823960" y="2148840"/>
            <a:ext cx="2496312" cy="3035808"/>
          </a:xfrm>
          <a:prstGeom prst="roundRect">
            <a:avLst/>
          </a:prstGeom>
          <a:solidFill>
            <a:srgbClr val="EB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98280" y="2450592"/>
            <a:ext cx="196596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008F83"/>
                </a:solidFill>
                <a:latin typeface="Arial"/>
              </a:rPr>
              <a:t>WHAT THE DATA SHOWS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98280" y="2971800"/>
            <a:ext cx="1965960" cy="17373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8232B"/>
                </a:solidFill>
                <a:latin typeface="Arial"/>
              </a:rPr>
              <a:t>Partner B has a higher effective commission burden than Partner A despite lower revenue.</a:t>
            </a:r>
          </a:p>
        </p:txBody>
      </p:sp>
    </p:spTree>
  </p:cSld>
  <p:clrMapOvr>
    <a:masterClrMapping/>
  </p:clrMapOvr>
  <p:transition spd="fast">
    <p:fade/>
  </p:transition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71600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008F83"/>
                </a:solidFill>
                <a:latin typeface="Arial"/>
              </a:rPr>
              <a:t>NATIVE PPT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8232B"/>
                </a:solidFill>
                <a:latin typeface="Arial"/>
              </a:rPr>
              <a:t>Conversion Rate by Channel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435608"/>
            <a:ext cx="10927080" cy="16459"/>
          </a:xfrm>
          <a:prstGeom prst="rect">
            <a:avLst/>
          </a:prstGeom>
          <a:solidFill>
            <a:srgbClr val="DD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162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749808" y="1737360"/>
          <a:ext cx="7818120" cy="422452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8823960" y="2148840"/>
            <a:ext cx="2496312" cy="3035808"/>
          </a:xfrm>
          <a:prstGeom prst="roundRect">
            <a:avLst/>
          </a:prstGeom>
          <a:solidFill>
            <a:srgbClr val="EB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98280" y="2450592"/>
            <a:ext cx="196596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008F83"/>
                </a:solidFill>
                <a:latin typeface="Arial"/>
              </a:rPr>
              <a:t>WHAT THE DATA SHOWS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98280" y="2971800"/>
            <a:ext cx="1965960" cy="17373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8232B"/>
                </a:solidFill>
                <a:latin typeface="Arial"/>
              </a:rPr>
              <a:t>Channel mix changes can move the blended conversion rate without any content-quality change.</a:t>
            </a:r>
          </a:p>
        </p:txBody>
      </p:sp>
    </p:spTree>
  </p:cSld>
  <p:clrMapOvr>
    <a:masterClrMapping/>
  </p:clrMapOvr>
  <p:transition spd="fast">
    <p:fade/>
  </p:transition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71600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008F83"/>
                </a:solidFill>
                <a:latin typeface="Arial"/>
              </a:rPr>
              <a:t>NATIVE PPT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8232B"/>
                </a:solidFill>
                <a:latin typeface="Arial"/>
              </a:rPr>
              <a:t>Performance Against Plan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435608"/>
            <a:ext cx="10927080" cy="16459"/>
          </a:xfrm>
          <a:prstGeom prst="rect">
            <a:avLst/>
          </a:prstGeom>
          <a:solidFill>
            <a:srgbClr val="DD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163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749808" y="1737360"/>
          <a:ext cx="7818120" cy="422452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8823960" y="2148840"/>
            <a:ext cx="2496312" cy="3035808"/>
          </a:xfrm>
          <a:prstGeom prst="roundRect">
            <a:avLst/>
          </a:prstGeom>
          <a:solidFill>
            <a:srgbClr val="EB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98280" y="2450592"/>
            <a:ext cx="196596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008F83"/>
                </a:solidFill>
                <a:latin typeface="Arial"/>
              </a:rPr>
              <a:t>WHAT THE DATA SHOWS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98280" y="2971800"/>
            <a:ext cx="1965960" cy="17373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8232B"/>
                </a:solidFill>
                <a:latin typeface="Arial"/>
              </a:rPr>
              <a:t>More clicks produced fewer approved orders, but larger baskets lifted revenue and ROI.</a:t>
            </a:r>
          </a:p>
        </p:txBody>
      </p:sp>
    </p:spTree>
  </p:cSld>
  <p:clrMapOvr>
    <a:masterClrMapping/>
  </p:clrMapOvr>
  <p:transition spd="fast">
    <p:fade/>
  </p:transition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71600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008F83"/>
                </a:solidFill>
                <a:latin typeface="Arial"/>
              </a:rPr>
              <a:t>NATIVE PPT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8232B"/>
                </a:solidFill>
                <a:latin typeface="Arial"/>
              </a:rPr>
              <a:t>Compliance Findings by Severity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435608"/>
            <a:ext cx="10927080" cy="16459"/>
          </a:xfrm>
          <a:prstGeom prst="rect">
            <a:avLst/>
          </a:prstGeom>
          <a:solidFill>
            <a:srgbClr val="DD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164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749808" y="1737360"/>
          <a:ext cx="7818120" cy="422452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8823960" y="2148840"/>
            <a:ext cx="2496312" cy="3035808"/>
          </a:xfrm>
          <a:prstGeom prst="roundRect">
            <a:avLst/>
          </a:prstGeom>
          <a:solidFill>
            <a:srgbClr val="EB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98280" y="2450592"/>
            <a:ext cx="196596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008F83"/>
                </a:solidFill>
                <a:latin typeface="Arial"/>
              </a:rPr>
              <a:t>WHAT THE DATA SHOWS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98280" y="2971800"/>
            <a:ext cx="1965960" cy="17373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8232B"/>
                </a:solidFill>
                <a:latin typeface="Arial"/>
              </a:rPr>
              <a:t>Disclosure is the first remediation priority because it has the most high-severity findings.</a:t>
            </a:r>
          </a:p>
        </p:txBody>
      </p:sp>
    </p:spTree>
  </p:cSld>
  <p:clrMapOvr>
    <a:masterClrMapping/>
  </p:clrMapOvr>
  <p:transition spd="fast">
    <p:fade/>
  </p:transition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71600"/>
          </a:xfrm>
          <a:prstGeom prst="rect">
            <a:avLst/>
          </a:prstGeom>
          <a:solidFill>
            <a:srgbClr val="F06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0674A"/>
                </a:solidFill>
                <a:latin typeface="Arial"/>
              </a:rPr>
              <a:t>DECISION RULE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8232B"/>
                </a:solidFill>
                <a:latin typeface="Arial"/>
              </a:rPr>
              <a:t>Publish a Campaign Report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435608"/>
            <a:ext cx="10927080" cy="16459"/>
          </a:xfrm>
          <a:prstGeom prst="rect">
            <a:avLst/>
          </a:prstGeom>
          <a:solidFill>
            <a:srgbClr val="DD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165</a:t>
            </a:r>
          </a:p>
        </p:txBody>
      </p:sp>
      <p:sp>
        <p:nvSpPr>
          <p:cNvPr id="10" name="Diamond 9"/>
          <p:cNvSpPr/>
          <p:nvPr/>
        </p:nvSpPr>
        <p:spPr>
          <a:xfrm>
            <a:off x="4434840" y="1874519"/>
            <a:ext cx="3246120" cy="2148840"/>
          </a:xfrm>
          <a:prstGeom prst="diamond">
            <a:avLst/>
          </a:prstGeom>
          <a:solidFill>
            <a:srgbClr val="FFF1ED"/>
          </a:solidFill>
          <a:ln w="25400">
            <a:solidFill>
              <a:srgbClr val="F067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00600" y="2212848"/>
            <a:ext cx="2514600" cy="12801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8232B"/>
                </a:solidFill>
                <a:latin typeface="Arial"/>
              </a:rPr>
              <a:t>Are every metric definition, source period, reconciliation status and material limitation stated?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4343400"/>
            <a:ext cx="4983480" cy="1097280"/>
          </a:xfrm>
          <a:prstGeom prst="roundRect">
            <a:avLst/>
          </a:prstGeom>
          <a:solidFill>
            <a:srgbClr val="E9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480560"/>
            <a:ext cx="4480560" cy="7772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208A59"/>
                </a:solidFill>
                <a:latin typeface="Arial"/>
              </a:rPr>
              <a:t>YES · </a:t>
            </a:r>
            <a:r>
              <a:rPr sz="1350" b="0">
                <a:solidFill>
                  <a:srgbClr val="18232B"/>
                </a:solidFill>
                <a:latin typeface="Arial"/>
              </a:rPr>
              <a:t>Release the reviewed report with actions and owners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10528" y="4343400"/>
            <a:ext cx="4983480" cy="1097280"/>
          </a:xfrm>
          <a:prstGeom prst="roundRect">
            <a:avLst/>
          </a:prstGeom>
          <a:solidFill>
            <a:srgbClr val="FD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57416" y="4480560"/>
            <a:ext cx="4480560" cy="7772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C73D37"/>
                </a:solidFill>
                <a:latin typeface="Arial"/>
              </a:rPr>
              <a:t>NO · </a:t>
            </a:r>
            <a:r>
              <a:rPr sz="1350" b="0">
                <a:solidFill>
                  <a:srgbClr val="18232B"/>
                </a:solidFill>
                <a:latin typeface="Arial"/>
              </a:rPr>
              <a:t>Return to data validation; do not let narrative hide missing facts</a:t>
            </a:r>
          </a:p>
        </p:txBody>
      </p:sp>
      <p:cxnSp>
        <p:nvCxnSpPr>
          <p:cNvPr id="16" name="Connector 15"/>
          <p:cNvCxnSpPr/>
          <p:nvPr/>
        </p:nvCxnSpPr>
        <p:spPr>
          <a:xfrm flipH="1">
            <a:off x="3200400" y="3749039"/>
            <a:ext cx="1828800" cy="594361"/>
          </a:xfrm>
          <a:prstGeom prst="bentConnector3">
            <a:avLst/>
          </a:prstGeom>
          <a:ln w="25400">
            <a:solidFill>
              <a:srgbClr val="208A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178040" y="3749039"/>
            <a:ext cx="1783080" cy="594361"/>
          </a:xfrm>
          <a:prstGeom prst="bentConnector3">
            <a:avLst/>
          </a:prstGeom>
          <a:ln w="25400">
            <a:solidFill>
              <a:srgbClr val="C73D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fast">
    <p:fade/>
  </p:transition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71600"/>
          </a:xfrm>
          <a:prstGeom prst="rect">
            <a:avLst/>
          </a:prstGeom>
          <a:solidFill>
            <a:srgbClr val="F06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0674A"/>
                </a:solidFill>
                <a:latin typeface="Arial"/>
              </a:rPr>
              <a:t>DECISION RULE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8232B"/>
                </a:solidFill>
                <a:latin typeface="Arial"/>
              </a:rPr>
              <a:t>Approve an Optimisation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435608"/>
            <a:ext cx="10927080" cy="16459"/>
          </a:xfrm>
          <a:prstGeom prst="rect">
            <a:avLst/>
          </a:prstGeom>
          <a:solidFill>
            <a:srgbClr val="DD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166</a:t>
            </a:r>
          </a:p>
        </p:txBody>
      </p:sp>
      <p:sp>
        <p:nvSpPr>
          <p:cNvPr id="10" name="Diamond 9"/>
          <p:cNvSpPr/>
          <p:nvPr/>
        </p:nvSpPr>
        <p:spPr>
          <a:xfrm>
            <a:off x="4434840" y="1874519"/>
            <a:ext cx="3246120" cy="2148840"/>
          </a:xfrm>
          <a:prstGeom prst="diamond">
            <a:avLst/>
          </a:prstGeom>
          <a:solidFill>
            <a:srgbClr val="FFF1ED"/>
          </a:solidFill>
          <a:ln w="25400">
            <a:solidFill>
              <a:srgbClr val="F067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00600" y="2212848"/>
            <a:ext cx="2514600" cy="12801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8232B"/>
                </a:solidFill>
                <a:latin typeface="Arial"/>
              </a:rPr>
              <a:t>Is the diagnosis evidence-backed, reversible, policy-compliant and protected by guardrails?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4343400"/>
            <a:ext cx="4983480" cy="1097280"/>
          </a:xfrm>
          <a:prstGeom prst="roundRect">
            <a:avLst/>
          </a:prstGeom>
          <a:solidFill>
            <a:srgbClr val="E9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480560"/>
            <a:ext cx="4480560" cy="7772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208A59"/>
                </a:solidFill>
                <a:latin typeface="Arial"/>
              </a:rPr>
              <a:t>YES · </a:t>
            </a:r>
            <a:r>
              <a:rPr sz="1350" b="0">
                <a:solidFill>
                  <a:srgbClr val="18232B"/>
                </a:solidFill>
                <a:latin typeface="Arial"/>
              </a:rPr>
              <a:t>Approve a bounded experiment and monitor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10528" y="4343400"/>
            <a:ext cx="4983480" cy="1097280"/>
          </a:xfrm>
          <a:prstGeom prst="roundRect">
            <a:avLst/>
          </a:prstGeom>
          <a:solidFill>
            <a:srgbClr val="FD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57416" y="4480560"/>
            <a:ext cx="4480560" cy="7772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C73D37"/>
                </a:solidFill>
                <a:latin typeface="Arial"/>
              </a:rPr>
              <a:t>NO · </a:t>
            </a:r>
            <a:r>
              <a:rPr sz="1350" b="0">
                <a:solidFill>
                  <a:srgbClr val="18232B"/>
                </a:solidFill>
                <a:latin typeface="Arial"/>
              </a:rPr>
              <a:t>Reject, gather evidence or escalate to governance</a:t>
            </a:r>
          </a:p>
        </p:txBody>
      </p:sp>
      <p:cxnSp>
        <p:nvCxnSpPr>
          <p:cNvPr id="16" name="Connector 15"/>
          <p:cNvCxnSpPr/>
          <p:nvPr/>
        </p:nvCxnSpPr>
        <p:spPr>
          <a:xfrm flipH="1">
            <a:off x="3200400" y="3749039"/>
            <a:ext cx="1828800" cy="594361"/>
          </a:xfrm>
          <a:prstGeom prst="bentConnector3">
            <a:avLst/>
          </a:prstGeom>
          <a:ln w="25400">
            <a:solidFill>
              <a:srgbClr val="208A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178040" y="3749039"/>
            <a:ext cx="1783080" cy="594361"/>
          </a:xfrm>
          <a:prstGeom prst="bentConnector3">
            <a:avLst/>
          </a:prstGeom>
          <a:ln w="25400">
            <a:solidFill>
              <a:srgbClr val="C73D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fast">
    <p:fade/>
  </p:transition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71600"/>
          </a:xfrm>
          <a:prstGeom prst="rect">
            <a:avLst/>
          </a:prstGeom>
          <a:solidFill>
            <a:srgbClr val="F06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0674A"/>
                </a:solidFill>
                <a:latin typeface="Arial"/>
              </a:rPr>
              <a:t>DECISION RULE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8232B"/>
                </a:solidFill>
                <a:latin typeface="Arial"/>
              </a:rPr>
              <a:t>Pay a Commission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435608"/>
            <a:ext cx="10927080" cy="16459"/>
          </a:xfrm>
          <a:prstGeom prst="rect">
            <a:avLst/>
          </a:prstGeom>
          <a:solidFill>
            <a:srgbClr val="DD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167</a:t>
            </a:r>
          </a:p>
        </p:txBody>
      </p:sp>
      <p:sp>
        <p:nvSpPr>
          <p:cNvPr id="10" name="Diamond 9"/>
          <p:cNvSpPr/>
          <p:nvPr/>
        </p:nvSpPr>
        <p:spPr>
          <a:xfrm>
            <a:off x="4434840" y="1874519"/>
            <a:ext cx="3246120" cy="2148840"/>
          </a:xfrm>
          <a:prstGeom prst="diamond">
            <a:avLst/>
          </a:prstGeom>
          <a:solidFill>
            <a:srgbClr val="FFF1ED"/>
          </a:solidFill>
          <a:ln w="25400">
            <a:solidFill>
              <a:srgbClr val="F067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00600" y="2212848"/>
            <a:ext cx="2514600" cy="12801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8232B"/>
                </a:solidFill>
                <a:latin typeface="Arial"/>
              </a:rPr>
              <a:t>Does the order meet attribution, approval, return-window and programme-term rules?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4343400"/>
            <a:ext cx="4983480" cy="1097280"/>
          </a:xfrm>
          <a:prstGeom prst="roundRect">
            <a:avLst/>
          </a:prstGeom>
          <a:solidFill>
            <a:srgbClr val="E9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480560"/>
            <a:ext cx="4480560" cy="7772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208A59"/>
                </a:solidFill>
                <a:latin typeface="Arial"/>
              </a:rPr>
              <a:t>YES · </a:t>
            </a:r>
            <a:r>
              <a:rPr sz="1350" b="0">
                <a:solidFill>
                  <a:srgbClr val="18232B"/>
                </a:solidFill>
                <a:latin typeface="Arial"/>
              </a:rPr>
              <a:t>Record payable amount and settlement ID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10528" y="4343400"/>
            <a:ext cx="4983480" cy="1097280"/>
          </a:xfrm>
          <a:prstGeom prst="roundRect">
            <a:avLst/>
          </a:prstGeom>
          <a:solidFill>
            <a:srgbClr val="FD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57416" y="4480560"/>
            <a:ext cx="4480560" cy="7772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C73D37"/>
                </a:solidFill>
                <a:latin typeface="Arial"/>
              </a:rPr>
              <a:t>NO · </a:t>
            </a:r>
            <a:r>
              <a:rPr sz="1350" b="0">
                <a:solidFill>
                  <a:srgbClr val="18232B"/>
                </a:solidFill>
                <a:latin typeface="Arial"/>
              </a:rPr>
              <a:t>Hold or reverse with a traceable reason code</a:t>
            </a:r>
          </a:p>
        </p:txBody>
      </p:sp>
      <p:cxnSp>
        <p:nvCxnSpPr>
          <p:cNvPr id="16" name="Connector 15"/>
          <p:cNvCxnSpPr/>
          <p:nvPr/>
        </p:nvCxnSpPr>
        <p:spPr>
          <a:xfrm flipH="1">
            <a:off x="3200400" y="3749039"/>
            <a:ext cx="1828800" cy="594361"/>
          </a:xfrm>
          <a:prstGeom prst="bentConnector3">
            <a:avLst/>
          </a:prstGeom>
          <a:ln w="25400">
            <a:solidFill>
              <a:srgbClr val="208A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178040" y="3749039"/>
            <a:ext cx="1783080" cy="594361"/>
          </a:xfrm>
          <a:prstGeom prst="bentConnector3">
            <a:avLst/>
          </a:prstGeom>
          <a:ln w="25400">
            <a:solidFill>
              <a:srgbClr val="C73D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fast">
    <p:fade/>
  </p:transition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71600"/>
          </a:xfrm>
          <a:prstGeom prst="rect">
            <a:avLst/>
          </a:prstGeom>
          <a:solidFill>
            <a:srgbClr val="F06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0674A"/>
                </a:solidFill>
                <a:latin typeface="Arial"/>
              </a:rPr>
              <a:t>FAILURE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8232B"/>
                </a:solidFill>
                <a:latin typeface="Arial"/>
              </a:rPr>
              <a:t>Attribution Failure Modes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435608"/>
            <a:ext cx="10927080" cy="16459"/>
          </a:xfrm>
          <a:prstGeom prst="rect">
            <a:avLst/>
          </a:prstGeom>
          <a:solidFill>
            <a:srgbClr val="DD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168</a:t>
            </a:r>
          </a:p>
        </p:txBody>
      </p:sp>
      <p:sp>
        <p:nvSpPr>
          <p:cNvPr id="10" name="Oval 9"/>
          <p:cNvSpPr/>
          <p:nvPr/>
        </p:nvSpPr>
        <p:spPr>
          <a:xfrm>
            <a:off x="749808" y="1865376"/>
            <a:ext cx="420624" cy="420624"/>
          </a:xfrm>
          <a:prstGeom prst="ellipse">
            <a:avLst/>
          </a:prstGeom>
          <a:solidFill>
            <a:srgbClr val="F06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186537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1755648"/>
            <a:ext cx="20574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0674A"/>
                </a:solidFill>
                <a:latin typeface="Arial"/>
              </a:rPr>
              <a:t>Duplicate click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73552" y="1755648"/>
            <a:ext cx="8138160" cy="658368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20440" y="1810512"/>
            <a:ext cx="7635240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18232B"/>
                </a:solidFill>
                <a:latin typeface="Arial"/>
              </a:rPr>
              <a:t>retry counted twice</a:t>
            </a:r>
          </a:p>
        </p:txBody>
      </p:sp>
      <p:sp>
        <p:nvSpPr>
          <p:cNvPr id="15" name="Oval 14"/>
          <p:cNvSpPr/>
          <p:nvPr/>
        </p:nvSpPr>
        <p:spPr>
          <a:xfrm>
            <a:off x="749808" y="2724912"/>
            <a:ext cx="420624" cy="420624"/>
          </a:xfrm>
          <a:prstGeom prst="ellipse">
            <a:avLst/>
          </a:prstGeom>
          <a:solidFill>
            <a:srgbClr val="EEA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272491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53312" y="2615184"/>
            <a:ext cx="20574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EA900"/>
                </a:solidFill>
                <a:latin typeface="Arial"/>
              </a:rPr>
              <a:t>Broken join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73552" y="2615184"/>
            <a:ext cx="8138160" cy="658368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20440" y="2670048"/>
            <a:ext cx="7635240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18232B"/>
                </a:solidFill>
                <a:latin typeface="Arial"/>
              </a:rPr>
              <a:t>order lacks click or partner key</a:t>
            </a:r>
          </a:p>
        </p:txBody>
      </p:sp>
      <p:sp>
        <p:nvSpPr>
          <p:cNvPr id="20" name="Oval 19"/>
          <p:cNvSpPr/>
          <p:nvPr/>
        </p:nvSpPr>
        <p:spPr>
          <a:xfrm>
            <a:off x="749808" y="3584448"/>
            <a:ext cx="420624" cy="420624"/>
          </a:xfrm>
          <a:prstGeom prst="ellipse">
            <a:avLst/>
          </a:prstGeom>
          <a:solidFill>
            <a:srgbClr val="F06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8" y="3584448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53312" y="3474720"/>
            <a:ext cx="20574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0674A"/>
                </a:solidFill>
                <a:latin typeface="Arial"/>
              </a:rPr>
              <a:t>Window mismatch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273552" y="3474720"/>
            <a:ext cx="8138160" cy="658368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20440" y="3529584"/>
            <a:ext cx="7635240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18232B"/>
                </a:solidFill>
                <a:latin typeface="Arial"/>
              </a:rPr>
              <a:t>conversion outside terms</a:t>
            </a:r>
          </a:p>
        </p:txBody>
      </p:sp>
      <p:sp>
        <p:nvSpPr>
          <p:cNvPr id="25" name="Oval 24"/>
          <p:cNvSpPr/>
          <p:nvPr/>
        </p:nvSpPr>
        <p:spPr>
          <a:xfrm>
            <a:off x="749808" y="4443984"/>
            <a:ext cx="420624" cy="420624"/>
          </a:xfrm>
          <a:prstGeom prst="ellipse">
            <a:avLst/>
          </a:prstGeom>
          <a:solidFill>
            <a:srgbClr val="EEA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9808" y="4443984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53312" y="4334256"/>
            <a:ext cx="20574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EA900"/>
                </a:solidFill>
                <a:latin typeface="Arial"/>
              </a:rPr>
              <a:t>Cross-device gap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273552" y="4334256"/>
            <a:ext cx="8138160" cy="658368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520440" y="4389120"/>
            <a:ext cx="7635240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18232B"/>
                </a:solidFill>
                <a:latin typeface="Arial"/>
              </a:rPr>
              <a:t>journey cannot be linked</a:t>
            </a:r>
          </a:p>
        </p:txBody>
      </p:sp>
      <p:sp>
        <p:nvSpPr>
          <p:cNvPr id="30" name="Oval 29"/>
          <p:cNvSpPr/>
          <p:nvPr/>
        </p:nvSpPr>
        <p:spPr>
          <a:xfrm>
            <a:off x="749808" y="5303520"/>
            <a:ext cx="420624" cy="420624"/>
          </a:xfrm>
          <a:prstGeom prst="ellipse">
            <a:avLst/>
          </a:prstGeom>
          <a:solidFill>
            <a:srgbClr val="F06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9808" y="5303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53312" y="5193792"/>
            <a:ext cx="20574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0674A"/>
                </a:solidFill>
                <a:latin typeface="Arial"/>
              </a:rPr>
              <a:t>Consent breach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273552" y="5193792"/>
            <a:ext cx="8138160" cy="658368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520440" y="5248656"/>
            <a:ext cx="7635240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18232B"/>
                </a:solidFill>
                <a:latin typeface="Arial"/>
              </a:rPr>
              <a:t>tracking beyond lawful boundary</a:t>
            </a:r>
          </a:p>
        </p:txBody>
      </p:sp>
    </p:spTree>
  </p:cSld>
  <p:clrMapOvr>
    <a:masterClrMapping/>
  </p:clrMapOvr>
  <p:transition spd="fast">
    <p:fade/>
  </p:transition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71600"/>
          </a:xfrm>
          <a:prstGeom prst="rect">
            <a:avLst/>
          </a:prstGeom>
          <a:solidFill>
            <a:srgbClr val="F06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0674A"/>
                </a:solidFill>
                <a:latin typeface="Arial"/>
              </a:rPr>
              <a:t>FAILURE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8232B"/>
                </a:solidFill>
                <a:latin typeface="Arial"/>
              </a:rPr>
              <a:t>Reporting Failure Modes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435608"/>
            <a:ext cx="10927080" cy="16459"/>
          </a:xfrm>
          <a:prstGeom prst="rect">
            <a:avLst/>
          </a:prstGeom>
          <a:solidFill>
            <a:srgbClr val="DD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169</a:t>
            </a:r>
          </a:p>
        </p:txBody>
      </p:sp>
      <p:sp>
        <p:nvSpPr>
          <p:cNvPr id="10" name="Oval 9"/>
          <p:cNvSpPr/>
          <p:nvPr/>
        </p:nvSpPr>
        <p:spPr>
          <a:xfrm>
            <a:off x="749808" y="1865376"/>
            <a:ext cx="420624" cy="420624"/>
          </a:xfrm>
          <a:prstGeom prst="ellipse">
            <a:avLst/>
          </a:prstGeom>
          <a:solidFill>
            <a:srgbClr val="F06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186537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1755648"/>
            <a:ext cx="20574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0674A"/>
                </a:solidFill>
                <a:latin typeface="Arial"/>
              </a:rPr>
              <a:t>Metric drift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73552" y="1755648"/>
            <a:ext cx="8138160" cy="658368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20440" y="1810512"/>
            <a:ext cx="7635240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18232B"/>
                </a:solidFill>
                <a:latin typeface="Arial"/>
              </a:rPr>
              <a:t>same label, changed formula</a:t>
            </a:r>
          </a:p>
        </p:txBody>
      </p:sp>
      <p:sp>
        <p:nvSpPr>
          <p:cNvPr id="15" name="Oval 14"/>
          <p:cNvSpPr/>
          <p:nvPr/>
        </p:nvSpPr>
        <p:spPr>
          <a:xfrm>
            <a:off x="749808" y="2724912"/>
            <a:ext cx="420624" cy="420624"/>
          </a:xfrm>
          <a:prstGeom prst="ellipse">
            <a:avLst/>
          </a:prstGeom>
          <a:solidFill>
            <a:srgbClr val="EEA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272491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53312" y="2615184"/>
            <a:ext cx="20574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EA900"/>
                </a:solidFill>
                <a:latin typeface="Arial"/>
              </a:rPr>
              <a:t>Gross value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73552" y="2615184"/>
            <a:ext cx="8138160" cy="658368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20440" y="2670048"/>
            <a:ext cx="7635240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18232B"/>
                </a:solidFill>
                <a:latin typeface="Arial"/>
              </a:rPr>
              <a:t>reversals omitted</a:t>
            </a:r>
          </a:p>
        </p:txBody>
      </p:sp>
      <p:sp>
        <p:nvSpPr>
          <p:cNvPr id="20" name="Oval 19"/>
          <p:cNvSpPr/>
          <p:nvPr/>
        </p:nvSpPr>
        <p:spPr>
          <a:xfrm>
            <a:off x="749808" y="3584448"/>
            <a:ext cx="420624" cy="420624"/>
          </a:xfrm>
          <a:prstGeom prst="ellipse">
            <a:avLst/>
          </a:prstGeom>
          <a:solidFill>
            <a:srgbClr val="F06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8" y="3584448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53312" y="3474720"/>
            <a:ext cx="20574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0674A"/>
                </a:solidFill>
                <a:latin typeface="Arial"/>
              </a:rPr>
              <a:t>Blended average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273552" y="3474720"/>
            <a:ext cx="8138160" cy="658368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20440" y="3529584"/>
            <a:ext cx="7635240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18232B"/>
                </a:solidFill>
                <a:latin typeface="Arial"/>
              </a:rPr>
              <a:t>segment weakness hidden</a:t>
            </a:r>
          </a:p>
        </p:txBody>
      </p:sp>
      <p:sp>
        <p:nvSpPr>
          <p:cNvPr id="25" name="Oval 24"/>
          <p:cNvSpPr/>
          <p:nvPr/>
        </p:nvSpPr>
        <p:spPr>
          <a:xfrm>
            <a:off x="749808" y="4443984"/>
            <a:ext cx="420624" cy="420624"/>
          </a:xfrm>
          <a:prstGeom prst="ellipse">
            <a:avLst/>
          </a:prstGeom>
          <a:solidFill>
            <a:srgbClr val="EEA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9808" y="4443984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53312" y="4334256"/>
            <a:ext cx="20574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EA900"/>
                </a:solidFill>
                <a:latin typeface="Arial"/>
              </a:rPr>
              <a:t>Narrative inflation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273552" y="4334256"/>
            <a:ext cx="8138160" cy="658368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520440" y="4389120"/>
            <a:ext cx="7635240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18232B"/>
                </a:solidFill>
                <a:latin typeface="Arial"/>
              </a:rPr>
              <a:t>correlation stated as cause</a:t>
            </a:r>
          </a:p>
        </p:txBody>
      </p:sp>
      <p:sp>
        <p:nvSpPr>
          <p:cNvPr id="30" name="Oval 29"/>
          <p:cNvSpPr/>
          <p:nvPr/>
        </p:nvSpPr>
        <p:spPr>
          <a:xfrm>
            <a:off x="749808" y="5303520"/>
            <a:ext cx="420624" cy="420624"/>
          </a:xfrm>
          <a:prstGeom prst="ellipse">
            <a:avLst/>
          </a:prstGeom>
          <a:solidFill>
            <a:srgbClr val="F06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9808" y="5303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53312" y="5193792"/>
            <a:ext cx="20574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0674A"/>
                </a:solidFill>
                <a:latin typeface="Arial"/>
              </a:rPr>
              <a:t>No owner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273552" y="5193792"/>
            <a:ext cx="8138160" cy="658368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520440" y="5248656"/>
            <a:ext cx="7635240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18232B"/>
                </a:solidFill>
                <a:latin typeface="Arial"/>
              </a:rPr>
              <a:t>recommendation never closes</a:t>
            </a:r>
          </a:p>
        </p:txBody>
      </p:sp>
    </p:spTree>
  </p:cSld>
  <p:clrMapOvr>
    <a:masterClrMapping/>
  </p:clrMapOvr>
  <p:transition spd="fast">
    <p:fade/>
  </p:transition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71600"/>
          </a:xfrm>
          <a:prstGeom prst="rect">
            <a:avLst/>
          </a:prstGeom>
          <a:solidFill>
            <a:srgbClr val="F06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0674A"/>
                </a:solidFill>
                <a:latin typeface="Arial"/>
              </a:rPr>
              <a:t>FAILURE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8232B"/>
                </a:solidFill>
                <a:latin typeface="Arial"/>
              </a:rPr>
              <a:t>Compliance Failure Modes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435608"/>
            <a:ext cx="10927080" cy="16459"/>
          </a:xfrm>
          <a:prstGeom prst="rect">
            <a:avLst/>
          </a:prstGeom>
          <a:solidFill>
            <a:srgbClr val="DD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170</a:t>
            </a:r>
          </a:p>
        </p:txBody>
      </p:sp>
      <p:sp>
        <p:nvSpPr>
          <p:cNvPr id="10" name="Oval 9"/>
          <p:cNvSpPr/>
          <p:nvPr/>
        </p:nvSpPr>
        <p:spPr>
          <a:xfrm>
            <a:off x="749808" y="1865376"/>
            <a:ext cx="420624" cy="420624"/>
          </a:xfrm>
          <a:prstGeom prst="ellipse">
            <a:avLst/>
          </a:prstGeom>
          <a:solidFill>
            <a:srgbClr val="F06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186537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1755648"/>
            <a:ext cx="20574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0674A"/>
                </a:solidFill>
                <a:latin typeface="Arial"/>
              </a:rPr>
              <a:t>Hidden disclosure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73552" y="1755648"/>
            <a:ext cx="8138160" cy="658368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20440" y="1810512"/>
            <a:ext cx="7635240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18232B"/>
                </a:solidFill>
                <a:latin typeface="Arial"/>
              </a:rPr>
              <a:t>affiliate relationship unclear</a:t>
            </a:r>
          </a:p>
        </p:txBody>
      </p:sp>
      <p:sp>
        <p:nvSpPr>
          <p:cNvPr id="15" name="Oval 14"/>
          <p:cNvSpPr/>
          <p:nvPr/>
        </p:nvSpPr>
        <p:spPr>
          <a:xfrm>
            <a:off x="749808" y="2724912"/>
            <a:ext cx="420624" cy="420624"/>
          </a:xfrm>
          <a:prstGeom prst="ellipse">
            <a:avLst/>
          </a:prstGeom>
          <a:solidFill>
            <a:srgbClr val="EEA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272491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53312" y="2615184"/>
            <a:ext cx="20574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EA900"/>
                </a:solidFill>
                <a:latin typeface="Arial"/>
              </a:rPr>
              <a:t>Unsupported claim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73552" y="2615184"/>
            <a:ext cx="8138160" cy="658368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20440" y="2670048"/>
            <a:ext cx="7635240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18232B"/>
                </a:solidFill>
                <a:latin typeface="Arial"/>
              </a:rPr>
              <a:t>evidence absent or stale</a:t>
            </a:r>
          </a:p>
        </p:txBody>
      </p:sp>
      <p:sp>
        <p:nvSpPr>
          <p:cNvPr id="20" name="Oval 19"/>
          <p:cNvSpPr/>
          <p:nvPr/>
        </p:nvSpPr>
        <p:spPr>
          <a:xfrm>
            <a:off x="749808" y="3584448"/>
            <a:ext cx="420624" cy="420624"/>
          </a:xfrm>
          <a:prstGeom prst="ellipse">
            <a:avLst/>
          </a:prstGeom>
          <a:solidFill>
            <a:srgbClr val="F06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8" y="3584448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53312" y="3474720"/>
            <a:ext cx="20574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0674A"/>
                </a:solidFill>
                <a:latin typeface="Arial"/>
              </a:rPr>
              <a:t>Brand drift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273552" y="3474720"/>
            <a:ext cx="8138160" cy="658368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20440" y="3529584"/>
            <a:ext cx="7635240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18232B"/>
                </a:solidFill>
                <a:latin typeface="Arial"/>
              </a:rPr>
              <a:t>partner changes mandatory message</a:t>
            </a:r>
          </a:p>
        </p:txBody>
      </p:sp>
      <p:sp>
        <p:nvSpPr>
          <p:cNvPr id="25" name="Oval 24"/>
          <p:cNvSpPr/>
          <p:nvPr/>
        </p:nvSpPr>
        <p:spPr>
          <a:xfrm>
            <a:off x="749808" y="4443984"/>
            <a:ext cx="420624" cy="420624"/>
          </a:xfrm>
          <a:prstGeom prst="ellipse">
            <a:avLst/>
          </a:prstGeom>
          <a:solidFill>
            <a:srgbClr val="EEA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9808" y="4443984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53312" y="4334256"/>
            <a:ext cx="20574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EA900"/>
                </a:solidFill>
                <a:latin typeface="Arial"/>
              </a:rPr>
              <a:t>Privacy misuse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273552" y="4334256"/>
            <a:ext cx="8138160" cy="658368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520440" y="4389120"/>
            <a:ext cx="7635240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18232B"/>
                </a:solidFill>
                <a:latin typeface="Arial"/>
              </a:rPr>
              <a:t>personal data copied to tools</a:t>
            </a:r>
          </a:p>
        </p:txBody>
      </p:sp>
      <p:sp>
        <p:nvSpPr>
          <p:cNvPr id="30" name="Oval 29"/>
          <p:cNvSpPr/>
          <p:nvPr/>
        </p:nvSpPr>
        <p:spPr>
          <a:xfrm>
            <a:off x="749808" y="5303520"/>
            <a:ext cx="420624" cy="420624"/>
          </a:xfrm>
          <a:prstGeom prst="ellipse">
            <a:avLst/>
          </a:prstGeom>
          <a:solidFill>
            <a:srgbClr val="F06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9808" y="5303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53312" y="5193792"/>
            <a:ext cx="20574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0674A"/>
                </a:solidFill>
                <a:latin typeface="Arial"/>
              </a:rPr>
              <a:t>Agent release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273552" y="5193792"/>
            <a:ext cx="8138160" cy="658368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520440" y="5248656"/>
            <a:ext cx="7635240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18232B"/>
                </a:solidFill>
                <a:latin typeface="Arial"/>
              </a:rPr>
              <a:t>content publishes without human approval</a:t>
            </a:r>
          </a:p>
        </p:txBody>
      </p:sp>
    </p:spTree>
  </p:cSld>
  <p:clrMapOvr>
    <a:masterClrMapping/>
  </p:clrMapOvr>
  <p:transition spd="fast">
    <p:fade/>
  </p:transition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71600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008F83"/>
                </a:solidFill>
                <a:latin typeface="Arial"/>
              </a:rPr>
              <a:t>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8232B"/>
                </a:solidFill>
                <a:latin typeface="Arial"/>
              </a:rPr>
              <a:t>LO3 Evidence Bundle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435608"/>
            <a:ext cx="10927080" cy="16459"/>
          </a:xfrm>
          <a:prstGeom prst="rect">
            <a:avLst/>
          </a:prstGeom>
          <a:solidFill>
            <a:srgbClr val="DD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171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1700784"/>
            <a:ext cx="3508248" cy="2139696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" y="1700784"/>
            <a:ext cx="73152" cy="2139696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22960" y="1920240"/>
            <a:ext cx="411480" cy="411480"/>
          </a:xfrm>
          <a:prstGeom prst="ellipse">
            <a:avLst/>
          </a:prstGeom>
          <a:solidFill>
            <a:srgbClr val="00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35024" y="1865376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08F83"/>
                </a:solidFill>
                <a:latin typeface="Arial"/>
              </a:rPr>
              <a:t>Evidence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" y="2414016"/>
            <a:ext cx="3087624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8232B"/>
                </a:solidFill>
                <a:latin typeface="Arial"/>
              </a:rPr>
              <a:t>tracked-link register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31208" y="1700784"/>
            <a:ext cx="3508248" cy="2139696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31208" y="1700784"/>
            <a:ext cx="73152" cy="2139696"/>
          </a:xfrm>
          <a:prstGeom prst="rect">
            <a:avLst/>
          </a:prstGeom>
          <a:solidFill>
            <a:srgbClr val="F06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532376" y="1920240"/>
            <a:ext cx="411480" cy="411480"/>
          </a:xfrm>
          <a:prstGeom prst="ellipse">
            <a:avLst/>
          </a:prstGeom>
          <a:solidFill>
            <a:srgbClr val="F06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32376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44440" y="1865376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0674A"/>
                </a:solidFill>
                <a:latin typeface="Arial"/>
              </a:rPr>
              <a:t>Evidence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41520" y="2414016"/>
            <a:ext cx="3087624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8232B"/>
                </a:solidFill>
                <a:latin typeface="Arial"/>
              </a:rPr>
              <a:t>validated click and conversion facts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40624" y="1700784"/>
            <a:ext cx="3508248" cy="2139696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40624" y="1700784"/>
            <a:ext cx="73152" cy="2139696"/>
          </a:xfrm>
          <a:prstGeom prst="rect">
            <a:avLst/>
          </a:prstGeom>
          <a:solidFill>
            <a:srgbClr val="EE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241792" y="1920240"/>
            <a:ext cx="411480" cy="411480"/>
          </a:xfrm>
          <a:prstGeom prst="ellipse">
            <a:avLst/>
          </a:prstGeom>
          <a:solidFill>
            <a:srgbClr val="EEA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41792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53856" y="1865376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EEA900"/>
                </a:solidFill>
                <a:latin typeface="Arial"/>
              </a:rPr>
              <a:t>Evidence 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50936" y="2414016"/>
            <a:ext cx="3087624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8232B"/>
                </a:solidFill>
                <a:latin typeface="Arial"/>
              </a:rPr>
              <a:t>commission reconciliation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792" y="4041648"/>
            <a:ext cx="3508248" cy="2139696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1792" y="4041648"/>
            <a:ext cx="73152" cy="2139696"/>
          </a:xfrm>
          <a:prstGeom prst="rect">
            <a:avLst/>
          </a:prstGeom>
          <a:solidFill>
            <a:srgbClr val="3543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22960" y="4261104"/>
            <a:ext cx="411480" cy="411480"/>
          </a:xfrm>
          <a:prstGeom prst="ellipse">
            <a:avLst/>
          </a:prstGeom>
          <a:solidFill>
            <a:srgbClr val="3543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4261104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35024" y="4206240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354352"/>
                </a:solidFill>
                <a:latin typeface="Arial"/>
              </a:rPr>
              <a:t>Evidence 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04" y="4754880"/>
            <a:ext cx="3087624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8232B"/>
                </a:solidFill>
                <a:latin typeface="Arial"/>
              </a:rPr>
              <a:t>KPI dictionary and dashboard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31208" y="4041648"/>
            <a:ext cx="3508248" cy="2139696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331208" y="4041648"/>
            <a:ext cx="73152" cy="2139696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4532376" y="4261104"/>
            <a:ext cx="411480" cy="411480"/>
          </a:xfrm>
          <a:prstGeom prst="ellipse">
            <a:avLst/>
          </a:prstGeom>
          <a:solidFill>
            <a:srgbClr val="00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32376" y="4261104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44440" y="4206240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08F83"/>
                </a:solidFill>
                <a:latin typeface="Arial"/>
              </a:rPr>
              <a:t>Evidence 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41520" y="4754880"/>
            <a:ext cx="3087624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8232B"/>
                </a:solidFill>
                <a:latin typeface="Arial"/>
              </a:rPr>
              <a:t>compliance findings and resolution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040624" y="4041648"/>
            <a:ext cx="3508248" cy="2139696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040624" y="4041648"/>
            <a:ext cx="73152" cy="2139696"/>
          </a:xfrm>
          <a:prstGeom prst="rect">
            <a:avLst/>
          </a:prstGeom>
          <a:solidFill>
            <a:srgbClr val="F06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8241792" y="4261104"/>
            <a:ext cx="411480" cy="411480"/>
          </a:xfrm>
          <a:prstGeom prst="ellipse">
            <a:avLst/>
          </a:prstGeom>
          <a:solidFill>
            <a:srgbClr val="F06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41792" y="4261104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753856" y="4206240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0674A"/>
                </a:solidFill>
                <a:latin typeface="Arial"/>
              </a:rPr>
              <a:t>Evidence 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50936" y="4754880"/>
            <a:ext cx="3087624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8232B"/>
                </a:solidFill>
                <a:latin typeface="Arial"/>
              </a:rPr>
              <a:t>approved progress report and experiment</a:t>
            </a:r>
          </a:p>
        </p:txBody>
      </p:sp>
    </p:spTree>
  </p:cSld>
  <p:clrMapOvr>
    <a:masterClrMapping/>
  </p:clrMapOvr>
  <p:transition spd="fast">
    <p:fade/>
  </p:transition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71600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008F83"/>
                </a:solidFill>
                <a:latin typeface="Arial"/>
              </a:rPr>
              <a:t>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8232B"/>
                </a:solidFill>
                <a:latin typeface="Arial"/>
              </a:rPr>
              <a:t>Management Report Reading Order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435608"/>
            <a:ext cx="10927080" cy="16459"/>
          </a:xfrm>
          <a:prstGeom prst="rect">
            <a:avLst/>
          </a:prstGeom>
          <a:solidFill>
            <a:srgbClr val="DD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172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1700784"/>
            <a:ext cx="3508248" cy="2139696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" y="1700784"/>
            <a:ext cx="73152" cy="2139696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22960" y="1920240"/>
            <a:ext cx="411480" cy="411480"/>
          </a:xfrm>
          <a:prstGeom prst="ellipse">
            <a:avLst/>
          </a:prstGeom>
          <a:solidFill>
            <a:srgbClr val="00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35024" y="1865376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08F83"/>
                </a:solidFill>
                <a:latin typeface="Arial"/>
              </a:rPr>
              <a:t>Evidence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" y="2414016"/>
            <a:ext cx="3087624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8232B"/>
                </a:solidFill>
                <a:latin typeface="Arial"/>
              </a:rPr>
              <a:t>decision and period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31208" y="1700784"/>
            <a:ext cx="3508248" cy="2139696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31208" y="1700784"/>
            <a:ext cx="73152" cy="2139696"/>
          </a:xfrm>
          <a:prstGeom prst="rect">
            <a:avLst/>
          </a:prstGeom>
          <a:solidFill>
            <a:srgbClr val="F06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532376" y="1920240"/>
            <a:ext cx="411480" cy="411480"/>
          </a:xfrm>
          <a:prstGeom prst="ellipse">
            <a:avLst/>
          </a:prstGeom>
          <a:solidFill>
            <a:srgbClr val="F06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32376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44440" y="1865376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0674A"/>
                </a:solidFill>
                <a:latin typeface="Arial"/>
              </a:rPr>
              <a:t>Evidence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41520" y="2414016"/>
            <a:ext cx="3087624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8232B"/>
                </a:solidFill>
                <a:latin typeface="Arial"/>
              </a:rPr>
              <a:t>portfolio and campaign status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40624" y="1700784"/>
            <a:ext cx="3508248" cy="2139696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40624" y="1700784"/>
            <a:ext cx="73152" cy="2139696"/>
          </a:xfrm>
          <a:prstGeom prst="rect">
            <a:avLst/>
          </a:prstGeom>
          <a:solidFill>
            <a:srgbClr val="EE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241792" y="1920240"/>
            <a:ext cx="411480" cy="411480"/>
          </a:xfrm>
          <a:prstGeom prst="ellipse">
            <a:avLst/>
          </a:prstGeom>
          <a:solidFill>
            <a:srgbClr val="EEA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41792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53856" y="1865376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EEA900"/>
                </a:solidFill>
                <a:latin typeface="Arial"/>
              </a:rPr>
              <a:t>Evidence 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50936" y="2414016"/>
            <a:ext cx="3087624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8232B"/>
                </a:solidFill>
                <a:latin typeface="Arial"/>
              </a:rPr>
              <a:t>performance versus plan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792" y="4041648"/>
            <a:ext cx="3508248" cy="2139696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1792" y="4041648"/>
            <a:ext cx="73152" cy="2139696"/>
          </a:xfrm>
          <a:prstGeom prst="rect">
            <a:avLst/>
          </a:prstGeom>
          <a:solidFill>
            <a:srgbClr val="3543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22960" y="4261104"/>
            <a:ext cx="411480" cy="411480"/>
          </a:xfrm>
          <a:prstGeom prst="ellipse">
            <a:avLst/>
          </a:prstGeom>
          <a:solidFill>
            <a:srgbClr val="3543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4261104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35024" y="4206240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354352"/>
                </a:solidFill>
                <a:latin typeface="Arial"/>
              </a:rPr>
              <a:t>Evidence 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04" y="4754880"/>
            <a:ext cx="3087624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8232B"/>
                </a:solidFill>
                <a:latin typeface="Arial"/>
              </a:rPr>
              <a:t>commission and reconciliation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31208" y="4041648"/>
            <a:ext cx="3508248" cy="2139696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331208" y="4041648"/>
            <a:ext cx="73152" cy="2139696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4532376" y="4261104"/>
            <a:ext cx="411480" cy="411480"/>
          </a:xfrm>
          <a:prstGeom prst="ellipse">
            <a:avLst/>
          </a:prstGeom>
          <a:solidFill>
            <a:srgbClr val="00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32376" y="4261104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44440" y="4206240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08F83"/>
                </a:solidFill>
                <a:latin typeface="Arial"/>
              </a:rPr>
              <a:t>Evidence 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41520" y="4754880"/>
            <a:ext cx="3087624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8232B"/>
                </a:solidFill>
                <a:latin typeface="Arial"/>
              </a:rPr>
              <a:t>compliance and limitations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040624" y="4041648"/>
            <a:ext cx="3508248" cy="2139696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040624" y="4041648"/>
            <a:ext cx="73152" cy="2139696"/>
          </a:xfrm>
          <a:prstGeom prst="rect">
            <a:avLst/>
          </a:prstGeom>
          <a:solidFill>
            <a:srgbClr val="F06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8241792" y="4261104"/>
            <a:ext cx="411480" cy="411480"/>
          </a:xfrm>
          <a:prstGeom prst="ellipse">
            <a:avLst/>
          </a:prstGeom>
          <a:solidFill>
            <a:srgbClr val="F06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41792" y="4261104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753856" y="4206240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0674A"/>
                </a:solidFill>
                <a:latin typeface="Arial"/>
              </a:rPr>
              <a:t>Evidence 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50936" y="4754880"/>
            <a:ext cx="3087624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8232B"/>
                </a:solidFill>
                <a:latin typeface="Arial"/>
              </a:rPr>
              <a:t>actions, owners and due dates</a:t>
            </a:r>
          </a:p>
        </p:txBody>
      </p:sp>
    </p:spTree>
  </p:cSld>
  <p:clrMapOvr>
    <a:masterClrMapping/>
  </p:clrMapOvr>
  <p:transition spd="fast">
    <p:fade/>
  </p:transition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874519"/>
            <a:ext cx="85953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0674A"/>
                </a:solidFill>
                <a:latin typeface="Arial"/>
              </a:rPr>
              <a:t>LAB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359152"/>
            <a:ext cx="9875520" cy="13258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8232B"/>
                </a:solidFill>
                <a:latin typeface="Arial"/>
              </a:rPr>
              <a:t>Brand-Aligned Multi-Channel Campaign Factory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6968" y="3840480"/>
            <a:ext cx="9052560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5E6872"/>
                </a:solidFill>
                <a:latin typeface="Arial"/>
              </a:rPr>
              <a:t>LO3 · 55 minutes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84080" y="731520"/>
            <a:ext cx="1828800" cy="10972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6400" b="1">
                <a:solidFill>
                  <a:srgbClr val="DDE4E8"/>
                </a:solidFill>
                <a:latin typeface="Arial"/>
              </a:rPr>
              <a:t>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Agentic AI for Affiliate Marketing · C1319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173</a:t>
            </a:r>
          </a:p>
        </p:txBody>
      </p:sp>
    </p:spTree>
  </p:cSld>
  <p:clrMapOvr>
    <a:masterClrMapping/>
  </p:clrMapOvr>
  <p:transition spd="med">
    <p:push/>
  </p:transition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71600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008F83"/>
                </a:solidFill>
                <a:latin typeface="Arial"/>
              </a:rPr>
              <a:t>PRACTICE BRIDGE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8232B"/>
                </a:solidFill>
                <a:latin typeface="Arial"/>
              </a:rPr>
              <a:t>Lab 5 Scenario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435608"/>
            <a:ext cx="10927080" cy="16459"/>
          </a:xfrm>
          <a:prstGeom prst="rect">
            <a:avLst/>
          </a:prstGeom>
          <a:solidFill>
            <a:srgbClr val="DD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174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1700784"/>
            <a:ext cx="3508248" cy="448056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" y="1700784"/>
            <a:ext cx="73152" cy="4480560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22960" y="1920240"/>
            <a:ext cx="411480" cy="411480"/>
          </a:xfrm>
          <a:prstGeom prst="ellipse">
            <a:avLst/>
          </a:prstGeom>
          <a:solidFill>
            <a:srgbClr val="00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35024" y="1865376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08F83"/>
                </a:solidFill>
                <a:latin typeface="Arial"/>
              </a:rPr>
              <a:t>Business need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" y="2414016"/>
            <a:ext cx="3087624" cy="3611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8232B"/>
                </a:solidFill>
                <a:latin typeface="Arial"/>
              </a:rPr>
              <a:t>Use a bounded content Skill to produce website, email, social and video briefs from one approved campaign contract, with disclosure and claim controls.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31208" y="1700784"/>
            <a:ext cx="3508248" cy="448056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31208" y="1700784"/>
            <a:ext cx="73152" cy="4480560"/>
          </a:xfrm>
          <a:prstGeom prst="rect">
            <a:avLst/>
          </a:prstGeom>
          <a:solidFill>
            <a:srgbClr val="F06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532376" y="1920240"/>
            <a:ext cx="411480" cy="411480"/>
          </a:xfrm>
          <a:prstGeom prst="ellipse">
            <a:avLst/>
          </a:prstGeom>
          <a:solidFill>
            <a:srgbClr val="F06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32376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44440" y="1865376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0674A"/>
                </a:solidFill>
                <a:latin typeface="Arial"/>
              </a:rPr>
              <a:t>Deliverable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41520" y="2414016"/>
            <a:ext cx="3087624" cy="3611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8232B"/>
                </a:solidFill>
                <a:latin typeface="Arial"/>
              </a:rPr>
              <a:t>A machine-readable campaign brief, four channel artifacts and a compliance release report.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40624" y="1700784"/>
            <a:ext cx="3508248" cy="448056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40624" y="1700784"/>
            <a:ext cx="73152" cy="4480560"/>
          </a:xfrm>
          <a:prstGeom prst="rect">
            <a:avLst/>
          </a:prstGeom>
          <a:solidFill>
            <a:srgbClr val="EE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241792" y="1920240"/>
            <a:ext cx="411480" cy="411480"/>
          </a:xfrm>
          <a:prstGeom prst="ellipse">
            <a:avLst/>
          </a:prstGeom>
          <a:solidFill>
            <a:srgbClr val="EEA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41792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53856" y="1865376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EEA900"/>
                </a:solidFill>
                <a:latin typeface="Arial"/>
              </a:rPr>
              <a:t>Tool boundary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50936" y="2414016"/>
            <a:ext cx="3087624" cy="3611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8232B"/>
                </a:solidFill>
                <a:latin typeface="Arial"/>
              </a:rPr>
              <a:t>Claude Cowork, custom Skill, JSON schema, deterministic compliance checker</a:t>
            </a:r>
          </a:p>
        </p:txBody>
      </p:sp>
    </p:spTree>
  </p:cSld>
  <p:clrMapOvr>
    <a:masterClrMapping/>
  </p:clrMapOvr>
  <p:transition spd="fast">
    <p:fade/>
  </p:transition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71600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008F83"/>
                </a:solidFill>
                <a:latin typeface="Arial"/>
              </a:rPr>
              <a:t>HOW THE WORKFLOW RUNS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8232B"/>
                </a:solidFill>
                <a:latin typeface="Arial"/>
              </a:rPr>
              <a:t>Lab 5 Runtime Mechanism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435608"/>
            <a:ext cx="10927080" cy="16459"/>
          </a:xfrm>
          <a:prstGeom prst="rect">
            <a:avLst/>
          </a:prstGeom>
          <a:solidFill>
            <a:srgbClr val="DD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175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240280"/>
            <a:ext cx="1967788" cy="301752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322222" y="2532888"/>
            <a:ext cx="640080" cy="640080"/>
          </a:xfrm>
          <a:prstGeom prst="ellipse">
            <a:avLst/>
          </a:prstGeom>
          <a:solidFill>
            <a:srgbClr val="00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2222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18232B"/>
                </a:solidFill>
                <a:latin typeface="Arial"/>
              </a:rPr>
              <a:t>Load strategic brief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626156" y="3749040"/>
            <a:ext cx="256032" cy="0"/>
          </a:xfrm>
          <a:prstGeom prst="line">
            <a:avLst/>
          </a:prstGeom>
          <a:ln w="31750">
            <a:solidFill>
              <a:srgbClr val="008F8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882188" y="2240280"/>
            <a:ext cx="1967788" cy="301752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46042" y="2532888"/>
            <a:ext cx="640080" cy="640080"/>
          </a:xfrm>
          <a:prstGeom prst="ellipse">
            <a:avLst/>
          </a:prstGeom>
          <a:solidFill>
            <a:srgbClr val="F06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4604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9191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18232B"/>
                </a:solidFill>
                <a:latin typeface="Arial"/>
              </a:rPr>
              <a:t>Generate channel-specific drafts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849976" y="3749040"/>
            <a:ext cx="256032" cy="0"/>
          </a:xfrm>
          <a:prstGeom prst="line">
            <a:avLst/>
          </a:prstGeom>
          <a:ln w="31750">
            <a:solidFill>
              <a:srgbClr val="008F8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106008" y="2240280"/>
            <a:ext cx="1967788" cy="301752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69862" y="2532888"/>
            <a:ext cx="640080" cy="640080"/>
          </a:xfrm>
          <a:prstGeom prst="ellipse">
            <a:avLst/>
          </a:prstGeom>
          <a:solidFill>
            <a:srgbClr val="EEA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986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573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18232B"/>
                </a:solidFill>
                <a:latin typeface="Arial"/>
              </a:rPr>
              <a:t>Preserve claim source IDs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73796" y="3749040"/>
            <a:ext cx="256032" cy="0"/>
          </a:xfrm>
          <a:prstGeom prst="line">
            <a:avLst/>
          </a:prstGeom>
          <a:ln w="31750">
            <a:solidFill>
              <a:srgbClr val="008F8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329828" y="2240280"/>
            <a:ext cx="1967788" cy="301752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93682" y="2532888"/>
            <a:ext cx="640080" cy="640080"/>
          </a:xfrm>
          <a:prstGeom prst="ellipse">
            <a:avLst/>
          </a:prstGeom>
          <a:solidFill>
            <a:srgbClr val="3543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9368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3955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18232B"/>
                </a:solidFill>
                <a:latin typeface="Arial"/>
              </a:rPr>
              <a:t>Run disclosure and brand checks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297616" y="3749040"/>
            <a:ext cx="256032" cy="0"/>
          </a:xfrm>
          <a:prstGeom prst="line">
            <a:avLst/>
          </a:prstGeom>
          <a:ln w="31750">
            <a:solidFill>
              <a:srgbClr val="008F8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553648" y="2240280"/>
            <a:ext cx="1967788" cy="301752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217502" y="2532888"/>
            <a:ext cx="640080" cy="640080"/>
          </a:xfrm>
          <a:prstGeom prst="ellipse">
            <a:avLst/>
          </a:prstGeom>
          <a:solidFill>
            <a:srgbClr val="00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1750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6337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18232B"/>
                </a:solidFill>
                <a:latin typeface="Arial"/>
              </a:rPr>
              <a:t>Human approves exact versions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3232" y="5577840"/>
            <a:ext cx="10698480" cy="4206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5E6872"/>
                </a:solidFill>
                <a:latin typeface="Arial"/>
              </a:rPr>
              <a:t>Read left to right. Each boundary has a named payload, state transition and owner.</a:t>
            </a:r>
          </a:p>
        </p:txBody>
      </p:sp>
    </p:spTree>
  </p:cSld>
  <p:clrMapOvr>
    <a:masterClrMapping/>
  </p:clrMapOvr>
  <p:transition spd="fast">
    <p:fade/>
  </p:transition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71600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008F83"/>
                </a:solidFill>
                <a:latin typeface="Arial"/>
              </a:rPr>
              <a:t>WHAT MUST REMAIN TRUE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8232B"/>
                </a:solidFill>
                <a:latin typeface="Arial"/>
              </a:rPr>
              <a:t>Lab 5 Concrete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435608"/>
            <a:ext cx="10927080" cy="16459"/>
          </a:xfrm>
          <a:prstGeom prst="rect">
            <a:avLst/>
          </a:prstGeom>
          <a:solidFill>
            <a:srgbClr val="DD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176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" y="1783080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4944" y="1783080"/>
            <a:ext cx="1755648" cy="841248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1901952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Rule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15184" y="1892808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18232B"/>
                </a:solidFill>
                <a:latin typeface="Arial"/>
              </a:rPr>
              <a:t>one campaign objective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9632" y="1783080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99632" y="1783080"/>
            <a:ext cx="1755648" cy="841248"/>
          </a:xfrm>
          <a:prstGeom prst="rect">
            <a:avLst/>
          </a:prstGeom>
          <a:solidFill>
            <a:srgbClr val="F06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1901952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Rule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19872" y="1892808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18232B"/>
                </a:solidFill>
                <a:latin typeface="Arial"/>
              </a:rPr>
              <a:t>one primary CTA per artifact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4944" y="2807208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4944" y="2807208"/>
            <a:ext cx="1755648" cy="841248"/>
          </a:xfrm>
          <a:prstGeom prst="rect">
            <a:avLst/>
          </a:prstGeom>
          <a:solidFill>
            <a:srgbClr val="EE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" y="2926080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Rule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15184" y="2916936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18232B"/>
                </a:solidFill>
                <a:latin typeface="Arial"/>
              </a:rPr>
              <a:t>tracked links identify channel and partner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99632" y="2807208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99632" y="2807208"/>
            <a:ext cx="1755648" cy="841248"/>
          </a:xfrm>
          <a:prstGeom prst="rect">
            <a:avLst/>
          </a:prstGeom>
          <a:solidFill>
            <a:srgbClr val="3543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9360" y="2926080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Rule 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19872" y="2916936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18232B"/>
                </a:solidFill>
                <a:latin typeface="Arial"/>
              </a:rPr>
              <a:t>affiliate disclosure is prominent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94944" y="3831336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94944" y="3831336"/>
            <a:ext cx="1755648" cy="841248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4672" y="3950208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Rule 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15184" y="3941064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18232B"/>
                </a:solidFill>
                <a:latin typeface="Arial"/>
              </a:rPr>
              <a:t>all factual claims cite approved sources</a:t>
            </a:r>
          </a:p>
        </p:txBody>
      </p:sp>
    </p:spTree>
  </p:cSld>
  <p:clrMapOvr>
    <a:masterClrMapping/>
  </p:clrMapOvr>
  <p:transition spd="fast">
    <p:fade/>
  </p:transition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71600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008F83"/>
                </a:solidFill>
                <a:latin typeface="Arial"/>
              </a:rPr>
              <a:t>WHAT TO CAPTURE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8232B"/>
                </a:solidFill>
                <a:latin typeface="Arial"/>
              </a:rPr>
              <a:t>Lab 5 Evidence Package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435608"/>
            <a:ext cx="10927080" cy="16459"/>
          </a:xfrm>
          <a:prstGeom prst="rect">
            <a:avLst/>
          </a:prstGeom>
          <a:solidFill>
            <a:srgbClr val="DD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177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1700784"/>
            <a:ext cx="3508248" cy="2139696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" y="1700784"/>
            <a:ext cx="73152" cy="2139696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22960" y="1920240"/>
            <a:ext cx="411480" cy="411480"/>
          </a:xfrm>
          <a:prstGeom prst="ellipse">
            <a:avLst/>
          </a:prstGeom>
          <a:solidFill>
            <a:srgbClr val="00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35024" y="1865376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08F83"/>
                </a:solidFill>
                <a:latin typeface="Arial"/>
              </a:rPr>
              <a:t>Evidence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" y="2414016"/>
            <a:ext cx="3087624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8232B"/>
                </a:solidFill>
                <a:latin typeface="Arial"/>
              </a:rPr>
              <a:t>campaign-brief.json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31208" y="1700784"/>
            <a:ext cx="3508248" cy="2139696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31208" y="1700784"/>
            <a:ext cx="73152" cy="2139696"/>
          </a:xfrm>
          <a:prstGeom prst="rect">
            <a:avLst/>
          </a:prstGeom>
          <a:solidFill>
            <a:srgbClr val="F06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532376" y="1920240"/>
            <a:ext cx="411480" cy="411480"/>
          </a:xfrm>
          <a:prstGeom prst="ellipse">
            <a:avLst/>
          </a:prstGeom>
          <a:solidFill>
            <a:srgbClr val="F06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32376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44440" y="1865376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0674A"/>
                </a:solidFill>
                <a:latin typeface="Arial"/>
              </a:rPr>
              <a:t>Evidence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41520" y="2414016"/>
            <a:ext cx="3087624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8232B"/>
                </a:solidFill>
                <a:latin typeface="Arial"/>
              </a:rPr>
              <a:t>four channel drafts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40624" y="1700784"/>
            <a:ext cx="3508248" cy="2139696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40624" y="1700784"/>
            <a:ext cx="73152" cy="2139696"/>
          </a:xfrm>
          <a:prstGeom prst="rect">
            <a:avLst/>
          </a:prstGeom>
          <a:solidFill>
            <a:srgbClr val="EE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241792" y="1920240"/>
            <a:ext cx="411480" cy="411480"/>
          </a:xfrm>
          <a:prstGeom prst="ellipse">
            <a:avLst/>
          </a:prstGeom>
          <a:solidFill>
            <a:srgbClr val="EEA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41792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53856" y="1865376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EEA900"/>
                </a:solidFill>
                <a:latin typeface="Arial"/>
              </a:rPr>
              <a:t>Evidence 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50936" y="2414016"/>
            <a:ext cx="3087624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8232B"/>
                </a:solidFill>
                <a:latin typeface="Arial"/>
              </a:rPr>
              <a:t>compliance-report.json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792" y="4041648"/>
            <a:ext cx="3508248" cy="2139696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1792" y="4041648"/>
            <a:ext cx="73152" cy="2139696"/>
          </a:xfrm>
          <a:prstGeom prst="rect">
            <a:avLst/>
          </a:prstGeom>
          <a:solidFill>
            <a:srgbClr val="3543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22960" y="4261104"/>
            <a:ext cx="411480" cy="411480"/>
          </a:xfrm>
          <a:prstGeom prst="ellipse">
            <a:avLst/>
          </a:prstGeom>
          <a:solidFill>
            <a:srgbClr val="3543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4261104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35024" y="4206240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354352"/>
                </a:solidFill>
                <a:latin typeface="Arial"/>
              </a:rPr>
              <a:t>Evidence 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04" y="4754880"/>
            <a:ext cx="3087624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8232B"/>
                </a:solidFill>
                <a:latin typeface="Arial"/>
              </a:rPr>
              <a:t>resolved findings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31208" y="4041648"/>
            <a:ext cx="3508248" cy="2139696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331208" y="4041648"/>
            <a:ext cx="73152" cy="2139696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4532376" y="4261104"/>
            <a:ext cx="411480" cy="411480"/>
          </a:xfrm>
          <a:prstGeom prst="ellipse">
            <a:avLst/>
          </a:prstGeom>
          <a:solidFill>
            <a:srgbClr val="00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32376" y="4261104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44440" y="4206240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08F83"/>
                </a:solidFill>
                <a:latin typeface="Arial"/>
              </a:rPr>
              <a:t>Evidence 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41520" y="4754880"/>
            <a:ext cx="3087624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8232B"/>
                </a:solidFill>
                <a:latin typeface="Arial"/>
              </a:rPr>
              <a:t>human approval hashes</a:t>
            </a:r>
          </a:p>
        </p:txBody>
      </p:sp>
    </p:spTree>
  </p:cSld>
  <p:clrMapOvr>
    <a:masterClrMapping/>
  </p:clrMapOvr>
  <p:transition spd="fast">
    <p:fade/>
  </p:transition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71600"/>
          </a:xfrm>
          <a:prstGeom prst="rect">
            <a:avLst/>
          </a:prstGeom>
          <a:solidFill>
            <a:srgbClr val="F06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0674A"/>
                </a:solidFill>
                <a:latin typeface="Arial"/>
              </a:rPr>
              <a:t>TEST WITHOUT CLICK PATHS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8232B"/>
                </a:solidFill>
                <a:latin typeface="Arial"/>
              </a:rPr>
              <a:t>Lab 5 Verification and Failure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435608"/>
            <a:ext cx="10927080" cy="16459"/>
          </a:xfrm>
          <a:prstGeom prst="rect">
            <a:avLst/>
          </a:prstGeom>
          <a:solidFill>
            <a:srgbClr val="DD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178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783080"/>
            <a:ext cx="5257800" cy="4315968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783080"/>
            <a:ext cx="5257800" cy="109728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2029968"/>
            <a:ext cx="470916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008F83"/>
                </a:solidFill>
                <a:latin typeface="Arial"/>
              </a:rPr>
              <a:t>Accept</a:t>
            </a:r>
          </a:p>
        </p:txBody>
      </p:sp>
      <p:sp>
        <p:nvSpPr>
          <p:cNvPr id="13" name="Oval 12"/>
          <p:cNvSpPr/>
          <p:nvPr/>
        </p:nvSpPr>
        <p:spPr>
          <a:xfrm>
            <a:off x="950976" y="2743200"/>
            <a:ext cx="365760" cy="365760"/>
          </a:xfrm>
          <a:prstGeom prst="ellipse">
            <a:avLst/>
          </a:prstGeom>
          <a:solidFill>
            <a:srgbClr val="00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0976" y="274320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1328" y="267919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18232B"/>
                </a:solidFill>
                <a:latin typeface="Arial"/>
              </a:rPr>
              <a:t>brief passes schema</a:t>
            </a:r>
          </a:p>
        </p:txBody>
      </p:sp>
      <p:sp>
        <p:nvSpPr>
          <p:cNvPr id="16" name="Oval 15"/>
          <p:cNvSpPr/>
          <p:nvPr/>
        </p:nvSpPr>
        <p:spPr>
          <a:xfrm>
            <a:off x="950976" y="3463290"/>
            <a:ext cx="365760" cy="365760"/>
          </a:xfrm>
          <a:prstGeom prst="ellipse">
            <a:avLst/>
          </a:prstGeom>
          <a:solidFill>
            <a:srgbClr val="00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0976" y="346329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1328" y="339928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18232B"/>
                </a:solidFill>
                <a:latin typeface="Arial"/>
              </a:rPr>
              <a:t>four channel artifacts created</a:t>
            </a:r>
          </a:p>
        </p:txBody>
      </p:sp>
      <p:sp>
        <p:nvSpPr>
          <p:cNvPr id="19" name="Oval 18"/>
          <p:cNvSpPr/>
          <p:nvPr/>
        </p:nvSpPr>
        <p:spPr>
          <a:xfrm>
            <a:off x="950976" y="4183380"/>
            <a:ext cx="365760" cy="365760"/>
          </a:xfrm>
          <a:prstGeom prst="ellipse">
            <a:avLst/>
          </a:prstGeom>
          <a:solidFill>
            <a:srgbClr val="00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976" y="418338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81328" y="411937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18232B"/>
                </a:solidFill>
                <a:latin typeface="Arial"/>
              </a:rPr>
              <a:t>claims trace to sources</a:t>
            </a:r>
          </a:p>
        </p:txBody>
      </p:sp>
      <p:sp>
        <p:nvSpPr>
          <p:cNvPr id="22" name="Oval 21"/>
          <p:cNvSpPr/>
          <p:nvPr/>
        </p:nvSpPr>
        <p:spPr>
          <a:xfrm>
            <a:off x="950976" y="4903470"/>
            <a:ext cx="365760" cy="365760"/>
          </a:xfrm>
          <a:prstGeom prst="ellipse">
            <a:avLst/>
          </a:prstGeom>
          <a:solidFill>
            <a:srgbClr val="00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0976" y="490347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81328" y="483946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18232B"/>
                </a:solidFill>
                <a:latin typeface="Arial"/>
              </a:rPr>
              <a:t>disclosure passes</a:t>
            </a:r>
          </a:p>
        </p:txBody>
      </p:sp>
      <p:sp>
        <p:nvSpPr>
          <p:cNvPr id="25" name="Oval 24"/>
          <p:cNvSpPr/>
          <p:nvPr/>
        </p:nvSpPr>
        <p:spPr>
          <a:xfrm>
            <a:off x="950976" y="5623560"/>
            <a:ext cx="365760" cy="365760"/>
          </a:xfrm>
          <a:prstGeom prst="ellipse">
            <a:avLst/>
          </a:prstGeom>
          <a:solidFill>
            <a:srgbClr val="00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50976" y="562356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81328" y="555955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18232B"/>
                </a:solidFill>
                <a:latin typeface="Arial"/>
              </a:rPr>
              <a:t>human approval hashes recorded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63640" y="1783080"/>
            <a:ext cx="5257800" cy="4315968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63640" y="1783080"/>
            <a:ext cx="5257800" cy="109728"/>
          </a:xfrm>
          <a:prstGeom prst="rect">
            <a:avLst/>
          </a:prstGeom>
          <a:solidFill>
            <a:srgbClr val="F06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37960" y="2029968"/>
            <a:ext cx="470916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F0674A"/>
                </a:solidFill>
                <a:latin typeface="Arial"/>
              </a:rPr>
              <a:t>Diagnose</a:t>
            </a:r>
          </a:p>
        </p:txBody>
      </p:sp>
      <p:sp>
        <p:nvSpPr>
          <p:cNvPr id="31" name="Oval 30"/>
          <p:cNvSpPr/>
          <p:nvPr/>
        </p:nvSpPr>
        <p:spPr>
          <a:xfrm>
            <a:off x="6556248" y="2743200"/>
            <a:ext cx="365760" cy="365760"/>
          </a:xfrm>
          <a:prstGeom prst="ellipse">
            <a:avLst/>
          </a:prstGeom>
          <a:solidFill>
            <a:srgbClr val="F06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56248" y="274320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86600" y="267919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8232B"/>
                </a:solidFill>
                <a:latin typeface="Arial"/>
              </a:rPr>
              <a:t>channel draft cannot alter offer terms</a:t>
            </a:r>
          </a:p>
        </p:txBody>
      </p:sp>
      <p:sp>
        <p:nvSpPr>
          <p:cNvPr id="34" name="Oval 33"/>
          <p:cNvSpPr/>
          <p:nvPr/>
        </p:nvSpPr>
        <p:spPr>
          <a:xfrm>
            <a:off x="6556248" y="3566160"/>
            <a:ext cx="365760" cy="365760"/>
          </a:xfrm>
          <a:prstGeom prst="ellipse">
            <a:avLst/>
          </a:prstGeom>
          <a:solidFill>
            <a:srgbClr val="F06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56248" y="356616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86600" y="350215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8232B"/>
                </a:solidFill>
                <a:latin typeface="Arial"/>
              </a:rPr>
              <a:t>missing disclosure blocks release</a:t>
            </a:r>
          </a:p>
        </p:txBody>
      </p:sp>
      <p:sp>
        <p:nvSpPr>
          <p:cNvPr id="37" name="Oval 36"/>
          <p:cNvSpPr/>
          <p:nvPr/>
        </p:nvSpPr>
        <p:spPr>
          <a:xfrm>
            <a:off x="6556248" y="4389120"/>
            <a:ext cx="365760" cy="365760"/>
          </a:xfrm>
          <a:prstGeom prst="ellipse">
            <a:avLst/>
          </a:prstGeom>
          <a:solidFill>
            <a:srgbClr val="F06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56248" y="438912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086600" y="432511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8232B"/>
                </a:solidFill>
                <a:latin typeface="Arial"/>
              </a:rPr>
              <a:t>unsupported superlative is flagged</a:t>
            </a:r>
          </a:p>
        </p:txBody>
      </p:sp>
      <p:sp>
        <p:nvSpPr>
          <p:cNvPr id="40" name="Oval 39"/>
          <p:cNvSpPr/>
          <p:nvPr/>
        </p:nvSpPr>
        <p:spPr>
          <a:xfrm>
            <a:off x="6556248" y="5212080"/>
            <a:ext cx="365760" cy="365760"/>
          </a:xfrm>
          <a:prstGeom prst="ellipse">
            <a:avLst/>
          </a:prstGeom>
          <a:solidFill>
            <a:srgbClr val="F06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56248" y="521208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086600" y="514807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8232B"/>
                </a:solidFill>
                <a:latin typeface="Arial"/>
              </a:rPr>
              <a:t>brand and legal issues are separate</a:t>
            </a:r>
          </a:p>
        </p:txBody>
      </p:sp>
    </p:spTree>
  </p:cSld>
  <p:clrMapOvr>
    <a:masterClrMapping/>
  </p:clrMapOvr>
  <p:transition spd="fast">
    <p:fade/>
  </p:transition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874519"/>
            <a:ext cx="85953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0674A"/>
                </a:solidFill>
                <a:latin typeface="Arial"/>
              </a:rPr>
              <a:t>LAB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359152"/>
            <a:ext cx="9875520" cy="13258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8232B"/>
                </a:solidFill>
                <a:latin typeface="Arial"/>
              </a:rPr>
              <a:t>Attribution, Commission and Performance Reporting 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6968" y="3840480"/>
            <a:ext cx="9052560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5E6872"/>
                </a:solidFill>
                <a:latin typeface="Arial"/>
              </a:rPr>
              <a:t>LO3 · 55 minutes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84080" y="731520"/>
            <a:ext cx="1828800" cy="10972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6400" b="1">
                <a:solidFill>
                  <a:srgbClr val="DDE4E8"/>
                </a:solidFill>
                <a:latin typeface="Arial"/>
              </a:rPr>
              <a:t>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Agentic AI for Affiliate Marketing · C1319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179</a:t>
            </a:r>
          </a:p>
        </p:txBody>
      </p:sp>
    </p:spTree>
  </p:cSld>
  <p:clrMapOvr>
    <a:masterClrMapping/>
  </p:clrMapOvr>
  <p:transition spd="med">
    <p:push/>
  </p:transition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71600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008F83"/>
                </a:solidFill>
                <a:latin typeface="Arial"/>
              </a:rPr>
              <a:t>PRACTICE BRIDGE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8232B"/>
                </a:solidFill>
                <a:latin typeface="Arial"/>
              </a:rPr>
              <a:t>Lab 6 Scenario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435608"/>
            <a:ext cx="10927080" cy="16459"/>
          </a:xfrm>
          <a:prstGeom prst="rect">
            <a:avLst/>
          </a:prstGeom>
          <a:solidFill>
            <a:srgbClr val="DD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180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1700784"/>
            <a:ext cx="3508248" cy="448056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" y="1700784"/>
            <a:ext cx="73152" cy="4480560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22960" y="1920240"/>
            <a:ext cx="411480" cy="411480"/>
          </a:xfrm>
          <a:prstGeom prst="ellipse">
            <a:avLst/>
          </a:prstGeom>
          <a:solidFill>
            <a:srgbClr val="00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35024" y="1865376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08F83"/>
                </a:solidFill>
                <a:latin typeface="Arial"/>
              </a:rPr>
              <a:t>Business need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" y="2414016"/>
            <a:ext cx="3087624" cy="3611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8232B"/>
                </a:solidFill>
                <a:latin typeface="Arial"/>
              </a:rPr>
              <a:t>Validate click and conversion facts, reconcile commission statements, calculate campaign KPIs and generate an evidence-led management report with controlled recommendations.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31208" y="1700784"/>
            <a:ext cx="3508248" cy="448056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31208" y="1700784"/>
            <a:ext cx="73152" cy="4480560"/>
          </a:xfrm>
          <a:prstGeom prst="rect">
            <a:avLst/>
          </a:prstGeom>
          <a:solidFill>
            <a:srgbClr val="F06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532376" y="1920240"/>
            <a:ext cx="411480" cy="411480"/>
          </a:xfrm>
          <a:prstGeom prst="ellipse">
            <a:avLst/>
          </a:prstGeom>
          <a:solidFill>
            <a:srgbClr val="F06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32376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44440" y="1865376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0674A"/>
                </a:solidFill>
                <a:latin typeface="Arial"/>
              </a:rPr>
              <a:t>Deliverable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41520" y="2414016"/>
            <a:ext cx="3087624" cy="3611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8232B"/>
                </a:solidFill>
                <a:latin typeface="Arial"/>
              </a:rPr>
              <a:t>A reconciled event ledger, KPI dashboard, commission variance report and approved partner progress report.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40624" y="1700784"/>
            <a:ext cx="3508248" cy="448056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40624" y="1700784"/>
            <a:ext cx="73152" cy="4480560"/>
          </a:xfrm>
          <a:prstGeom prst="rect">
            <a:avLst/>
          </a:prstGeom>
          <a:solidFill>
            <a:srgbClr val="EE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241792" y="1920240"/>
            <a:ext cx="411480" cy="411480"/>
          </a:xfrm>
          <a:prstGeom prst="ellipse">
            <a:avLst/>
          </a:prstGeom>
          <a:solidFill>
            <a:srgbClr val="EEA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41792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53856" y="1865376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EEA900"/>
                </a:solidFill>
                <a:latin typeface="Arial"/>
              </a:rPr>
              <a:t>Tool boundary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50936" y="2414016"/>
            <a:ext cx="3087624" cy="3611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8232B"/>
                </a:solidFill>
                <a:latin typeface="Arial"/>
              </a:rPr>
              <a:t>Claude Cowork, CSV event data, Python reconciliation/report scripts, HTML dashboard</a:t>
            </a:r>
          </a:p>
        </p:txBody>
      </p:sp>
    </p:spTree>
  </p:cSld>
  <p:clrMapOvr>
    <a:masterClrMapping/>
  </p:clrMapOvr>
  <p:transition spd="fast">
    <p:fade/>
  </p:transition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71600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008F83"/>
                </a:solidFill>
                <a:latin typeface="Arial"/>
              </a:rPr>
              <a:t>HOW THE WORKFLOW RUNS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8232B"/>
                </a:solidFill>
                <a:latin typeface="Arial"/>
              </a:rPr>
              <a:t>Lab 6 Runtime Mechanism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435608"/>
            <a:ext cx="10927080" cy="16459"/>
          </a:xfrm>
          <a:prstGeom prst="rect">
            <a:avLst/>
          </a:prstGeom>
          <a:solidFill>
            <a:srgbClr val="DD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181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240280"/>
            <a:ext cx="1967788" cy="301752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322222" y="2532888"/>
            <a:ext cx="640080" cy="640080"/>
          </a:xfrm>
          <a:prstGeom prst="ellipse">
            <a:avLst/>
          </a:prstGeom>
          <a:solidFill>
            <a:srgbClr val="00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2222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18232B"/>
                </a:solidFill>
                <a:latin typeface="Arial"/>
              </a:rPr>
              <a:t>Validate and deduplicate events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626156" y="3749040"/>
            <a:ext cx="256032" cy="0"/>
          </a:xfrm>
          <a:prstGeom prst="line">
            <a:avLst/>
          </a:prstGeom>
          <a:ln w="31750">
            <a:solidFill>
              <a:srgbClr val="008F8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882188" y="2240280"/>
            <a:ext cx="1967788" cy="301752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46042" y="2532888"/>
            <a:ext cx="640080" cy="640080"/>
          </a:xfrm>
          <a:prstGeom prst="ellipse">
            <a:avLst/>
          </a:prstGeom>
          <a:solidFill>
            <a:srgbClr val="F06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4604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9191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18232B"/>
                </a:solidFill>
                <a:latin typeface="Arial"/>
              </a:rPr>
              <a:t>Join click, order and partner keys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849976" y="3749040"/>
            <a:ext cx="256032" cy="0"/>
          </a:xfrm>
          <a:prstGeom prst="line">
            <a:avLst/>
          </a:prstGeom>
          <a:ln w="31750">
            <a:solidFill>
              <a:srgbClr val="008F8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106008" y="2240280"/>
            <a:ext cx="1967788" cy="301752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69862" y="2532888"/>
            <a:ext cx="640080" cy="640080"/>
          </a:xfrm>
          <a:prstGeom prst="ellipse">
            <a:avLst/>
          </a:prstGeom>
          <a:solidFill>
            <a:srgbClr val="EEA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986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573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18232B"/>
                </a:solidFill>
                <a:latin typeface="Arial"/>
              </a:rPr>
              <a:t>Calculate deterministic metrics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73796" y="3749040"/>
            <a:ext cx="256032" cy="0"/>
          </a:xfrm>
          <a:prstGeom prst="line">
            <a:avLst/>
          </a:prstGeom>
          <a:ln w="31750">
            <a:solidFill>
              <a:srgbClr val="008F8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329828" y="2240280"/>
            <a:ext cx="1967788" cy="301752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93682" y="2532888"/>
            <a:ext cx="640080" cy="640080"/>
          </a:xfrm>
          <a:prstGeom prst="ellipse">
            <a:avLst/>
          </a:prstGeom>
          <a:solidFill>
            <a:srgbClr val="3543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9368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3955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18232B"/>
                </a:solidFill>
                <a:latin typeface="Arial"/>
              </a:rPr>
              <a:t>Agent explains variance with limitations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297616" y="3749040"/>
            <a:ext cx="256032" cy="0"/>
          </a:xfrm>
          <a:prstGeom prst="line">
            <a:avLst/>
          </a:prstGeom>
          <a:ln w="31750">
            <a:solidFill>
              <a:srgbClr val="008F8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553648" y="2240280"/>
            <a:ext cx="1967788" cy="301752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217502" y="2532888"/>
            <a:ext cx="640080" cy="640080"/>
          </a:xfrm>
          <a:prstGeom prst="ellipse">
            <a:avLst/>
          </a:prstGeom>
          <a:solidFill>
            <a:srgbClr val="00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1750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6337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18232B"/>
                </a:solidFill>
                <a:latin typeface="Arial"/>
              </a:rPr>
              <a:t>Human approves actions and report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3232" y="5577840"/>
            <a:ext cx="10698480" cy="4206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5E6872"/>
                </a:solidFill>
                <a:latin typeface="Arial"/>
              </a:rPr>
              <a:t>Read left to right. Each boundary has a named payload, state transition and owner.</a:t>
            </a:r>
          </a:p>
        </p:txBody>
      </p:sp>
    </p:spTree>
  </p:cSld>
  <p:clrMapOvr>
    <a:masterClrMapping/>
  </p:clrMapOvr>
  <p:transition spd="fast">
    <p:fade/>
  </p:transition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71600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008F83"/>
                </a:solidFill>
                <a:latin typeface="Arial"/>
              </a:rPr>
              <a:t>WHAT MUST REMAIN TRUE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8232B"/>
                </a:solidFill>
                <a:latin typeface="Arial"/>
              </a:rPr>
              <a:t>Lab 6 Concrete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435608"/>
            <a:ext cx="10927080" cy="16459"/>
          </a:xfrm>
          <a:prstGeom prst="rect">
            <a:avLst/>
          </a:prstGeom>
          <a:solidFill>
            <a:srgbClr val="DD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182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" y="1783080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4944" y="1783080"/>
            <a:ext cx="1755648" cy="841248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1901952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Rule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15184" y="1892808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18232B"/>
                </a:solidFill>
                <a:latin typeface="Arial"/>
              </a:rPr>
              <a:t>immutable event identifiers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9632" y="1783080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99632" y="1783080"/>
            <a:ext cx="1755648" cy="841248"/>
          </a:xfrm>
          <a:prstGeom prst="rect">
            <a:avLst/>
          </a:prstGeom>
          <a:solidFill>
            <a:srgbClr val="F06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1901952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Rule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19872" y="1892808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18232B"/>
                </a:solidFill>
                <a:latin typeface="Arial"/>
              </a:rPr>
              <a:t>approved revenue excludes reversals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4944" y="2807208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4944" y="2807208"/>
            <a:ext cx="1755648" cy="841248"/>
          </a:xfrm>
          <a:prstGeom prst="rect">
            <a:avLst/>
          </a:prstGeom>
          <a:solidFill>
            <a:srgbClr val="EE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" y="2926080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Rule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15184" y="2916936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18232B"/>
                </a:solidFill>
                <a:latin typeface="Arial"/>
              </a:rPr>
              <a:t>metric dictionary fixes denominators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99632" y="2807208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99632" y="2807208"/>
            <a:ext cx="1755648" cy="841248"/>
          </a:xfrm>
          <a:prstGeom prst="rect">
            <a:avLst/>
          </a:prstGeom>
          <a:solidFill>
            <a:srgbClr val="3543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9360" y="2926080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Rule 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19872" y="2916936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18232B"/>
                </a:solidFill>
                <a:latin typeface="Arial"/>
              </a:rPr>
              <a:t>commission terms are effective-dated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94944" y="3831336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94944" y="3831336"/>
            <a:ext cx="1755648" cy="841248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4672" y="3950208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Rule 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15184" y="3941064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18232B"/>
                </a:solidFill>
                <a:latin typeface="Arial"/>
              </a:rPr>
              <a:t>recommendations state owner and guardrails</a:t>
            </a:r>
          </a:p>
        </p:txBody>
      </p:sp>
    </p:spTree>
  </p:cSld>
  <p:clrMapOvr>
    <a:masterClrMapping/>
  </p:clrMapOvr>
  <p:transition spd="fast">
    <p:fade/>
  </p:transition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71600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008F83"/>
                </a:solidFill>
                <a:latin typeface="Arial"/>
              </a:rPr>
              <a:t>WHAT TO CAPTURE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8232B"/>
                </a:solidFill>
                <a:latin typeface="Arial"/>
              </a:rPr>
              <a:t>Lab 6 Evidence Package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435608"/>
            <a:ext cx="10927080" cy="16459"/>
          </a:xfrm>
          <a:prstGeom prst="rect">
            <a:avLst/>
          </a:prstGeom>
          <a:solidFill>
            <a:srgbClr val="DD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183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1700784"/>
            <a:ext cx="3508248" cy="2139696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" y="1700784"/>
            <a:ext cx="73152" cy="2139696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22960" y="1920240"/>
            <a:ext cx="411480" cy="411480"/>
          </a:xfrm>
          <a:prstGeom prst="ellipse">
            <a:avLst/>
          </a:prstGeom>
          <a:solidFill>
            <a:srgbClr val="00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35024" y="1865376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08F83"/>
                </a:solidFill>
                <a:latin typeface="Arial"/>
              </a:rPr>
              <a:t>Evidence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" y="2414016"/>
            <a:ext cx="3087624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8232B"/>
                </a:solidFill>
                <a:latin typeface="Arial"/>
              </a:rPr>
              <a:t>click-events.csv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31208" y="1700784"/>
            <a:ext cx="3508248" cy="2139696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31208" y="1700784"/>
            <a:ext cx="73152" cy="2139696"/>
          </a:xfrm>
          <a:prstGeom prst="rect">
            <a:avLst/>
          </a:prstGeom>
          <a:solidFill>
            <a:srgbClr val="F06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532376" y="1920240"/>
            <a:ext cx="411480" cy="411480"/>
          </a:xfrm>
          <a:prstGeom prst="ellipse">
            <a:avLst/>
          </a:prstGeom>
          <a:solidFill>
            <a:srgbClr val="F06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32376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44440" y="1865376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0674A"/>
                </a:solidFill>
                <a:latin typeface="Arial"/>
              </a:rPr>
              <a:t>Evidence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41520" y="2414016"/>
            <a:ext cx="3087624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8232B"/>
                </a:solidFill>
                <a:latin typeface="Arial"/>
              </a:rPr>
              <a:t>conversion-events.csv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40624" y="1700784"/>
            <a:ext cx="3508248" cy="2139696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40624" y="1700784"/>
            <a:ext cx="73152" cy="2139696"/>
          </a:xfrm>
          <a:prstGeom prst="rect">
            <a:avLst/>
          </a:prstGeom>
          <a:solidFill>
            <a:srgbClr val="EE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241792" y="1920240"/>
            <a:ext cx="411480" cy="411480"/>
          </a:xfrm>
          <a:prstGeom prst="ellipse">
            <a:avLst/>
          </a:prstGeom>
          <a:solidFill>
            <a:srgbClr val="EEA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41792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53856" y="1865376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EEA900"/>
                </a:solidFill>
                <a:latin typeface="Arial"/>
              </a:rPr>
              <a:t>Evidence 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50936" y="2414016"/>
            <a:ext cx="3087624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8232B"/>
                </a:solidFill>
                <a:latin typeface="Arial"/>
              </a:rPr>
              <a:t>commission-statement.csv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792" y="4041648"/>
            <a:ext cx="3508248" cy="2139696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1792" y="4041648"/>
            <a:ext cx="73152" cy="2139696"/>
          </a:xfrm>
          <a:prstGeom prst="rect">
            <a:avLst/>
          </a:prstGeom>
          <a:solidFill>
            <a:srgbClr val="3543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22960" y="4261104"/>
            <a:ext cx="411480" cy="411480"/>
          </a:xfrm>
          <a:prstGeom prst="ellipse">
            <a:avLst/>
          </a:prstGeom>
          <a:solidFill>
            <a:srgbClr val="3543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4261104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35024" y="4206240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354352"/>
                </a:solidFill>
                <a:latin typeface="Arial"/>
              </a:rPr>
              <a:t>Evidence 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04" y="4754880"/>
            <a:ext cx="3087624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8232B"/>
                </a:solidFill>
                <a:latin typeface="Arial"/>
              </a:rPr>
              <a:t>reconciliation-report.md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31208" y="4041648"/>
            <a:ext cx="3508248" cy="2139696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331208" y="4041648"/>
            <a:ext cx="73152" cy="2139696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4532376" y="4261104"/>
            <a:ext cx="411480" cy="411480"/>
          </a:xfrm>
          <a:prstGeom prst="ellipse">
            <a:avLst/>
          </a:prstGeom>
          <a:solidFill>
            <a:srgbClr val="00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32376" y="4261104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44440" y="4206240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08F83"/>
                </a:solidFill>
                <a:latin typeface="Arial"/>
              </a:rPr>
              <a:t>Evidence 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41520" y="4754880"/>
            <a:ext cx="3087624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8232B"/>
                </a:solidFill>
                <a:latin typeface="Arial"/>
              </a:rPr>
              <a:t>dashboard.html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040624" y="4041648"/>
            <a:ext cx="3508248" cy="2139696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040624" y="4041648"/>
            <a:ext cx="73152" cy="2139696"/>
          </a:xfrm>
          <a:prstGeom prst="rect">
            <a:avLst/>
          </a:prstGeom>
          <a:solidFill>
            <a:srgbClr val="F06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8241792" y="4261104"/>
            <a:ext cx="411480" cy="411480"/>
          </a:xfrm>
          <a:prstGeom prst="ellipse">
            <a:avLst/>
          </a:prstGeom>
          <a:solidFill>
            <a:srgbClr val="F06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41792" y="4261104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753856" y="4206240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0674A"/>
                </a:solidFill>
                <a:latin typeface="Arial"/>
              </a:rPr>
              <a:t>Evidence 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50936" y="4754880"/>
            <a:ext cx="3087624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8232B"/>
                </a:solidFill>
                <a:latin typeface="Arial"/>
              </a:rPr>
              <a:t>approved-progress-report.md</a:t>
            </a:r>
          </a:p>
        </p:txBody>
      </p:sp>
    </p:spTree>
  </p:cSld>
  <p:clrMapOvr>
    <a:masterClrMapping/>
  </p:clrMapOvr>
  <p:transition spd="fast">
    <p:fade/>
  </p:transition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71600"/>
          </a:xfrm>
          <a:prstGeom prst="rect">
            <a:avLst/>
          </a:prstGeom>
          <a:solidFill>
            <a:srgbClr val="F06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0674A"/>
                </a:solidFill>
                <a:latin typeface="Arial"/>
              </a:rPr>
              <a:t>TEST WITHOUT CLICK PATHS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8232B"/>
                </a:solidFill>
                <a:latin typeface="Arial"/>
              </a:rPr>
              <a:t>Lab 6 Verification and Failure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435608"/>
            <a:ext cx="10927080" cy="16459"/>
          </a:xfrm>
          <a:prstGeom prst="rect">
            <a:avLst/>
          </a:prstGeom>
          <a:solidFill>
            <a:srgbClr val="DD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184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783080"/>
            <a:ext cx="5257800" cy="4315968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783080"/>
            <a:ext cx="5257800" cy="109728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2029968"/>
            <a:ext cx="470916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008F83"/>
                </a:solidFill>
                <a:latin typeface="Arial"/>
              </a:rPr>
              <a:t>Accept</a:t>
            </a:r>
          </a:p>
        </p:txBody>
      </p:sp>
      <p:sp>
        <p:nvSpPr>
          <p:cNvPr id="13" name="Oval 12"/>
          <p:cNvSpPr/>
          <p:nvPr/>
        </p:nvSpPr>
        <p:spPr>
          <a:xfrm>
            <a:off x="950976" y="2743200"/>
            <a:ext cx="365760" cy="365760"/>
          </a:xfrm>
          <a:prstGeom prst="ellipse">
            <a:avLst/>
          </a:prstGeom>
          <a:solidFill>
            <a:srgbClr val="00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0976" y="274320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1328" y="267919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18232B"/>
                </a:solidFill>
                <a:latin typeface="Arial"/>
              </a:rPr>
              <a:t>event validation passes</a:t>
            </a:r>
          </a:p>
        </p:txBody>
      </p:sp>
      <p:sp>
        <p:nvSpPr>
          <p:cNvPr id="16" name="Oval 15"/>
          <p:cNvSpPr/>
          <p:nvPr/>
        </p:nvSpPr>
        <p:spPr>
          <a:xfrm>
            <a:off x="950976" y="3463290"/>
            <a:ext cx="365760" cy="365760"/>
          </a:xfrm>
          <a:prstGeom prst="ellipse">
            <a:avLst/>
          </a:prstGeom>
          <a:solidFill>
            <a:srgbClr val="00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0976" y="346329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1328" y="339928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18232B"/>
                </a:solidFill>
                <a:latin typeface="Arial"/>
              </a:rPr>
              <a:t>commission variance resolved or explained</a:t>
            </a:r>
          </a:p>
        </p:txBody>
      </p:sp>
      <p:sp>
        <p:nvSpPr>
          <p:cNvPr id="19" name="Oval 18"/>
          <p:cNvSpPr/>
          <p:nvPr/>
        </p:nvSpPr>
        <p:spPr>
          <a:xfrm>
            <a:off x="950976" y="4183380"/>
            <a:ext cx="365760" cy="365760"/>
          </a:xfrm>
          <a:prstGeom prst="ellipse">
            <a:avLst/>
          </a:prstGeom>
          <a:solidFill>
            <a:srgbClr val="00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976" y="418338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81328" y="411937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18232B"/>
                </a:solidFill>
                <a:latin typeface="Arial"/>
              </a:rPr>
              <a:t>metrics recompute</a:t>
            </a:r>
          </a:p>
        </p:txBody>
      </p:sp>
      <p:sp>
        <p:nvSpPr>
          <p:cNvPr id="22" name="Oval 21"/>
          <p:cNvSpPr/>
          <p:nvPr/>
        </p:nvSpPr>
        <p:spPr>
          <a:xfrm>
            <a:off x="950976" y="4903470"/>
            <a:ext cx="365760" cy="365760"/>
          </a:xfrm>
          <a:prstGeom prst="ellipse">
            <a:avLst/>
          </a:prstGeom>
          <a:solidFill>
            <a:srgbClr val="00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0976" y="490347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81328" y="483946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18232B"/>
                </a:solidFill>
                <a:latin typeface="Arial"/>
              </a:rPr>
              <a:t>dashboard and report generated</a:t>
            </a:r>
          </a:p>
        </p:txBody>
      </p:sp>
      <p:sp>
        <p:nvSpPr>
          <p:cNvPr id="25" name="Oval 24"/>
          <p:cNvSpPr/>
          <p:nvPr/>
        </p:nvSpPr>
        <p:spPr>
          <a:xfrm>
            <a:off x="950976" y="5623560"/>
            <a:ext cx="365760" cy="365760"/>
          </a:xfrm>
          <a:prstGeom prst="ellipse">
            <a:avLst/>
          </a:prstGeom>
          <a:solidFill>
            <a:srgbClr val="00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50976" y="562356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81328" y="555955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18232B"/>
                </a:solidFill>
                <a:latin typeface="Arial"/>
              </a:rPr>
              <a:t>recommendation has guardrails and owner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63640" y="1783080"/>
            <a:ext cx="5257800" cy="4315968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63640" y="1783080"/>
            <a:ext cx="5257800" cy="109728"/>
          </a:xfrm>
          <a:prstGeom prst="rect">
            <a:avLst/>
          </a:prstGeom>
          <a:solidFill>
            <a:srgbClr val="F06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37960" y="2029968"/>
            <a:ext cx="470916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F0674A"/>
                </a:solidFill>
                <a:latin typeface="Arial"/>
              </a:rPr>
              <a:t>Diagnose</a:t>
            </a:r>
          </a:p>
        </p:txBody>
      </p:sp>
      <p:sp>
        <p:nvSpPr>
          <p:cNvPr id="31" name="Oval 30"/>
          <p:cNvSpPr/>
          <p:nvPr/>
        </p:nvSpPr>
        <p:spPr>
          <a:xfrm>
            <a:off x="6556248" y="2743200"/>
            <a:ext cx="365760" cy="365760"/>
          </a:xfrm>
          <a:prstGeom prst="ellipse">
            <a:avLst/>
          </a:prstGeom>
          <a:solidFill>
            <a:srgbClr val="F06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56248" y="274320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86600" y="267919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8232B"/>
                </a:solidFill>
                <a:latin typeface="Arial"/>
              </a:rPr>
              <a:t>duplicate events are quarantined</a:t>
            </a:r>
          </a:p>
        </p:txBody>
      </p:sp>
      <p:sp>
        <p:nvSpPr>
          <p:cNvPr id="34" name="Oval 33"/>
          <p:cNvSpPr/>
          <p:nvPr/>
        </p:nvSpPr>
        <p:spPr>
          <a:xfrm>
            <a:off x="6556248" y="3566160"/>
            <a:ext cx="365760" cy="365760"/>
          </a:xfrm>
          <a:prstGeom prst="ellipse">
            <a:avLst/>
          </a:prstGeom>
          <a:solidFill>
            <a:srgbClr val="F06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56248" y="356616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86600" y="350215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8232B"/>
                </a:solidFill>
                <a:latin typeface="Arial"/>
              </a:rPr>
              <a:t>unmatched orders remain unresolved</a:t>
            </a:r>
          </a:p>
        </p:txBody>
      </p:sp>
      <p:sp>
        <p:nvSpPr>
          <p:cNvPr id="37" name="Oval 36"/>
          <p:cNvSpPr/>
          <p:nvPr/>
        </p:nvSpPr>
        <p:spPr>
          <a:xfrm>
            <a:off x="6556248" y="4389120"/>
            <a:ext cx="365760" cy="365760"/>
          </a:xfrm>
          <a:prstGeom prst="ellipse">
            <a:avLst/>
          </a:prstGeom>
          <a:solidFill>
            <a:srgbClr val="F06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56248" y="438912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086600" y="432511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8232B"/>
                </a:solidFill>
                <a:latin typeface="Arial"/>
              </a:rPr>
              <a:t>commission variance exceeds threshold</a:t>
            </a:r>
          </a:p>
        </p:txBody>
      </p:sp>
      <p:sp>
        <p:nvSpPr>
          <p:cNvPr id="40" name="Oval 39"/>
          <p:cNvSpPr/>
          <p:nvPr/>
        </p:nvSpPr>
        <p:spPr>
          <a:xfrm>
            <a:off x="6556248" y="5212080"/>
            <a:ext cx="365760" cy="365760"/>
          </a:xfrm>
          <a:prstGeom prst="ellipse">
            <a:avLst/>
          </a:prstGeom>
          <a:solidFill>
            <a:srgbClr val="F06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56248" y="521208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086600" y="514807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8232B"/>
                </a:solidFill>
                <a:latin typeface="Arial"/>
              </a:rPr>
              <a:t>small samples lower confidence</a:t>
            </a:r>
          </a:p>
        </p:txBody>
      </p:sp>
    </p:spTree>
  </p:cSld>
  <p:clrMapOvr>
    <a:masterClrMapping/>
  </p:clrMapOvr>
  <p:transition spd="fast">
    <p:fade/>
  </p:transition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874519"/>
            <a:ext cx="85953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0674A"/>
                </a:solidFill>
                <a:latin typeface="Arial"/>
              </a:rPr>
              <a:t>COURSE CLOSE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359152"/>
            <a:ext cx="9875520" cy="13258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8232B"/>
                </a:solidFill>
                <a:latin typeface="Arial"/>
              </a:rPr>
              <a:t>From Evidence to Practice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6968" y="3840480"/>
            <a:ext cx="9052560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5E6872"/>
                </a:solidFill>
                <a:latin typeface="Arial"/>
              </a:rPr>
              <a:t>Review the control loop and preserve your working artifacts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185</a:t>
            </a:r>
          </a:p>
        </p:txBody>
      </p:sp>
    </p:spTree>
  </p:cSld>
  <p:clrMapOvr>
    <a:masterClrMapping/>
  </p:clrMapOvr>
  <p:transition spd="med">
    <p:push/>
  </p:transition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71600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008F83"/>
                </a:solidFill>
                <a:latin typeface="Arial"/>
              </a:rPr>
              <a:t>LO1 -&gt; LO2 -&gt; LO3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8232B"/>
                </a:solidFill>
                <a:latin typeface="Arial"/>
              </a:rPr>
              <a:t>Revision 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435608"/>
            <a:ext cx="10927080" cy="16459"/>
          </a:xfrm>
          <a:prstGeom prst="rect">
            <a:avLst/>
          </a:prstGeom>
          <a:solidFill>
            <a:srgbClr val="DD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186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1700784"/>
            <a:ext cx="3508248" cy="448056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" y="1700784"/>
            <a:ext cx="73152" cy="4480560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22960" y="1920240"/>
            <a:ext cx="411480" cy="411480"/>
          </a:xfrm>
          <a:prstGeom prst="ellipse">
            <a:avLst/>
          </a:prstGeom>
          <a:solidFill>
            <a:srgbClr val="00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35024" y="1865376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08F83"/>
                </a:solidFill>
                <a:latin typeface="Arial"/>
              </a:rPr>
              <a:t>Research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" y="2414016"/>
            <a:ext cx="3087624" cy="3611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8232B"/>
                </a:solidFill>
                <a:latin typeface="Arial"/>
              </a:rPr>
              <a:t>Labs 1-2: offer economics, trend evidence and product updates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31208" y="1700784"/>
            <a:ext cx="3508248" cy="448056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31208" y="1700784"/>
            <a:ext cx="73152" cy="4480560"/>
          </a:xfrm>
          <a:prstGeom prst="rect">
            <a:avLst/>
          </a:prstGeom>
          <a:solidFill>
            <a:srgbClr val="F06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532376" y="1920240"/>
            <a:ext cx="411480" cy="411480"/>
          </a:xfrm>
          <a:prstGeom prst="ellipse">
            <a:avLst/>
          </a:prstGeom>
          <a:solidFill>
            <a:srgbClr val="F06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32376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44440" y="1865376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0674A"/>
                </a:solidFill>
                <a:latin typeface="Arial"/>
              </a:rPr>
              <a:t>Coordinate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41520" y="2414016"/>
            <a:ext cx="3087624" cy="3611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8232B"/>
                </a:solidFill>
                <a:latin typeface="Arial"/>
              </a:rPr>
              <a:t>Labs 3-4: due diligence, portfolio and partner communications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40624" y="1700784"/>
            <a:ext cx="3508248" cy="448056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40624" y="1700784"/>
            <a:ext cx="73152" cy="4480560"/>
          </a:xfrm>
          <a:prstGeom prst="rect">
            <a:avLst/>
          </a:prstGeom>
          <a:solidFill>
            <a:srgbClr val="EE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241792" y="1920240"/>
            <a:ext cx="411480" cy="411480"/>
          </a:xfrm>
          <a:prstGeom prst="ellipse">
            <a:avLst/>
          </a:prstGeom>
          <a:solidFill>
            <a:srgbClr val="EEA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41792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53856" y="1865376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EEA900"/>
                </a:solidFill>
                <a:latin typeface="Arial"/>
              </a:rPr>
              <a:t>Report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50936" y="2414016"/>
            <a:ext cx="3087624" cy="3611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8232B"/>
                </a:solidFill>
                <a:latin typeface="Arial"/>
              </a:rPr>
              <a:t>Labs 5-6: campaign control, attribution, commission and optimisation</a:t>
            </a:r>
          </a:p>
        </p:txBody>
      </p:sp>
    </p:spTree>
  </p:cSld>
  <p:clrMapOvr>
    <a:masterClrMapping/>
  </p:clrMapOvr>
  <p:transition spd="fast">
    <p:fade/>
  </p:transition>
</p:sld>
</file>

<file path=ppt/slides/slide1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71600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008F83"/>
                </a:solidFill>
                <a:latin typeface="Arial"/>
              </a:rPr>
              <a:t>COURSE SYNTHESIS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8232B"/>
                </a:solidFill>
                <a:latin typeface="Arial"/>
              </a:rPr>
              <a:t>What You Achieved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435608"/>
            <a:ext cx="10927080" cy="16459"/>
          </a:xfrm>
          <a:prstGeom prst="rect">
            <a:avLst/>
          </a:prstGeom>
          <a:solidFill>
            <a:srgbClr val="DD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187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1700784"/>
            <a:ext cx="3508248" cy="448056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" y="1700784"/>
            <a:ext cx="73152" cy="4480560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22960" y="1920240"/>
            <a:ext cx="411480" cy="411480"/>
          </a:xfrm>
          <a:prstGeom prst="ellipse">
            <a:avLst/>
          </a:prstGeom>
          <a:solidFill>
            <a:srgbClr val="00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35024" y="1865376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08F83"/>
                </a:solidFill>
                <a:latin typeface="Arial"/>
              </a:rPr>
              <a:t>Evidence-led research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" y="2414016"/>
            <a:ext cx="3087624" cy="3611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8232B"/>
                </a:solidFill>
                <a:latin typeface="Arial"/>
              </a:rPr>
              <a:t>Trace every market and partner claim to a source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31208" y="1700784"/>
            <a:ext cx="3508248" cy="448056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31208" y="1700784"/>
            <a:ext cx="73152" cy="4480560"/>
          </a:xfrm>
          <a:prstGeom prst="rect">
            <a:avLst/>
          </a:prstGeom>
          <a:solidFill>
            <a:srgbClr val="F06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532376" y="1920240"/>
            <a:ext cx="411480" cy="411480"/>
          </a:xfrm>
          <a:prstGeom prst="ellipse">
            <a:avLst/>
          </a:prstGeom>
          <a:solidFill>
            <a:srgbClr val="F06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32376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44440" y="1865376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0674A"/>
                </a:solidFill>
                <a:latin typeface="Arial"/>
              </a:rPr>
              <a:t>Reusable agent workflows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41520" y="2414016"/>
            <a:ext cx="3087624" cy="3611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8232B"/>
                </a:solidFill>
                <a:latin typeface="Arial"/>
              </a:rPr>
              <a:t>Package repeatable work in bounded Skills and connectors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40624" y="1700784"/>
            <a:ext cx="3508248" cy="448056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40624" y="1700784"/>
            <a:ext cx="73152" cy="4480560"/>
          </a:xfrm>
          <a:prstGeom prst="rect">
            <a:avLst/>
          </a:prstGeom>
          <a:solidFill>
            <a:srgbClr val="EE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241792" y="1920240"/>
            <a:ext cx="411480" cy="411480"/>
          </a:xfrm>
          <a:prstGeom prst="ellipse">
            <a:avLst/>
          </a:prstGeom>
          <a:solidFill>
            <a:srgbClr val="EEA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41792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53856" y="1865376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EEA900"/>
                </a:solidFill>
                <a:latin typeface="Arial"/>
              </a:rPr>
              <a:t>Controlled growth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50936" y="2414016"/>
            <a:ext cx="3087624" cy="3611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8232B"/>
                </a:solidFill>
                <a:latin typeface="Arial"/>
              </a:rPr>
              <a:t>Approve content, communication, payout and optimisation decisions</a:t>
            </a:r>
          </a:p>
        </p:txBody>
      </p:sp>
    </p:spTree>
  </p:cSld>
  <p:clrMapOvr>
    <a:masterClrMapping/>
  </p:clrMapOvr>
  <p:transition spd="fast">
    <p:fade/>
  </p:transition>
</p:sld>
</file>

<file path=ppt/slides/slide1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71600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008F83"/>
                </a:solidFill>
                <a:latin typeface="Arial"/>
              </a:rPr>
              <a:t>POST-COURSE SUPPORT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8232B"/>
                </a:solidFill>
                <a:latin typeface="Arial"/>
              </a:rPr>
              <a:t>Support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435608"/>
            <a:ext cx="10927080" cy="16459"/>
          </a:xfrm>
          <a:prstGeom prst="rect">
            <a:avLst/>
          </a:prstGeom>
          <a:solidFill>
            <a:srgbClr val="DD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188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1700784"/>
            <a:ext cx="3508248" cy="448056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" y="1700784"/>
            <a:ext cx="73152" cy="4480560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22960" y="1920240"/>
            <a:ext cx="411480" cy="411480"/>
          </a:xfrm>
          <a:prstGeom prst="ellipse">
            <a:avLst/>
          </a:prstGeom>
          <a:solidFill>
            <a:srgbClr val="00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35024" y="1865376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08F83"/>
                </a:solidFill>
                <a:latin typeface="Arial"/>
              </a:rPr>
              <a:t>Email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" y="2414016"/>
            <a:ext cx="3087624" cy="3611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8232B"/>
                </a:solidFill>
                <a:latin typeface="Arial"/>
              </a:rPr>
              <a:t>enquiry@tertiaryinfotech.com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31208" y="1700784"/>
            <a:ext cx="3508248" cy="448056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31208" y="1700784"/>
            <a:ext cx="73152" cy="4480560"/>
          </a:xfrm>
          <a:prstGeom prst="rect">
            <a:avLst/>
          </a:prstGeom>
          <a:solidFill>
            <a:srgbClr val="F06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532376" y="1920240"/>
            <a:ext cx="411480" cy="411480"/>
          </a:xfrm>
          <a:prstGeom prst="ellipse">
            <a:avLst/>
          </a:prstGeom>
          <a:solidFill>
            <a:srgbClr val="F06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32376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44440" y="1865376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0674A"/>
                </a:solidFill>
                <a:latin typeface="Arial"/>
              </a:rPr>
              <a:t>Telephone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41520" y="2414016"/>
            <a:ext cx="3087624" cy="3611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8232B"/>
                </a:solidFill>
                <a:latin typeface="Arial"/>
              </a:rPr>
              <a:t>+65 6100 0613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40624" y="1700784"/>
            <a:ext cx="3508248" cy="448056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40624" y="1700784"/>
            <a:ext cx="73152" cy="4480560"/>
          </a:xfrm>
          <a:prstGeom prst="rect">
            <a:avLst/>
          </a:prstGeom>
          <a:solidFill>
            <a:srgbClr val="EE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241792" y="1920240"/>
            <a:ext cx="411480" cy="411480"/>
          </a:xfrm>
          <a:prstGeom prst="ellipse">
            <a:avLst/>
          </a:prstGeom>
          <a:solidFill>
            <a:srgbClr val="EEA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41792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53856" y="1865376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EEA900"/>
                </a:solidFill>
                <a:latin typeface="Arial"/>
              </a:rPr>
              <a:t>Course page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50936" y="2414016"/>
            <a:ext cx="3087624" cy="3611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8232B"/>
                </a:solidFill>
                <a:latin typeface="Arial"/>
              </a:rPr>
              <a:t>https://www.tertiarycourses.com.sg/agentic-ai-for-affiliate-marketing.html</a:t>
            </a:r>
          </a:p>
        </p:txBody>
      </p:sp>
    </p:spTree>
  </p:cSld>
  <p:clrMapOvr>
    <a:masterClrMapping/>
  </p:clrMapOvr>
  <p:transition spd="fast">
    <p:fade/>
  </p:transition>
</p:sld>
</file>

<file path=ppt/slides/slide1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71600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008F83"/>
                </a:solidFill>
                <a:latin typeface="Arial"/>
              </a:rPr>
              <a:t>COURSE FEEDBACK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8232B"/>
                </a:solidFill>
                <a:latin typeface="Arial"/>
              </a:rPr>
              <a:t>Course Feedback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435608"/>
            <a:ext cx="10927080" cy="16459"/>
          </a:xfrm>
          <a:prstGeom prst="rect">
            <a:avLst/>
          </a:prstGeom>
          <a:solidFill>
            <a:srgbClr val="DD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Agentic AI for Affiliate Marketing · C1319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189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1700784"/>
            <a:ext cx="3508248" cy="448056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" y="1700784"/>
            <a:ext cx="73152" cy="4480560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22960" y="1920240"/>
            <a:ext cx="411480" cy="411480"/>
          </a:xfrm>
          <a:prstGeom prst="ellipse">
            <a:avLst/>
          </a:prstGeom>
          <a:solidFill>
            <a:srgbClr val="00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35024" y="1865376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08F83"/>
                </a:solidFill>
                <a:latin typeface="Arial"/>
              </a:rPr>
              <a:t>Trainer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" y="2414016"/>
            <a:ext cx="3087624" cy="3611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8232B"/>
                </a:solidFill>
                <a:latin typeface="Arial"/>
              </a:rPr>
              <a:t>Rate the delivery, pace and clarity of the explanations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31208" y="1700784"/>
            <a:ext cx="3508248" cy="448056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31208" y="1700784"/>
            <a:ext cx="73152" cy="4480560"/>
          </a:xfrm>
          <a:prstGeom prst="rect">
            <a:avLst/>
          </a:prstGeom>
          <a:solidFill>
            <a:srgbClr val="F06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532376" y="1920240"/>
            <a:ext cx="411480" cy="411480"/>
          </a:xfrm>
          <a:prstGeom prst="ellipse">
            <a:avLst/>
          </a:prstGeom>
          <a:solidFill>
            <a:srgbClr val="F06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32376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44440" y="1865376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0674A"/>
                </a:solidFill>
                <a:latin typeface="Arial"/>
              </a:rPr>
              <a:t>Materials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41520" y="2414016"/>
            <a:ext cx="3087624" cy="3611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8232B"/>
                </a:solidFill>
                <a:latin typeface="Arial"/>
              </a:rPr>
              <a:t>Tell us how the slides, Learner Guide and labs worked for you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40624" y="1700784"/>
            <a:ext cx="3508248" cy="448056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40624" y="1700784"/>
            <a:ext cx="73152" cy="4480560"/>
          </a:xfrm>
          <a:prstGeom prst="rect">
            <a:avLst/>
          </a:prstGeom>
          <a:solidFill>
            <a:srgbClr val="EE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241792" y="1920240"/>
            <a:ext cx="411480" cy="411480"/>
          </a:xfrm>
          <a:prstGeom prst="ellipse">
            <a:avLst/>
          </a:prstGeom>
          <a:solidFill>
            <a:srgbClr val="EEA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41792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53856" y="1865376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EEA900"/>
                </a:solidFill>
                <a:latin typeface="Arial"/>
              </a:rPr>
              <a:t>Improve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50936" y="2414016"/>
            <a:ext cx="3087624" cy="3611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8232B"/>
                </a:solidFill>
                <a:latin typeface="Arial"/>
              </a:rPr>
              <a:t>Suggest one change that would make the next class better</a:t>
            </a:r>
          </a:p>
        </p:txBody>
      </p:sp>
    </p:spTree>
  </p:cSld>
  <p:clrMapOvr>
    <a:masterClrMapping/>
  </p:clrMapOvr>
  <p:transition spd="fast">
    <p:fade/>
  </p:transition>
</p:sld>
</file>

<file path=ppt/slides/slide1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06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993392"/>
            <a:ext cx="10744200" cy="10058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4800" b="1">
                <a:solidFill>
                  <a:srgbClr val="18232B"/>
                </a:solidFill>
                <a:latin typeface="Arial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182112"/>
            <a:ext cx="9966960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008F83"/>
                </a:solidFill>
                <a:latin typeface="Arial"/>
              </a:rPr>
              <a:t>Build agentic campaigns that are useful, measurable and controlled.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224528"/>
            <a:ext cx="996696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5E6872"/>
                </a:solidFill>
                <a:latin typeface="Arial"/>
              </a:rPr>
              <a:t>C1319</a:t>
            </a:r>
          </a:p>
        </p:txBody>
      </p:sp>
    </p:spTree>
  </p:cSld>
  <p:clrMapOvr>
    <a:masterClrMapping/>
  </p:clrMapOvr>
  <p:transition spd="fast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